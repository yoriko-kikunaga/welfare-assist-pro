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A78"/>
                </a:solidFill>
                <a:latin typeface="Meiryo UI"/>
              </a:rPr>
              <a:t>福祉用具マネージャー　操作マニュアル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C2B27"/>
                </a:solidFill>
                <a:latin typeface="Meiryo UI"/>
              </a:rPr>
              <a:t>「福祉用具選定」タブの使い方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611880"/>
            <a:ext cx="2011680" cy="73152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利用者に提供している福祉用具を登録・管理する画面です。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介護保険レンタル・自費レンタル・販売の3種類を登録できます。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5B6E68"/>
                </a:solidFill>
                <a:latin typeface="Meiryo UI"/>
              </a:rPr>
              <a:t>機器マスターから商品を選択すると、タイスコードなどが自動入力されます。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対象：福祉用具専門相談員のみなさま　／　場所：利用者をクリック → 「福祉用具選定」タブ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このタブでできること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60320" cy="310896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91440" cy="31089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517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介護保険レンタルを登録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介護保険適用のレンタル機器を登録します。カイポケCSV取込後は自動で反映されます。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1" y="1828800"/>
            <a:ext cx="2560320" cy="31089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1" y="1828800"/>
            <a:ext cx="91440" cy="3108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1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517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自費レンタルを登録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自費契約のレンタル機器を登録します。単価・数量・利用期間を入力して管理します。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828800"/>
            <a:ext cx="2560320" cy="3108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1828800"/>
            <a:ext cx="91440" cy="3108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26517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販売を登録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福祉用具の販売を記録します。受注日・納品日・支払方法・申請状況を管理できます。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14816" y="1828800"/>
            <a:ext cx="2560320" cy="310896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14816" y="1828800"/>
            <a:ext cx="91440" cy="310896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3416" y="1965960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1C2B27"/>
                </a:solidFill>
                <a:latin typeface="Meiryo UI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5176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マスターから商品選択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200400"/>
            <a:ext cx="22402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機器マスターから種類→メーカー→商品名の順に絞り込み選択できます。タイスコードが自動入力されます。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212080"/>
            <a:ext cx="10881360" cy="86868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212080"/>
            <a:ext cx="73152" cy="86868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2180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介護保険レンタルはカイポケCSVで自動更新されます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カイポケCSVをインポートすると介護保険レンタルの機器一覧が自動で最新化されます。自費レンタル・販売は手動登録です。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LIST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一覧画面の見方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46504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 UI"/>
              </a:rPr>
              <a:t>🏥  介護保険レンタル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783080"/>
            <a:ext cx="1280160" cy="2743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783080"/>
            <a:ext cx="12435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eiryo UI"/>
              </a:rPr>
              <a:t>3件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12848"/>
            <a:ext cx="10881360" cy="34747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67712"/>
            <a:ext cx="2194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商品名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267712"/>
            <a:ext cx="1280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メーカー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67712"/>
            <a:ext cx="118871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卸会社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2267712"/>
            <a:ext cx="118871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種類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267712"/>
            <a:ext cx="640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単位数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267712"/>
            <a:ext cx="822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利用開始日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67712"/>
            <a:ext cx="822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利用終了日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267712"/>
            <a:ext cx="822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Meiryo UI"/>
              </a:rPr>
              <a:t>カイポケ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560320"/>
            <a:ext cx="2286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2596896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スーパーショートベッド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560320"/>
            <a:ext cx="13716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0944" y="2596896"/>
            <a:ext cx="1261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パラマウント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560320"/>
            <a:ext cx="12801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96896"/>
            <a:ext cx="11704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パラマウントCS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560320"/>
            <a:ext cx="12801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2703" y="2596896"/>
            <a:ext cx="11704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特殊寝台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560320"/>
            <a:ext cx="7315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2596896"/>
            <a:ext cx="621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52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2560320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4384" y="2596896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2026-04-01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2560320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2596896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2560320"/>
            <a:ext cx="9144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73184" y="2596896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登録済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907791"/>
            <a:ext cx="228600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2944368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介助バー（縦手すり付）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2907791"/>
            <a:ext cx="137160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80944" y="2944368"/>
            <a:ext cx="1261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パラマウント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907791"/>
            <a:ext cx="128016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2544" y="2944368"/>
            <a:ext cx="11704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パラマウントCS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2907791"/>
            <a:ext cx="128016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32703" y="2944368"/>
            <a:ext cx="11704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特殊寝台付属品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907791"/>
            <a:ext cx="73152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12864" y="2944368"/>
            <a:ext cx="621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2907791"/>
            <a:ext cx="91440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44384" y="2944368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2026-04-01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2907791"/>
            <a:ext cx="91440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8784" y="2944368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2907791"/>
            <a:ext cx="914400" cy="347472"/>
          </a:xfrm>
          <a:prstGeom prst="rect">
            <a:avLst/>
          </a:prstGeom>
          <a:solidFill>
            <a:srgbClr val="DBEAFE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73184" y="2944368"/>
            <a:ext cx="8046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登録済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3346704"/>
            <a:ext cx="6400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 UI"/>
              </a:rPr>
              <a:t>💰  自費レンタル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3383280"/>
            <a:ext cx="1280160" cy="27432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90688" y="3383280"/>
            <a:ext cx="1243584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Meiryo UI"/>
              </a:rPr>
              <a:t>1件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3813048"/>
            <a:ext cx="10881360" cy="3474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3867911"/>
            <a:ext cx="28346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Meiryo UI"/>
              </a:rPr>
              <a:t>商品名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3867911"/>
            <a:ext cx="1554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Meiryo UI"/>
              </a:rPr>
              <a:t>卸会社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57800" y="3867911"/>
            <a:ext cx="10058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Meiryo UI"/>
              </a:rPr>
              <a:t>単価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3867911"/>
            <a:ext cx="640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Meiryo UI"/>
              </a:rPr>
              <a:t>数量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00" y="3867911"/>
            <a:ext cx="118871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Meiryo UI"/>
              </a:rPr>
              <a:t>税込金額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66760" y="3867911"/>
            <a:ext cx="1280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Meiryo UI"/>
              </a:rPr>
              <a:t>利用開始日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3867911"/>
            <a:ext cx="1280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Meiryo UI"/>
              </a:rPr>
              <a:t>利用終了日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4160520"/>
            <a:ext cx="29260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4197096"/>
            <a:ext cx="2816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防水シーツ（大）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66160" y="4160520"/>
            <a:ext cx="16459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21024" y="4197096"/>
            <a:ext cx="15361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野口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4160520"/>
            <a:ext cx="10972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66944" y="4197096"/>
            <a:ext cx="9875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¥1,200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4160520"/>
            <a:ext cx="7315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64224" y="4197096"/>
            <a:ext cx="621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40880" y="4160520"/>
            <a:ext cx="12801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4" y="4197096"/>
            <a:ext cx="117043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¥1,320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4160520"/>
            <a:ext cx="13716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75904" y="4197096"/>
            <a:ext cx="1261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>2026-05-01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92640" y="4160520"/>
            <a:ext cx="13716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47504" y="4197096"/>
            <a:ext cx="12618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C2B27"/>
                </a:solidFill>
                <a:latin typeface="Meiryo UI"/>
              </a:rPr>
              <a:t/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640080" y="5138928"/>
          <a:ext cx="10881360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13816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表示・操作</a:t>
                      </a:r>
                    </a:p>
                  </a:txBody>
                  <a:tcPr anchor="ctr" marL="73152" marR="54864" marT="36576" marB="36576">
                    <a:solidFill>
                      <a:srgbClr val="0E8A7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意味</a:t>
                      </a:r>
                    </a:p>
                  </a:txBody>
                  <a:tcPr anchor="ctr" marL="73152" marR="54864" marT="36576" marB="36576">
                    <a:solidFill>
                      <a:srgbClr val="0E8A7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ヘッダーの色（青/紫/緑）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介護保険レンタル / 自費レンタル / 販売 を区別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行クリック（編集モード時）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その機器の詳細入力フォームが開きます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🔒マーク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月次売上が確定済みのため編集・削除できません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削除ボタン（赤）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その機器を一覧から削除します（元に戻せません）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ADD EQUIPMENT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機器を追加する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212080" cy="411480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82296" cy="41148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78"/>
                </a:solidFill>
                <a:latin typeface="Meiryo UI"/>
              </a:rPr>
              <a:t>Step 1  種類を選択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40864"/>
            <a:ext cx="4892040" cy="685800"/>
          </a:xfrm>
          <a:prstGeom prst="rect">
            <a:avLst/>
          </a:prstGeom>
          <a:solidFill>
            <a:srgbClr val="DBEAFE"/>
          </a:solidFill>
          <a:ln w="1016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32304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2B27"/>
                </a:solidFill>
                <a:latin typeface="Meiryo UI"/>
              </a:rPr>
              <a:t>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32304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eiryo UI"/>
              </a:rPr>
              <a:t>介護保険レンタル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06624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介護保険適用のレンタル用具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118104"/>
            <a:ext cx="4892040" cy="685800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09544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2B27"/>
                </a:solidFill>
                <a:latin typeface="Meiryo UI"/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9544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Meiryo UI"/>
              </a:rPr>
              <a:t>自費レンタル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83864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自費でのレンタル用具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95344"/>
            <a:ext cx="4892040" cy="68580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86783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2B27"/>
                </a:solidFill>
                <a:latin typeface="Meiryo UI"/>
              </a:rP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986783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Meiryo UI"/>
              </a:rPr>
              <a:t>販売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261104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福祉用具の販売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51206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828800"/>
            <a:ext cx="82296" cy="411480"/>
          </a:xfrm>
          <a:prstGeom prst="rect">
            <a:avLst/>
          </a:prstGeom>
          <a:solidFill>
            <a:srgbClr val="C25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892807"/>
            <a:ext cx="4663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2570E"/>
                </a:solidFill>
                <a:latin typeface="Meiryo UI"/>
              </a:rPr>
              <a:t>Step 2  属性を選択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30428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Meiryo UI"/>
              </a:rPr>
              <a:t>種類: 介護保険レンタル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2651760"/>
            <a:ext cx="4800600" cy="685800"/>
          </a:xfrm>
          <a:prstGeom prst="rect">
            <a:avLst/>
          </a:prstGeom>
          <a:solidFill>
            <a:srgbClr val="FFEDD5"/>
          </a:solidFill>
          <a:ln w="10160">
            <a:solidFill>
              <a:srgbClr val="C257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74320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2B27"/>
                </a:solidFill>
                <a:latin typeface="Meiryo UI"/>
              </a:rPr>
              <a:t>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74320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2570E"/>
                </a:solidFill>
                <a:latin typeface="Meiryo UI"/>
              </a:rPr>
              <a:t>自社物件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017520"/>
            <a:ext cx="3931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自社所有の福祉用具（仕入なし）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3429000"/>
            <a:ext cx="4800600" cy="685800"/>
          </a:xfrm>
          <a:prstGeom prst="rect">
            <a:avLst/>
          </a:prstGeom>
          <a:solidFill>
            <a:srgbClr val="E2F0EC"/>
          </a:solidFill>
          <a:ln w="1016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352044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C2B27"/>
                </a:solidFill>
                <a:latin typeface="Meiryo UI"/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5204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A78"/>
                </a:solidFill>
                <a:latin typeface="Meiryo UI"/>
              </a:rPr>
              <a:t>リース物件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3794760"/>
            <a:ext cx="3931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リース契約の福祉用具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20624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E68"/>
                </a:solidFill>
                <a:latin typeface="Meiryo UI"/>
              </a:rPr>
              <a:t>← 種類選択に戻る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474720"/>
            <a:ext cx="640080" cy="32004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347472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10881360" cy="749808"/>
          </a:xfrm>
          <a:prstGeom prst="rect">
            <a:avLst/>
          </a:prstGeom>
          <a:solidFill>
            <a:srgbClr val="E2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806440"/>
            <a:ext cx="73152" cy="749808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916168"/>
            <a:ext cx="1051560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0E8A78"/>
                </a:solidFill>
                <a:latin typeface="Meiryo UI"/>
              </a:rPr>
              <a:t>Step 2 の後、機器詳細の入力フォームが自動で開きます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種類と属性を選択するとすぐに詳細入力モーダルが表示されます。内容を入力して「保存」を押してください。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Meiryo UI"/>
              </a:rPr>
              <a:t>INSURANCE RENTAL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介護保険レンタルの入力フォーム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9601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241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Meiryo UI"/>
              </a:rPr>
              <a:t>種類 → メーカー → 商品名 の順に選択すると、タイスコード・単位数が自動入力されます。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この「カスケード選択」を使うと入力ミスを防げます。手入力も可能です。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44368"/>
            <a:ext cx="2542032" cy="132588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44368"/>
            <a:ext cx="82296" cy="1325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03580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27"/>
                </a:solidFill>
                <a:latin typeface="Meiryo UI"/>
              </a:rPr>
              <a:t>① 種類を選択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29000"/>
            <a:ext cx="2240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特殊寝台 / 歩行器
/車いす など13種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1" y="3401568"/>
            <a:ext cx="256032" cy="347472"/>
          </a:xfrm>
          <a:prstGeom prst="rect">
            <a:avLst/>
          </a:prstGeom>
          <a:solidFill>
            <a:srgbClr val="D7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1" y="3401568"/>
            <a:ext cx="256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38144" y="2944368"/>
            <a:ext cx="2542032" cy="132588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144" y="2944368"/>
            <a:ext cx="82296" cy="1325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303580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27"/>
                </a:solidFill>
                <a:latin typeface="Meiryo UI"/>
              </a:rPr>
              <a:t>② メーカーを選択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429000"/>
            <a:ext cx="2240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種類で絞り込まれた
メーカー一覧から選択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0175" y="3401568"/>
            <a:ext cx="256032" cy="347472"/>
          </a:xfrm>
          <a:prstGeom prst="rect">
            <a:avLst/>
          </a:prstGeom>
          <a:solidFill>
            <a:srgbClr val="D7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0175" y="3401568"/>
            <a:ext cx="256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944368"/>
            <a:ext cx="2542032" cy="132588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8" y="2944368"/>
            <a:ext cx="82296" cy="13258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303580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27"/>
                </a:solidFill>
                <a:latin typeface="Meiryo UI"/>
              </a:rPr>
              <a:t>③ 商品名を選択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429000"/>
            <a:ext cx="2240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メーカーで絞り込まれた
商品一覧から選択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3401568"/>
            <a:ext cx="256032" cy="347472"/>
          </a:xfrm>
          <a:prstGeom prst="rect">
            <a:avLst/>
          </a:prstGeom>
          <a:solidFill>
            <a:srgbClr val="D7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3401568"/>
            <a:ext cx="256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34272" y="2944368"/>
            <a:ext cx="2542032" cy="1325880"/>
          </a:xfrm>
          <a:prstGeom prst="rect">
            <a:avLst/>
          </a:prstGeom>
          <a:solidFill>
            <a:srgbClr val="E2F0EC"/>
          </a:solidFill>
          <a:ln w="12700">
            <a:solidFill>
              <a:srgbClr val="0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4272" y="2944368"/>
            <a:ext cx="82296" cy="132588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03580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B27"/>
                </a:solidFill>
                <a:latin typeface="Meiryo UI"/>
              </a:rPr>
              <a:t>④ 自動入力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429000"/>
            <a:ext cx="22402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タイスコード・単位数
が自動でセット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76304" y="3401568"/>
            <a:ext cx="256032" cy="347472"/>
          </a:xfrm>
          <a:prstGeom prst="rect">
            <a:avLst/>
          </a:prstGeom>
          <a:solidFill>
            <a:srgbClr val="D7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76304" y="3401568"/>
            <a:ext cx="25603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B6E68"/>
                </a:solidFill>
                <a:latin typeface="Meiryo UI"/>
              </a:rPr>
              <a:t>→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40080" y="4407408"/>
          <a:ext cx="9966960" cy="224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6492240"/>
                <a:gridCol w="1097280"/>
              </a:tblGrid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フィールド</a:t>
                      </a:r>
                    </a:p>
                  </a:txBody>
                  <a:tcPr anchor="ctr" marL="73152" marR="54864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入力内容</a:t>
                      </a:r>
                    </a:p>
                  </a:txBody>
                  <a:tcPr anchor="ctr" marL="73152" marR="54864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必須</a:t>
                      </a:r>
                    </a:p>
                  </a:txBody>
                  <a:tcPr anchor="ctr" marL="73152" marR="54864" marT="36576" marB="36576">
                    <a:solidFill>
                      <a:srgbClr val="1D4ED8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種類（カテゴリ）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特殊寝台 / 車いす / 歩行器 など13種類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○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メーカー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マスターから選択（または手入力）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商品名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マスターから選択（または手入力）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○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タイスコード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商品選択で自動入力（手入力も可）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単位数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商品選択で自動入力（手入力も可）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卸会社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仕入先の卸会社名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利用開始日・終了日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レンタル期間（カイポケCSV取込で自動設定）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物件属性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自社物件 / リース物件（Step 2で選択済み）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カイポケ登録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未登録 / 登録済（登録状況を記録）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Meiryo UI"/>
              </a:rPr>
              <a:t>SELF-PAY RENTAL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自費レンタルの入力フォーム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804672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自費レンタルは介護保険が使えない用具・期間のレンタルです。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商品名・単価・数量・利用期間を入力します。税込金額は自動計算されます。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834640"/>
          <a:ext cx="10881360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5760720"/>
                <a:gridCol w="2834640"/>
              </a:tblGrid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フィールド</a:t>
                      </a:r>
                    </a:p>
                  </a:txBody>
                  <a:tcPr anchor="ctr" marL="73152" marR="54864" marT="36576" marB="36576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入力内容</a:t>
                      </a:r>
                    </a:p>
                  </a:txBody>
                  <a:tcPr anchor="ctr" marL="73152" marR="54864" marT="36576" marB="36576">
                    <a:solidFill>
                      <a:srgbClr val="7C3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備考</a:t>
                      </a:r>
                    </a:p>
                  </a:txBody>
                  <a:tcPr anchor="ctr" marL="73152" marR="54864" marT="36576" marB="36576">
                    <a:solidFill>
                      <a:srgbClr val="7C3AED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商品名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自費レンタルの品名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自由入力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卸会社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仕入先の卸会社名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単価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月額レンタル料（税抜き）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税込金額に自動換算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数量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レンタルする個数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通常は1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税区分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非課税 / 10% / 軽8% / 税込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税込金額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単価 × 数量 + 消費税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自動計算（参考表示）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利用開始日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レンタル開始日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月次売上集計に使用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利用終了日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レンタル終了日（空欄=継続中）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空欄=当月の売上に含む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510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物件属性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自社物件 / リース物件（Step 2で選択済み）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511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取引内容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社内間取引 / ー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6236208"/>
            <a:ext cx="10881360" cy="384048"/>
          </a:xfrm>
          <a:prstGeom prst="rect">
            <a:avLst/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6236208"/>
            <a:ext cx="73152" cy="384048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6345936"/>
            <a:ext cx="1051560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🔒 売上確定済みの月の機器は編集・削除できません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月次売上処理で「確定」した後は変更不可になります。修正が必要な場合は担当者に確定解除を依頼してください。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  <a:latin typeface="Meiryo UI"/>
              </a:rPr>
              <a:t>SALES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販売の入力フォーム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804672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8046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福祉用具の購入販売を記録します。納品日が月次売上処理の集計基準日になります。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申請あり（日常生活給付等）の場合は、支払方法・申請市町村も記録してください。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834640"/>
          <a:ext cx="1088136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5303520"/>
                <a:gridCol w="2651760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フィールド</a:t>
                      </a:r>
                    </a:p>
                  </a:txBody>
                  <a:tcPr anchor="ctr" marL="73152" marR="54864" marT="36576" marB="36576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入力内容</a:t>
                      </a:r>
                    </a:p>
                  </a:txBody>
                  <a:tcPr anchor="ctr" marL="73152" marR="54864" marT="36576" marB="36576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</a:rPr>
                        <a:t>備考</a:t>
                      </a:r>
                    </a:p>
                  </a:txBody>
                  <a:tcPr anchor="ctr" marL="73152" marR="54864" marT="36576" marB="36576">
                    <a:solidFill>
                      <a:srgbClr val="16A34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商品名（請求費目）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販売品の品名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必須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受注日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注文を受けた日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納品日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商品を届けた日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必須（月次売上の集計基準）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営業担当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担当者名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単価（税抜）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商品の税抜単価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数量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販売個数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/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税区分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非課税 / 10% / 軽8% / 税込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送料（税抜）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配送料金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送料消費税は自動計算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利用者自己負担割合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全額負担 / 1〜3割 / 日常生活給付など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支払い方法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口座引き落とし / 現金 / 受領委任払い など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選択式</a:t>
                      </a:r>
                    </a:p>
                  </a:txBody>
                  <a:tcPr anchor="ctr" marL="73152" marR="54864" marT="36576" marB="36576">
                    <a:solidFill>
                      <a:srgbClr val="E2F0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B27"/>
                          </a:solidFill>
                          <a:latin typeface="Meiryo UI"/>
                        </a:rPr>
                        <a:t>申請あり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チェックで申請状況を管理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C2B27"/>
                          </a:solidFill>
                          <a:latin typeface="Meiryo UI"/>
                        </a:rPr>
                        <a:t>申請市町村も入力可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EDIT /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機器を編集する・削除する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57800" cy="25146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82296" cy="25146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4ED8"/>
                </a:solidFill>
                <a:latin typeface="Meiryo UI"/>
              </a:rPr>
              <a:t>行クリックで編集する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231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編集モード中に機器の行をクリックすると、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詳細入力フォームが開きます。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内容を修正して「保存」を押してください。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5B6E68"/>
                </a:solidFill>
                <a:latin typeface="Meiryo UI"/>
              </a:rPr>
              <a:t>（読み取りモード中はクリックしても開きません）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828800"/>
            <a:ext cx="5166360" cy="2514600"/>
          </a:xfrm>
          <a:prstGeom prst="rect">
            <a:avLst/>
          </a:prstGeom>
          <a:solidFill>
            <a:srgbClr val="FBEAE2"/>
          </a:solidFill>
          <a:ln w="12700">
            <a:solidFill>
              <a:srgbClr val="E27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82296" cy="2514600"/>
          </a:xfrm>
          <a:prstGeom prst="rect">
            <a:avLst/>
          </a:prstGeom>
          <a:solidFill>
            <a:srgbClr val="E27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38528"/>
            <a:ext cx="46634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2714A"/>
                </a:solidFill>
                <a:latin typeface="Meiryo UI"/>
              </a:rPr>
              <a:t>削除ボタンで削除する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編集モード中、各行の右端にある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C2B27"/>
                </a:solidFill>
                <a:latin typeface="Meiryo UI"/>
              </a:rPr>
              <a:t>ゴミ箱アイコン（赤）を押すと削除されます。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E2714A"/>
                </a:solidFill>
                <a:latin typeface="Meiryo UI"/>
              </a:rPr>
              <a:t>確認なしに削除されるのでご注意ください。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5B6E68"/>
                </a:solidFill>
                <a:latin typeface="Meiryo UI"/>
              </a:rPr>
              <a:t>（介護保険レンタルはカイポケCSVで復元可能）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44568"/>
            <a:ext cx="10881360" cy="1508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544568"/>
            <a:ext cx="82296" cy="1508760"/>
          </a:xfrm>
          <a:prstGeom prst="rect">
            <a:avLst/>
          </a:prstGeom>
          <a:solidFill>
            <a:srgbClr val="5B6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36008"/>
            <a:ext cx="10241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27"/>
                </a:solidFill>
                <a:latin typeface="Meiryo UI"/>
              </a:rPr>
              <a:t>🔒  確定済み機器は編集・削除できません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7492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月次売上処理で「売上確定」をした月に含まれる自費レンタル・販売機器は、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一覧の商品名に 🔒 マークが付き、編集・削除できなくなります。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E2714A"/>
                </a:solidFill>
                <a:latin typeface="Meiryo UI"/>
              </a:rPr>
              <a:t>修正が必要な場合は「売上・請求突合」ページで確定を解除してから操作してください。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190488"/>
            <a:ext cx="10881360" cy="36576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6190488"/>
            <a:ext cx="73152" cy="3657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300216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1D4ED8"/>
                </a:solidFill>
                <a:latin typeface="Meiryo UI"/>
              </a:rPr>
              <a:t>介護保険レンタルのロックについて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C2B27"/>
                </a:solidFill>
                <a:latin typeface="Meiryo UI"/>
              </a:rPr>
              <a:t>介護保険レンタルもカイポケCSV確定後はロックされます。変更はカイポケ側で行いCSVを再インポートしてください。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A78"/>
                </a:solidFill>
                <a:latin typeface="Meiryo UI"/>
              </a:rP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C2B27"/>
                </a:solidFill>
                <a:latin typeface="Meiryo UI"/>
              </a:rPr>
              <a:t>よくある質問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280160" cy="5486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E68"/>
                </a:solidFill>
                <a:latin typeface="Meiryo UI"/>
              </a:rPr>
              <a:t>WelfareAssist Pro  |  福祉用具選定タブ 操作マニュアル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74519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介護保険レンタルの機器を手動で追加してよいですか？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31136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追加はできますが、次回カイポケCSVインポート時に上書きされます。介護保険レンタルはカイポケCSVで管理するのが基本です。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79776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71216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825496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タイスコードが自動入力されません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82112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商品マスターに登録されていない機器は自動入力されません。「種類→メーカー→商品名」の順に選択し直すか、手入力してください。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30752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30752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22191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76472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削除してしまいました。元に戻せますか？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33088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介護保険レンタルはカイポケCSVを再インポートすると復元できます。自費レンタル・販売は復元できません。内容を覚えている間に再入力してください。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81728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681728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73168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27448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🔒マークが表示されて編集できません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84064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月次売上が確定済みのため編集不可です。売上・請求突合ページで当該月の確定を解除してから編集してください。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32704"/>
            <a:ext cx="108813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7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632704"/>
            <a:ext cx="54864" cy="877824"/>
          </a:xfrm>
          <a:prstGeom prst="rect">
            <a:avLst/>
          </a:prstGeom>
          <a:solidFill>
            <a:srgbClr val="0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724144"/>
            <a:ext cx="45720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8A78"/>
                </a:solidFill>
                <a:latin typeface="Meiryo UI"/>
              </a:rPr>
              <a:t>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678424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27"/>
                </a:solidFill>
                <a:latin typeface="Meiryo UI"/>
              </a:rPr>
              <a:t>自費レンタルと介護保険レンタルの両方に同じ機器があります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6035040"/>
            <a:ext cx="9966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E68"/>
                </a:solidFill>
                <a:latin typeface="Meiryo UI"/>
              </a:rPr>
              <a:t>利用区分の変更があった場合に両方に残ることがあります。不要な方の機器を削除して整理してください。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