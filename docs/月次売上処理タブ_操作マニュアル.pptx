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A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E8A78"/>
                </a:solidFill>
                <a:latin typeface="Meiryo UI"/>
              </a:rPr>
              <a:t>福祉用具マネージャー　操作マニュアル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1C2B27"/>
                </a:solidFill>
                <a:latin typeface="Meiryo UI"/>
              </a:rPr>
              <a:t>「月次売上処理」タブの使い方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566160"/>
            <a:ext cx="2011680" cy="73152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8404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>
                <a:solidFill>
                  <a:srgbClr val="5B6E68"/>
                </a:solidFill>
                <a:latin typeface="Meiryo UI"/>
              </a:rPr>
              <a:t>毎月の売上（介護保険レンタル・自費レンタル・販売）を確認し、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>
                <a:solidFill>
                  <a:srgbClr val="5B6E68"/>
                </a:solidFill>
                <a:latin typeface="Meiryo UI"/>
              </a:rPr>
              <a:t>カイポケCSVを取り込み、金額を確定してCSVを出力する画面です。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>
                <a:solidFill>
                  <a:srgbClr val="5B6E68"/>
                </a:solidFill>
                <a:latin typeface="Meiryo UI"/>
              </a:rPr>
              <a:t>ここで確定した金額が「売上・仕入突合」タブの基準値になります。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対象：福祉用具専門相談員のみなさま　／　場所：左サイドバー「月次売上処理」（紫ボタン）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C2B27"/>
                </a:solidFill>
                <a:latin typeface="Meiryo UI"/>
              </a:rPr>
              <a:t>このタブでできること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月次売上処理タブ 操作マニュアル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3474720" cy="2834640"/>
          </a:xfrm>
          <a:prstGeom prst="rect">
            <a:avLst/>
          </a:prstGeom>
          <a:solidFill>
            <a:srgbClr val="E2F0EC"/>
          </a:solidFill>
          <a:ln w="12700">
            <a:solidFill>
              <a:srgbClr val="0E8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91440" cy="283464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1C2B27"/>
                </a:solidFill>
                <a:latin typeface="Meiryo UI"/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97480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C2B27"/>
                </a:solidFill>
                <a:latin typeface="Meiryo UI"/>
              </a:rPr>
              <a:t>売上データの確認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246120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5B6E68"/>
                </a:solidFill>
                <a:latin typeface="Meiryo UI"/>
              </a:rPr>
              <a:t>選んだ月・事業所の介護保険レンタル/自費レンタル/販売の一覧と合計金額を確認できます。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8" y="1828800"/>
            <a:ext cx="3474720" cy="28346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828800"/>
            <a:ext cx="91440" cy="28346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20116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1C2B27"/>
                </a:solidFill>
                <a:latin typeface="Meiryo UI"/>
              </a:rPr>
              <a:t>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697480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C2B27"/>
                </a:solidFill>
                <a:latin typeface="Meiryo UI"/>
              </a:rPr>
              <a:t>カイポケCSVの取込み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246120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5B6E68"/>
                </a:solidFill>
                <a:latin typeface="Meiryo UI"/>
              </a:rPr>
              <a:t>介護保険レンタルタブでカイポケの2つのCSVを取り込み、当月分のデータに丸ごと入れ替えます。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1828800"/>
            <a:ext cx="3474720" cy="283464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1828800"/>
            <a:ext cx="91440" cy="283464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6" y="20116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1C2B27"/>
                </a:solidFill>
                <a:latin typeface="Meiryo UI"/>
              </a:rPr>
              <a:t>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2697480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C2B27"/>
                </a:solidFill>
                <a:latin typeface="Meiryo UI"/>
              </a:rPr>
              <a:t>金額の確定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246120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5B6E68"/>
                </a:solidFill>
                <a:latin typeface="Meiryo UI"/>
              </a:rPr>
              <a:t>3種類の売上をそれぞれ確定すると、その時点の金額がスナップショットとして固定されます。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937760"/>
            <a:ext cx="10881360" cy="914400"/>
          </a:xfrm>
          <a:prstGeom prst="rect">
            <a:avLst/>
          </a:prstGeom>
          <a:solidFill>
            <a:srgbClr val="E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937760"/>
            <a:ext cx="73152" cy="9144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04748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E8A78"/>
                </a:solidFill>
                <a:latin typeface="Meiryo UI"/>
              </a:rPr>
              <a:t>📝 この画面で確定した金額が「売上・仕入突合」タブの基準になります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月末の作業は、まずこの画面で3種類（介護保険レンタル・自費レンタル・販売）すべてを確定させることから始めます。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C2B27"/>
                </a:solidFill>
                <a:latin typeface="Meiryo UI"/>
              </a:rPr>
              <a:t>画面の基本構成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月次売上処理タブ 操作マニュアル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B6E68"/>
                </a:solidFill>
                <a:latin typeface="Meiryo UI"/>
              </a:rPr>
              <a:t>月度・事業所を選び、3つのタブで種類ごとの一覧を切り替えます。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329184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3291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🏥 介護保険レンタル 312件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2286000"/>
            <a:ext cx="2743200" cy="50292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2286000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5B6E68"/>
                </a:solidFill>
                <a:latin typeface="Meiryo UI"/>
              </a:rPr>
              <a:t>💰 自費レンタル 48件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286000"/>
            <a:ext cx="2377440" cy="50292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286000"/>
            <a:ext cx="2377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5B6E68"/>
                </a:solidFill>
                <a:latin typeface="Meiryo UI"/>
              </a:rPr>
              <a:t>🛒 販売 23件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3017520"/>
          <a:ext cx="10881360" cy="1737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4937760"/>
                <a:gridCol w="365760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タブ</a:t>
                      </a:r>
                    </a:p>
                  </a:txBody>
                  <a:tcPr anchor="ctr" marL="91440" marR="73152" marT="27432" marB="27432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データの出どころ</a:t>
                      </a:r>
                    </a:p>
                  </a:txBody>
                  <a:tcPr anchor="ctr" marL="91440" marR="73152" marT="27432" marB="27432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集計の基準日</a:t>
                      </a:r>
                    </a:p>
                  </a:txBody>
                  <a:tcPr anchor="ctr" marL="91440" marR="73152" marT="27432" marB="27432">
                    <a:solidFill>
                      <a:srgbClr val="0E8A78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介護保険レンタル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このタブ内のカイポケCSVインポートで取り込んだデータ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利用開始日〜終了日が対象月と重なる品目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自費レンタル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基本情報タブ（ClientDetail）の入力データ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利用開始日〜終了日が対象月と重なる品目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販売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基本情報タブ（ClientDetail）の入力データ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納品日が対象月内の品目のみ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5029200"/>
            <a:ext cx="10881360" cy="914400"/>
          </a:xfrm>
          <a:prstGeom prst="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029200"/>
            <a:ext cx="73152" cy="914400"/>
          </a:xfrm>
          <a:prstGeom prst="rect">
            <a:avLst/>
          </a:prstGeom>
          <a:solidFill>
            <a:srgbClr val="E27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389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2714A"/>
                </a:solidFill>
                <a:latin typeface="Meiryo UI"/>
              </a:rPr>
              <a:t>⚠ 事業所が未設定の利用者は「全事業所」でも表示されません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事業所フィルターは利用者ごとの「事業所」設定で判定されます。売上が出ない利用者がいたら、まず基本情報タブで事業所設定を確認してください。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C2B27"/>
                </a:solidFill>
                <a:latin typeface="Meiryo UI"/>
              </a:rPr>
              <a:t>売上サマリーの見方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月次売上処理タブ 操作マニュアル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B6E68"/>
                </a:solidFill>
                <a:latin typeface="Meiryo UI"/>
              </a:rPr>
              <a:t>タブの下に常に表示されている4枚のカードです（税抜の金額）。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2606040" cy="1828800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33172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2563EB"/>
                </a:solidFill>
                <a:latin typeface="Meiryo UI"/>
              </a:rPr>
              <a:t>介護保険レンタル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880360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Meiryo UI"/>
              </a:rPr>
              <a:t>312件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29184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563EB"/>
                </a:solidFill>
                <a:latin typeface="Meiryo UI"/>
              </a:rPr>
              <a:t>¥4,560,000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59" y="3703320"/>
            <a:ext cx="2240280" cy="292608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703320"/>
            <a:ext cx="2240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47287" y="2194560"/>
            <a:ext cx="2606040" cy="1828800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0168" y="233172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7C3AED"/>
                </a:solidFill>
                <a:latin typeface="Meiryo UI"/>
              </a:rPr>
              <a:t>自費レンタル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0168" y="2633472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66534"/>
                </a:solidFill>
                <a:latin typeface="Meiryo UI"/>
              </a:rPr>
              <a:t>✓ 確定済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0168" y="2880360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Meiryo UI"/>
              </a:rPr>
              <a:t>48件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329184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C3AED"/>
                </a:solidFill>
                <a:latin typeface="Meiryo UI"/>
              </a:rPr>
              <a:t>¥612,000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30168" y="3703320"/>
            <a:ext cx="224028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0168" y="3703320"/>
            <a:ext cx="2240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C2626"/>
                </a:solidFill>
                <a:latin typeface="Meiryo UI"/>
              </a:rPr>
              <a:t>解除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54496" y="2194560"/>
            <a:ext cx="2606040" cy="1828800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7376" y="233172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66534"/>
                </a:solidFill>
                <a:latin typeface="Meiryo UI"/>
              </a:rPr>
              <a:t>販売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2880360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66534"/>
                </a:solidFill>
                <a:latin typeface="Meiryo UI"/>
              </a:rPr>
              <a:t>23件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329184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66534"/>
                </a:solidFill>
                <a:latin typeface="Meiryo UI"/>
              </a:rPr>
              <a:t>¥481,300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37376" y="3703320"/>
            <a:ext cx="2240280" cy="292608"/>
          </a:xfrm>
          <a:prstGeom prst="rect">
            <a:avLst/>
          </a:prstGeom>
          <a:solidFill>
            <a:srgbClr val="166534"/>
          </a:solidFill>
          <a:ln w="9525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7376" y="3703320"/>
            <a:ext cx="2240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確定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61704" y="2194560"/>
            <a:ext cx="2606040" cy="1828800"/>
          </a:xfrm>
          <a:prstGeom prst="rect">
            <a:avLst/>
          </a:prstGeom>
          <a:solidFill>
            <a:srgbClr val="F1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4584" y="233172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C2B27"/>
                </a:solidFill>
                <a:latin typeface="Meiryo UI"/>
              </a:rPr>
              <a:t>合計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4584" y="2880360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C2B27"/>
                </a:solidFill>
                <a:latin typeface="Meiryo UI"/>
              </a:rPr>
              <a:t>383件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4584" y="329184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C2B27"/>
                </a:solidFill>
                <a:latin typeface="Meiryo UI"/>
              </a:rPr>
              <a:t>¥5,653,300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4343400"/>
          <a:ext cx="10881360" cy="1691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7680960"/>
              </a:tblGrid>
              <a:tr h="42291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eiryo UI"/>
                        </a:rPr>
                        <a:t>状態</a:t>
                      </a:r>
                    </a:p>
                  </a:txBody>
                  <a:tcPr anchor="ctr" marL="91440" marR="73152" marT="27432" marB="27432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eiryo UI"/>
                        </a:rPr>
                        <a:t>内容</a:t>
                      </a:r>
                    </a:p>
                  </a:txBody>
                  <a:tcPr anchor="ctr" marL="91440" marR="73152" marT="27432" marB="27432">
                    <a:solidFill>
                      <a:srgbClr val="0E8A78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C2B27"/>
                          </a:solidFill>
                          <a:latin typeface="Meiryo UI"/>
                        </a:rPr>
                        <a:t>未確定（「確定」ボタン）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C2B27"/>
                          </a:solidFill>
                          <a:latin typeface="Meiryo UI"/>
                        </a:rPr>
                        <a:t>件数・金額はその場で自動計算された最新の値。元データを直せば数字も変わる。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C2B27"/>
                          </a:solidFill>
                          <a:latin typeface="Meiryo UI"/>
                        </a:rPr>
                        <a:t>確定済（「解除」ボタン）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C2B27"/>
                          </a:solidFill>
                          <a:latin typeface="Meiryo UI"/>
                        </a:rPr>
                        <a:t>確定した瞬間の件数・金額をスナップショットとして固定。以後、元データを変えても変わらない。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C2B27"/>
                          </a:solidFill>
                          <a:latin typeface="Meiryo UI"/>
                        </a:rPr>
                        <a:t>解除できないとき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C2B27"/>
                          </a:solidFill>
                          <a:latin typeface="Meiryo UI"/>
                        </a:rPr>
                        <a:t>「売上・仕入突合」タブで月次確定が完了している場合、先にそちらを解除する必要がある。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eiryo UI"/>
              </a:rPr>
              <a:t>IMPORT 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C2B27"/>
                </a:solidFill>
                <a:latin typeface="Meiryo UI"/>
              </a:rPr>
              <a:t>カイポケCSVインポート（1）ファイル選択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280160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月次売上処理タブ 操作マニュアル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5B6E68"/>
                </a:solidFill>
                <a:latin typeface="Meiryo UI"/>
              </a:rPr>
              <a:t>介護保険レンタルのデータは月に1回、カイポケCSVを取り込みます。取り込むと当月分が丸ごと入れ替わります（洗い替え）。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3160"/>
            <a:ext cx="10881360" cy="777240"/>
          </a:xfrm>
          <a:prstGeom prst="rect">
            <a:avLst/>
          </a:prstGeom>
          <a:solidFill>
            <a:srgbClr val="F9FAFB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587752"/>
            <a:ext cx="457200" cy="457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8775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5328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2B27"/>
                </a:solidFill>
                <a:latin typeface="Meiryo UI"/>
              </a:rPr>
              <a:t>① サービスチェックシート.csv　*必須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84378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E68"/>
                </a:solidFill>
                <a:latin typeface="Meiryo UI"/>
              </a:rPr>
              <a:t>用具の種類・単位数などの明細データ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2606040"/>
            <a:ext cx="1645920" cy="411480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2606040"/>
            <a:ext cx="1645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Meiryo UI"/>
              </a:rPr>
              <a:t>ファイルを選択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337560"/>
            <a:ext cx="10881360" cy="777240"/>
          </a:xfrm>
          <a:prstGeom prst="rect">
            <a:avLst/>
          </a:prstGeom>
          <a:solidFill>
            <a:srgbClr val="F9FAFB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502152"/>
            <a:ext cx="457200" cy="457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0215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472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2B27"/>
                </a:solidFill>
                <a:latin typeface="Meiryo UI"/>
              </a:rPr>
              <a:t>② 利用者請求.csv　*必須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75818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E68"/>
                </a:solidFill>
                <a:latin typeface="Meiryo UI"/>
              </a:rPr>
              <a:t>ないと請求額が0件になります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3520440"/>
            <a:ext cx="1645920" cy="411480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3520440"/>
            <a:ext cx="1645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Meiryo UI"/>
              </a:rPr>
              <a:t>ファイルを選択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389120"/>
            <a:ext cx="1920240" cy="457200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389120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Meiryo UI"/>
              </a:rPr>
              <a:t>🔍 プレビュー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97480" y="4389120"/>
            <a:ext cx="192024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97480" y="4389120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📥 インポート実行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0" y="4389120"/>
            <a:ext cx="1920240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0" y="4389120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475569"/>
                </a:solidFill>
                <a:latin typeface="Meiryo UI"/>
              </a:rPr>
              <a:t>✕ 選択クリア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4389120"/>
            <a:ext cx="1828800" cy="457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438912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🗑 データクリア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074920"/>
            <a:ext cx="10881360" cy="868680"/>
          </a:xfrm>
          <a:prstGeom prst="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074920"/>
            <a:ext cx="73152" cy="868680"/>
          </a:xfrm>
          <a:prstGeom prst="rect">
            <a:avLst/>
          </a:prstGeom>
          <a:solidFill>
            <a:srgbClr val="E27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8464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2714A"/>
                </a:solidFill>
                <a:latin typeface="Meiryo UI"/>
              </a:rPr>
              <a:t>⚠ 2つのファイルは必ず両方選んでください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「②利用者請求.csv」を選ばずに取り込むと、用具は登録されますが請求額（給付対象金額）がすべて0円になります。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eiryo UI"/>
              </a:rPr>
              <a:t>IMPORT 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C2B27"/>
                </a:solidFill>
                <a:latin typeface="Meiryo UI"/>
              </a:rPr>
              <a:t>カイポケCSVインポート（2）プレビュー確認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280160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月次売上処理タブ 操作マニュアル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5B6E68"/>
                </a:solidFill>
                <a:latin typeface="Meiryo UI"/>
              </a:rPr>
              <a:t>①のファイルを選ぶと「プレビュー」が押せます。実際に取り込む前に必ず確認しましょう。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42316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E68"/>
                </a:solidFill>
                <a:latin typeface="Meiryo UI"/>
              </a:rPr>
              <a:t>マッチ成功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4320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66534"/>
                </a:solidFill>
                <a:latin typeface="Meiryo UI"/>
              </a:rPr>
              <a:t>302名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47287" y="228600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42316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E68"/>
                </a:solidFill>
                <a:latin typeface="Meiryo UI"/>
              </a:rPr>
              <a:t>未マッチ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74320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DC2626"/>
                </a:solidFill>
                <a:latin typeface="Meiryo UI"/>
              </a:rPr>
              <a:t>3名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4496" y="228600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42316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E68"/>
                </a:solidFill>
                <a:latin typeface="Meiryo UI"/>
              </a:rPr>
              <a:t>品目数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74320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Meiryo UI"/>
              </a:rPr>
              <a:t>340件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61704" y="228600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44584" y="242316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E68"/>
                </a:solidFill>
                <a:latin typeface="Meiryo UI"/>
              </a:rPr>
              <a:t>給付対象金額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4584" y="274320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Meiryo UI"/>
              </a:rPr>
              <a:t>¥4,560,000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49039"/>
            <a:ext cx="10881360" cy="1005840"/>
          </a:xfrm>
          <a:prstGeom prst="rect">
            <a:avLst/>
          </a:prstGeom>
          <a:solidFill>
            <a:srgbClr val="E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49039"/>
            <a:ext cx="73152" cy="100584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8587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E8A78"/>
                </a:solidFill>
                <a:latin typeface="Meiryo UI"/>
              </a:rPr>
              <a:t>👀 「未マッチ」が0件でなければ「詳細表示」を確認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カイポケ側の氏名・カナが利用者マスターと違う場合に発生しやすいです。未マッチの利用者はそのままインポートには含まれません。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892040"/>
            <a:ext cx="10881360" cy="1234440"/>
          </a:xfrm>
          <a:prstGeom prst="rect">
            <a:avLst/>
          </a:prstGeom>
          <a:solidFill>
            <a:srgbClr val="E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4892040"/>
            <a:ext cx="73152" cy="123444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001768"/>
            <a:ext cx="10515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E8A78"/>
                </a:solidFill>
                <a:latin typeface="Meiryo UI"/>
              </a:rPr>
              <a:t>🖱️ 請求データの紐づけは「クリック→クリック」だけ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「請求金額の紐づけ状況」で未紐づけがあれば「詳細表示」。左側で未紐づけ利用者をクリックして選択（青くなる）→右側の対応する請求データをクリックすると緑色の「紐づけ済み」になります。「インポート実行」を押すまで何度でもやり直せ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eiryo UI"/>
              </a:rPr>
              <a:t>IMPORT STEP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C2B27"/>
                </a:solidFill>
                <a:latin typeface="Meiryo UI"/>
              </a:rPr>
              <a:t>カイポケCSVインポート（3）実行と警告確認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280160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月次売上処理タブ 操作マニュアル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5B6E68"/>
                </a:solidFill>
                <a:latin typeface="Meiryo UI"/>
              </a:rPr>
              <a:t>プレビューの内容に問題がなければ「インポート実行」を押します。完了すると成功メッセージが表示されます。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77440"/>
            <a:ext cx="10881360" cy="548640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66534"/>
                </a:solidFill>
                <a:latin typeface="Meiryo UI"/>
              </a:rPr>
              <a:t>✓ インポート完了：302名の利用者に340件の用具を登録しました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10881360" cy="9144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73152" cy="9144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246120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Meiryo UI"/>
              </a:rPr>
              <a:t>⚠️ 請求データ未紐づけ：3名（売上集計から除外されています）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対象者の給付対象金額は売上合計に含まれていません。確定前に必ず確認・再インポートしてください。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10881360" cy="1371600"/>
          </a:xfrm>
          <a:prstGeom prst="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73152" cy="1371600"/>
          </a:xfrm>
          <a:prstGeom prst="rect">
            <a:avLst/>
          </a:prstGeom>
          <a:solidFill>
            <a:srgbClr val="E27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315968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2714A"/>
                </a:solidFill>
                <a:latin typeface="Meiryo UI"/>
              </a:rPr>
              <a:t>🗑 データクリアボタンについて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全事業所・全利用者の介護保険レンタルデータを一括削除するボタンです。確認ダイアログが出ますが、この操作は取り消せません。自費レンタル・販売のデータには影響しません。通常の月次作業では使わず、データ異常時のリセット用で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  <a:latin typeface="Meiryo UI"/>
              </a:rPr>
              <a:t>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C2B27"/>
                </a:solidFill>
                <a:latin typeface="Meiryo UI"/>
              </a:rPr>
              <a:t>販売タブの金額計算（重要）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28016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月次売上処理タブ 操作マニュアル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5B6E68"/>
                </a:solidFill>
                <a:latin typeface="Meiryo UI"/>
              </a:rPr>
              <a:t>販売の合計金額は、いくつかの項目を順番に足し引きして「総計」を出します。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1965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" y="2395728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C2B27"/>
                </a:solidFill>
                <a:latin typeface="Meiryo UI"/>
              </a:rPr>
              <a:t>小計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2788920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5B6E68"/>
                </a:solidFill>
                <a:latin typeface="Meiryo UI"/>
              </a:rPr>
              <a:t>単価×数量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39" y="260604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B6E68"/>
                </a:solidFill>
                <a:latin typeface="Meiryo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359" y="2286000"/>
            <a:ext cx="1965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799" y="2395728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C2B27"/>
                </a:solidFill>
                <a:latin typeface="Meiryo UI"/>
              </a:rPr>
              <a:t>消費税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799" y="2788920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5B6E68"/>
                </a:solidFill>
                <a:latin typeface="Meiryo UI"/>
              </a:rPr>
              <a:t>小計×税率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19" y="260604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B6E68"/>
                </a:solidFill>
                <a:latin typeface="Meiryo U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39" y="2286000"/>
            <a:ext cx="1965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79" y="2395728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C2B27"/>
                </a:solidFill>
                <a:latin typeface="Meiryo UI"/>
              </a:rPr>
              <a:t>税込金額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79" y="2788920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5B6E68"/>
                </a:solidFill>
                <a:latin typeface="Meiryo UI"/>
              </a:rPr>
              <a:t>小計+消費税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260604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B6E68"/>
                </a:solidFill>
                <a:latin typeface="Meiryo U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19" y="2286000"/>
            <a:ext cx="1965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59" y="2395728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C2B27"/>
                </a:solidFill>
                <a:latin typeface="Meiryo UI"/>
              </a:rPr>
              <a:t>+送料+送料消費税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59" y="2788920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5B6E68"/>
                </a:solidFill>
                <a:latin typeface="Meiryo UI"/>
              </a:rPr>
              <a:t>+調整額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60604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B6E68"/>
                </a:solidFill>
                <a:latin typeface="Meiryo U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2286000"/>
            <a:ext cx="1965960" cy="1005840"/>
          </a:xfrm>
          <a:prstGeom prst="rect">
            <a:avLst/>
          </a:prstGeom>
          <a:solidFill>
            <a:srgbClr val="DCFCE7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0" y="2395728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66534"/>
                </a:solidFill>
                <a:latin typeface="Meiryo UI"/>
              </a:rPr>
              <a:t>総計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2788920"/>
            <a:ext cx="1783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5B6E68"/>
                </a:solidFill>
                <a:latin typeface="Meiryo UI"/>
              </a:rPr>
              <a:t>負担額の基準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40080" y="3749039"/>
          <a:ext cx="1088136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572000"/>
                <a:gridCol w="338328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eiryo UI"/>
                        </a:rPr>
                        <a:t>列</a:t>
                      </a:r>
                    </a:p>
                  </a:txBody>
                  <a:tcPr anchor="ctr" marL="91440" marR="73152" marT="27432" marB="27432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eiryo UI"/>
                        </a:rPr>
                        <a:t>計算式</a:t>
                      </a:r>
                    </a:p>
                  </a:txBody>
                  <a:tcPr anchor="ctr" marL="91440" marR="73152" marT="27432" marB="27432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eiryo UI"/>
                        </a:rPr>
                        <a:t>備考</a:t>
                      </a:r>
                    </a:p>
                  </a:txBody>
                  <a:tcPr anchor="ctr" marL="91440" marR="73152" marT="27432" marB="27432">
                    <a:solidFill>
                      <a:srgbClr val="0E8A78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2B27"/>
                          </a:solidFill>
                          <a:latin typeface="Meiryo UI"/>
                        </a:rPr>
                        <a:t>小計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2B27"/>
                          </a:solidFill>
                          <a:latin typeface="Meiryo UI"/>
                        </a:rPr>
                        <a:t>単価 × 数量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2B27"/>
                          </a:solidFill>
                          <a:latin typeface="Meiryo UI"/>
                        </a:rPr>
                        <a:t/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2B27"/>
                          </a:solidFill>
                          <a:latin typeface="Meiryo UI"/>
                        </a:rPr>
                        <a:t>消費税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2B27"/>
                          </a:solidFill>
                          <a:latin typeface="Meiryo UI"/>
                        </a:rPr>
                        <a:t>小計 × 税率（切り捨て）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2B27"/>
                          </a:solidFill>
                          <a:latin typeface="Meiryo UI"/>
                        </a:rPr>
                        <a:t>税区分：10%/軽8%/非課税/税込。税込商品は0円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2B27"/>
                          </a:solidFill>
                          <a:latin typeface="Meiryo UI"/>
                        </a:rPr>
                        <a:t>税込金額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2B27"/>
                          </a:solidFill>
                          <a:latin typeface="Meiryo UI"/>
                        </a:rPr>
                        <a:t>小計 + 消費税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2B27"/>
                          </a:solidFill>
                          <a:latin typeface="Meiryo UI"/>
                        </a:rPr>
                        <a:t/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2B27"/>
                          </a:solidFill>
                          <a:latin typeface="Meiryo UI"/>
                        </a:rPr>
                        <a:t>送料（税抜）／送料消費税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2B27"/>
                          </a:solidFill>
                          <a:latin typeface="Meiryo UI"/>
                        </a:rPr>
                        <a:t>手動入力 ／ 送料×10%（四捨五入）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2B27"/>
                          </a:solidFill>
                          <a:latin typeface="Meiryo UI"/>
                        </a:rPr>
                        <a:t>送料0円なら消費税も0円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2B27"/>
                          </a:solidFill>
                          <a:latin typeface="Meiryo UI"/>
                        </a:rPr>
                        <a:t>調整額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2B27"/>
                          </a:solidFill>
                          <a:latin typeface="Meiryo UI"/>
                        </a:rPr>
                        <a:t>手動入力（±）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2B27"/>
                          </a:solidFill>
                          <a:latin typeface="Meiryo UI"/>
                        </a:rPr>
                        <a:t>端数調整・割引などに使用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2B27"/>
                          </a:solidFill>
                          <a:latin typeface="Meiryo UI"/>
                        </a:rPr>
                        <a:t>総計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2B27"/>
                          </a:solidFill>
                          <a:latin typeface="Meiryo UI"/>
                        </a:rPr>
                        <a:t>税込金額 + 送料（税抜）+ 送料消費税 + 調整額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2B27"/>
                          </a:solidFill>
                          <a:latin typeface="Meiryo UI"/>
                        </a:rPr>
                        <a:t>利用者負担額・申請額の計算基準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  <a:latin typeface="Meiryo UI"/>
              </a:rPr>
              <a:t>BURDEN CALC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C2B27"/>
                </a:solidFill>
                <a:latin typeface="Meiryo UI"/>
              </a:rPr>
              <a:t>利用者負担額・申請額の自動計算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28016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月次売上処理タブ 操作マニュアル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5B6E68"/>
                </a:solidFill>
                <a:latin typeface="Meiryo UI"/>
              </a:rPr>
              <a:t>「利用者自己負担割合」を設定すると、利用者負担額と申請額が自動で決まります（手入力済みの場合はそちらが優先）。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4688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4023360"/>
                <a:gridCol w="320040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利用者自己負担割合</a:t>
                      </a:r>
                    </a:p>
                  </a:txBody>
                  <a:tcPr anchor="ctr" marL="91440" marR="73152" marT="27432" marB="27432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利用者負担額</a:t>
                      </a:r>
                    </a:p>
                  </a:txBody>
                  <a:tcPr anchor="ctr" marL="91440" marR="73152" marT="27432" marB="27432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申請額</a:t>
                      </a:r>
                    </a:p>
                  </a:txBody>
                  <a:tcPr anchor="ctr" marL="91440" marR="73152" marT="27432" marB="27432">
                    <a:solidFill>
                      <a:srgbClr val="0E8A7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自己負担０（日常生活給付）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0円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総計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一部負担（日常生活給付）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上限額（総計との小さい方）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総計 − 利用者負担額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1〜3割負担（受領委任払い）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総計×割合（切り上げ／上限額あればその範囲内）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総計 − 利用者負担額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全額負担（償還払い）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総計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総計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572000"/>
            <a:ext cx="10881360" cy="1005840"/>
          </a:xfrm>
          <a:prstGeom prst="rect">
            <a:avLst/>
          </a:prstGeom>
          <a:solidFill>
            <a:srgbClr val="E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572000"/>
            <a:ext cx="73152" cy="100584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68172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E8A78"/>
                </a:solidFill>
                <a:latin typeface="Meiryo UI"/>
              </a:rPr>
              <a:t>📌 「一部負担」「1〜3割負担」では上限額を必ず入力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「一部負担時の上限額」が0円のままだと、利用者負担額が正しく計算されません。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EXPORT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C2B27"/>
                </a:solidFill>
                <a:latin typeface="Meiryo UI"/>
              </a:rPr>
              <a:t>CSV出力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月次売上処理タブ 操作マニュアル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5B6E68"/>
                </a:solidFill>
                <a:latin typeface="Meiryo UI"/>
              </a:rPr>
              <a:t>各タブの右上「CSVダウンロード」ボタンで、表示中の月・事業所のデータをそのまま出力できます。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377440"/>
          <a:ext cx="1088136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8595360"/>
              </a:tblGrid>
              <a:tr h="6172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eiryo UI"/>
                        </a:rPr>
                        <a:t>タブ</a:t>
                      </a:r>
                    </a:p>
                  </a:txBody>
                  <a:tcPr anchor="ctr" marL="91440" marR="73152" marT="27432" marB="27432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eiryo UI"/>
                        </a:rPr>
                        <a:t>主な列</a:t>
                      </a:r>
                    </a:p>
                  </a:txBody>
                  <a:tcPr anchor="ctr" marL="91440" marR="73152" marT="27432" marB="27432">
                    <a:solidFill>
                      <a:srgbClr val="0E8A78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C2B27"/>
                          </a:solidFill>
                          <a:latin typeface="Meiryo UI"/>
                        </a:rPr>
                        <a:t>介護保険レンタル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C2B27"/>
                          </a:solidFill>
                          <a:latin typeface="Meiryo UI"/>
                        </a:rPr>
                        <a:t>あおぞらID・氏名・施設名・商品名・種類・メーカー・卸会社・単位数・タイスコード・利用開始/終了日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C2B27"/>
                          </a:solidFill>
                          <a:latin typeface="Meiryo UI"/>
                        </a:rPr>
                        <a:t>自費レンタル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C2B27"/>
                          </a:solidFill>
                          <a:latin typeface="Meiryo UI"/>
                        </a:rPr>
                        <a:t>あおぞらID・氏名・施設名・商品名・単価・個数・金額（税抜/税込）・税区分・利用開始/終了日・取引方法・備考</a:t>
                      </a:r>
                    </a:p>
                  </a:txBody>
                  <a:tcPr anchor="ctr" marL="91440" marR="73152" marT="27432" marB="27432">
                    <a:solidFill>
                      <a:srgbClr val="E2F0EC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C2B27"/>
                          </a:solidFill>
                          <a:latin typeface="Meiryo UI"/>
                        </a:rPr>
                        <a:t>販売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C2B27"/>
                          </a:solidFill>
                          <a:latin typeface="Meiryo UI"/>
                        </a:rPr>
                        <a:t>金額内訳（小計〜総計）＋受注日・納品日・支払方法・自己負担割合・上限額・負担額・申請額・申請市町村・営業担当・備考ほか全26列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C2B27"/>
                </a:solidFill>
                <a:latin typeface="Meiryo UI"/>
              </a:rPr>
              <a:t>毎月の作業チェックリスト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月次売上処理タブ 操作マニュアル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108813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975104"/>
            <a:ext cx="274320" cy="274320"/>
          </a:xfrm>
          <a:prstGeom prst="rect">
            <a:avLst/>
          </a:prstGeom>
          <a:noFill/>
          <a:ln w="19050">
            <a:solidFill>
              <a:srgbClr val="0E8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828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1C2B27"/>
                </a:solidFill>
                <a:latin typeface="Meiryo UI"/>
              </a:rPr>
              <a:t>介護保険レンタルタブでカイポケCSV（2ファイル）をインポート済み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87168"/>
            <a:ext cx="108813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633472"/>
            <a:ext cx="274320" cy="274320"/>
          </a:xfrm>
          <a:prstGeom prst="rect">
            <a:avLst/>
          </a:prstGeom>
          <a:noFill/>
          <a:ln w="19050">
            <a:solidFill>
              <a:srgbClr val="0E8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4871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1C2B27"/>
                </a:solidFill>
                <a:latin typeface="Meiryo UI"/>
              </a:rPr>
              <a:t>インポート後に「請求データ未紐づけ」の警告バナーが出ていないか確認した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45535"/>
            <a:ext cx="108813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291839"/>
            <a:ext cx="274320" cy="274320"/>
          </a:xfrm>
          <a:prstGeom prst="rect">
            <a:avLst/>
          </a:prstGeom>
          <a:noFill/>
          <a:ln w="19050">
            <a:solidFill>
              <a:srgbClr val="0E8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145535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1C2B27"/>
                </a:solidFill>
                <a:latin typeface="Meiryo UI"/>
              </a:rPr>
              <a:t>自費レンタル・販売の一覧が最新か確認した（前日の自動更新後）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803903"/>
            <a:ext cx="108813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950207"/>
            <a:ext cx="274320" cy="274320"/>
          </a:xfrm>
          <a:prstGeom prst="rect">
            <a:avLst/>
          </a:prstGeom>
          <a:noFill/>
          <a:ln w="19050">
            <a:solidFill>
              <a:srgbClr val="0E8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3803903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1C2B27"/>
                </a:solidFill>
                <a:latin typeface="Meiryo UI"/>
              </a:rPr>
              <a:t>事業所フィルターを正しく設定してCSVを出力した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462271"/>
            <a:ext cx="108813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608575"/>
            <a:ext cx="274320" cy="274320"/>
          </a:xfrm>
          <a:prstGeom prst="rect">
            <a:avLst/>
          </a:prstGeom>
          <a:noFill/>
          <a:ln w="19050">
            <a:solidFill>
              <a:srgbClr val="0E8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462271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1C2B27"/>
                </a:solidFill>
                <a:latin typeface="Meiryo UI"/>
              </a:rPr>
              <a:t>3種類（介護保険レンタル・自費レンタル・販売）をすべて確定した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120639"/>
            <a:ext cx="108813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5266943"/>
            <a:ext cx="274320" cy="274320"/>
          </a:xfrm>
          <a:prstGeom prst="rect">
            <a:avLst/>
          </a:prstGeom>
          <a:noFill/>
          <a:ln w="19050">
            <a:solidFill>
              <a:srgbClr val="0E8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80160" y="5120639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1C2B27"/>
                </a:solidFill>
                <a:latin typeface="Meiryo UI"/>
              </a:rPr>
              <a:t>（このあと）「売上・仕入突合」タブで請求書と突合し、月次確定まで進める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C2B27"/>
                </a:solidFill>
                <a:latin typeface="Meiryo UI"/>
              </a:rPr>
              <a:t>よくある質問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｜ 月次売上処理タブ 操作マニュアル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1088136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4864" cy="896112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0240"/>
            <a:ext cx="457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E8A78"/>
                </a:solidFill>
                <a:latin typeface="Meiryo UI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74519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C2B27"/>
                </a:solidFill>
                <a:latin typeface="Meiryo UI"/>
              </a:rPr>
              <a:t>CSVを取り込んだら前月分のデータが消えました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249424"/>
            <a:ext cx="99669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E68"/>
                </a:solidFill>
                <a:latin typeface="Meiryo UI"/>
              </a:rPr>
              <a:t>介護保険レンタルのインポートは選択中の月度に対する洗い替え方式です。前月分は前月の月度を選んで確認してください。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98064"/>
            <a:ext cx="1088136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98064"/>
            <a:ext cx="54864" cy="896112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9504"/>
            <a:ext cx="457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E8A78"/>
                </a:solidFill>
                <a:latin typeface="Meiryo UI"/>
              </a:rPr>
              <a:t>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43784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C2B27"/>
                </a:solidFill>
                <a:latin typeface="Meiryo UI"/>
              </a:rPr>
              <a:t>確定後に元データを修正したら金額は変わりますか？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218688"/>
            <a:ext cx="99669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E68"/>
                </a:solidFill>
                <a:latin typeface="Meiryo UI"/>
              </a:rPr>
              <a:t>変わりません。確定はスナップショットです。反映させるには一度「解除」して再度「確定」してください。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767328"/>
            <a:ext cx="1088136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767328"/>
            <a:ext cx="54864" cy="896112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858768"/>
            <a:ext cx="457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E8A78"/>
                </a:solidFill>
                <a:latin typeface="Meiryo UI"/>
              </a:rPr>
              <a:t>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8130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C2B27"/>
                </a:solidFill>
                <a:latin typeface="Meiryo UI"/>
              </a:rPr>
              <a:t>「解除」ボタンが押せません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187952"/>
            <a:ext cx="99669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E68"/>
                </a:solidFill>
                <a:latin typeface="Meiryo UI"/>
              </a:rPr>
              <a:t>「売上・仕入突合」タブで月次確定まで完了している場合、そちらを先に解除する必要があります。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736592"/>
            <a:ext cx="1088136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36592"/>
            <a:ext cx="54864" cy="896112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828031"/>
            <a:ext cx="457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E8A78"/>
                </a:solidFill>
                <a:latin typeface="Meiryo UI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782312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C2B27"/>
                </a:solidFill>
                <a:latin typeface="Meiryo UI"/>
              </a:rPr>
              <a:t>自費レンタル・販売の件数がここに出てきません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157216"/>
            <a:ext cx="99669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E68"/>
                </a:solidFill>
                <a:latin typeface="Meiryo UI"/>
              </a:rPr>
              <a:t>対象利用者の事業所設定、利用開始/終了日（自費レンタル）、納品日（販売）が対象月の範囲に入っているか確認してください。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705856"/>
            <a:ext cx="1088136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705856"/>
            <a:ext cx="54864" cy="896112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797296"/>
            <a:ext cx="457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E8A78"/>
                </a:solidFill>
                <a:latin typeface="Meiryo U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751576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C2B27"/>
                </a:solidFill>
                <a:latin typeface="Meiryo UI"/>
              </a:rPr>
              <a:t>給付対象金額が0円の利用者がいます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6126480"/>
            <a:ext cx="99669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E68"/>
                </a:solidFill>
                <a:latin typeface="Meiryo UI"/>
              </a:rPr>
              <a:t>「利用者請求.csv」に紐づいていない可能性があります。インポートのプレビューで紐づけ状況を確認し、必要なら再インポートしてください。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