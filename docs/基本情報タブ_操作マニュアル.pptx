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A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0E8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E8A78"/>
                </a:solidFill>
                <a:latin typeface="Meiryo UI"/>
              </a:rPr>
              <a:t>福祉用具マネージャー　操作マニュアル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377440"/>
            <a:ext cx="1033272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600" b="1">
                <a:solidFill>
                  <a:srgbClr val="1C2B27"/>
                </a:solidFill>
                <a:latin typeface="Meiryo UI"/>
              </a:rPr>
              <a:t>「基本情報」タブの使い方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3611880"/>
            <a:ext cx="2011680" cy="73152"/>
          </a:xfrm>
          <a:prstGeom prst="rect">
            <a:avLst/>
          </a:prstGeom>
          <a:solidFill>
            <a:srgbClr val="0E8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38862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700" b="0">
                <a:solidFill>
                  <a:srgbClr val="5B6E68"/>
                </a:solidFill>
                <a:latin typeface="Meiryo UI"/>
              </a:rPr>
              <a:t>利用者ひとりひとりの基本データを登録・確認する画面です。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700" b="0">
                <a:solidFill>
                  <a:srgbClr val="5B6E68"/>
                </a:solidFill>
                <a:latin typeface="Meiryo UI"/>
              </a:rPr>
              <a:t>はじめての方でも迷わず編集・保存できるよう、やさしくまとめました。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585216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8A78"/>
                </a:solidFill>
                <a:latin typeface="Meiryo UI"/>
              </a:rPr>
              <a:t>対象：福祉用具専門相談員のみなさま　／　場所：利用者をクリック → 一番左のタブ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E8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8A78"/>
                </a:solidFill>
                <a:latin typeface="Meiryo UI"/>
              </a:rP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658368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C2B27"/>
                </a:solidFill>
                <a:latin typeface="Meiryo UI"/>
              </a:rPr>
              <a:t>このタブでできること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81328"/>
            <a:ext cx="1280160" cy="54864"/>
          </a:xfrm>
          <a:prstGeom prst="rect">
            <a:avLst/>
          </a:prstGeom>
          <a:solidFill>
            <a:srgbClr val="0E8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B6E68"/>
                </a:solidFill>
                <a:latin typeface="Meiryo UI"/>
              </a:rPr>
              <a:t>WelfareAssist Pro ｜ 基本情報タブ 操作マニュアル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28800"/>
            <a:ext cx="10881360" cy="1371600"/>
          </a:xfrm>
          <a:prstGeom prst="rect">
            <a:avLst/>
          </a:prstGeom>
          <a:solidFill>
            <a:srgbClr val="E2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828800"/>
            <a:ext cx="73152" cy="1371600"/>
          </a:xfrm>
          <a:prstGeom prst="rect">
            <a:avLst/>
          </a:prstGeom>
          <a:solidFill>
            <a:srgbClr val="0E8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011680"/>
            <a:ext cx="10332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600" b="1">
                <a:solidFill>
                  <a:srgbClr val="1C2B27"/>
                </a:solidFill>
                <a:latin typeface="Meiryo UI"/>
              </a:rPr>
              <a:t>このタブは、利用者の「カルテの表紙」のような画面です。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600" b="0">
                <a:solidFill>
                  <a:srgbClr val="1C2B27"/>
                </a:solidFill>
                <a:latin typeface="Meiryo UI"/>
              </a:rPr>
              <a:t>請求・レセプトチェック・売上集計など、アプリのほかの機能はすべて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600" b="0">
                <a:solidFill>
                  <a:srgbClr val="1C2B27"/>
                </a:solidFill>
                <a:latin typeface="Meiryo UI"/>
              </a:rPr>
              <a:t>ここの情報をもとに動きます。正しく入れておくほど、後の作業がラクになります。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56616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E8A78"/>
                </a:solidFill>
                <a:latin typeface="Meiryo UI"/>
              </a:rPr>
              <a:t>この画面で扱う主な情報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40080" y="3977639"/>
          <a:ext cx="10881360" cy="21031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77440"/>
                <a:gridCol w="8503920"/>
              </a:tblGrid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eiryo UI"/>
                        </a:rPr>
                        <a:t>分類</a:t>
                      </a:r>
                    </a:p>
                  </a:txBody>
                  <a:tcPr anchor="ctr" marL="91440" marR="73152" marT="36576" marB="36576">
                    <a:solidFill>
                      <a:srgbClr val="0E8A7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eiryo UI"/>
                        </a:rPr>
                        <a:t>おもな項目</a:t>
                      </a:r>
                    </a:p>
                  </a:txBody>
                  <a:tcPr anchor="ctr" marL="91440" marR="73152" marT="36576" marB="36576">
                    <a:solidFill>
                      <a:srgbClr val="0E8A78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C2B27"/>
                          </a:solidFill>
                          <a:latin typeface="Meiryo UI"/>
                        </a:rPr>
                        <a:t>本人・住まい</a:t>
                      </a:r>
                    </a:p>
                  </a:txBody>
                  <a:tcPr anchor="ctr" marL="91440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C2B27"/>
                          </a:solidFill>
                          <a:latin typeface="Meiryo UI"/>
                        </a:rPr>
                        <a:t>氏名・フリガナ・生年月日・性別・入居施設名・居室番号・在宅区分</a:t>
                      </a:r>
                    </a:p>
                  </a:txBody>
                  <a:tcPr anchor="ctr" marL="91440" marR="73152" marT="36576" marB="36576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C2B27"/>
                          </a:solidFill>
                          <a:latin typeface="Meiryo UI"/>
                        </a:rPr>
                        <a:t>事業・福祉用具</a:t>
                      </a:r>
                    </a:p>
                  </a:txBody>
                  <a:tcPr anchor="ctr" marL="91440" marR="73152" marT="36576" marB="36576">
                    <a:solidFill>
                      <a:srgbClr val="E2F0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C2B27"/>
                          </a:solidFill>
                          <a:latin typeface="Meiryo UI"/>
                        </a:rPr>
                        <a:t>事業所・福祉用具利用者・レセプトチェック対象・請求区分</a:t>
                      </a:r>
                    </a:p>
                  </a:txBody>
                  <a:tcPr anchor="ctr" marL="91440" marR="73152" marT="36576" marB="36576">
                    <a:solidFill>
                      <a:srgbClr val="E2F0EC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C2B27"/>
                          </a:solidFill>
                          <a:latin typeface="Meiryo UI"/>
                        </a:rPr>
                        <a:t>介護保険</a:t>
                      </a:r>
                    </a:p>
                  </a:txBody>
                  <a:tcPr anchor="ctr" marL="91440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C2B27"/>
                          </a:solidFill>
                          <a:latin typeface="Meiryo UI"/>
                        </a:rPr>
                        <a:t>要介護度・負担割合・被保険者証・負担割合証・支払い区分</a:t>
                      </a:r>
                    </a:p>
                  </a:txBody>
                  <a:tcPr anchor="ctr" marL="91440" marR="73152" marT="36576" marB="36576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C2B27"/>
                          </a:solidFill>
                          <a:latin typeface="Meiryo UI"/>
                        </a:rPr>
                        <a:t>関係先・施設</a:t>
                      </a:r>
                    </a:p>
                  </a:txBody>
                  <a:tcPr anchor="ctr" marL="91440" marR="73152" marT="36576" marB="36576">
                    <a:solidFill>
                      <a:srgbClr val="E2F0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C2B27"/>
                          </a:solidFill>
                          <a:latin typeface="Meiryo UI"/>
                        </a:rPr>
                        <a:t>ケアマネ情報・施設契約情報（入退去）・キーパーソン・カイポケ登録</a:t>
                      </a:r>
                    </a:p>
                  </a:txBody>
                  <a:tcPr anchor="ctr" marL="91440" marR="73152" marT="36576" marB="36576">
                    <a:solidFill>
                      <a:srgbClr val="E2F0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E8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8A78"/>
                </a:solidFill>
                <a:latin typeface="Meiryo UI"/>
              </a:rPr>
              <a:t>BASIC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658368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C2B27"/>
                </a:solidFill>
                <a:latin typeface="Meiryo UI"/>
              </a:rPr>
              <a:t>まず、この3ステップだけ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81328"/>
            <a:ext cx="1280160" cy="54864"/>
          </a:xfrm>
          <a:prstGeom prst="rect">
            <a:avLst/>
          </a:prstGeom>
          <a:solidFill>
            <a:srgbClr val="0E8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B6E68"/>
                </a:solidFill>
                <a:latin typeface="Meiryo UI"/>
              </a:rPr>
              <a:t>WelfareAssist Pro ｜ 基本情報タブ 操作マニュアル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920240"/>
            <a:ext cx="34290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057400"/>
            <a:ext cx="10972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400" b="1">
                <a:solidFill>
                  <a:srgbClr val="0E8A78"/>
                </a:solidFill>
                <a:latin typeface="Meiryo U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971800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C2B27"/>
                </a:solidFill>
                <a:latin typeface="Meiryo UI"/>
              </a:rPr>
              <a:t>「編集」を押す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429000"/>
            <a:ext cx="30175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B6E68"/>
                </a:solidFill>
                <a:latin typeface="Meiryo UI"/>
              </a:rPr>
              <a:t>画面右上の「編集」ボタンを押すと、入力できる状態になります。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43400" y="1920240"/>
            <a:ext cx="34290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2057400"/>
            <a:ext cx="10972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400" b="1">
                <a:solidFill>
                  <a:srgbClr val="0E8A78"/>
                </a:solidFill>
                <a:latin typeface="Meiryo U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971800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C2B27"/>
                </a:solidFill>
                <a:latin typeface="Meiryo UI"/>
              </a:rPr>
              <a:t>内容を入力する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3429000"/>
            <a:ext cx="30175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B6E68"/>
                </a:solidFill>
                <a:latin typeface="Meiryo UI"/>
              </a:rPr>
              <a:t>直したい欄を選んで入力・選択します。複数まとめてOK。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46720" y="1920240"/>
            <a:ext cx="34290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20" y="2057400"/>
            <a:ext cx="10972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400" b="1">
                <a:solidFill>
                  <a:srgbClr val="0E8A78"/>
                </a:solidFill>
                <a:latin typeface="Meiryo U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2971800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C2B27"/>
                </a:solidFill>
                <a:latin typeface="Meiryo UI"/>
              </a:rPr>
              <a:t>「保存する」を押す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3429000"/>
            <a:ext cx="30175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B6E68"/>
                </a:solidFill>
                <a:latin typeface="Meiryo UI"/>
              </a:rPr>
              <a:t>右上の「保存する」で確定。これで全員に反映されます。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4434840"/>
            <a:ext cx="10881360" cy="914400"/>
          </a:xfrm>
          <a:prstGeom prst="rect">
            <a:avLst/>
          </a:prstGeom>
          <a:solidFill>
            <a:srgbClr val="E2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4434840"/>
            <a:ext cx="73152" cy="914400"/>
          </a:xfrm>
          <a:prstGeom prst="rect">
            <a:avLst/>
          </a:prstGeom>
          <a:solidFill>
            <a:srgbClr val="0E8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4544568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1">
                <a:solidFill>
                  <a:srgbClr val="0E8A78"/>
                </a:solidFill>
                <a:latin typeface="Meiryo UI"/>
              </a:rPr>
              <a:t>💾 入力中は自動保存もされます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0">
                <a:solidFill>
                  <a:srgbClr val="1C2B27"/>
                </a:solidFill>
                <a:latin typeface="Meiryo UI"/>
              </a:rPr>
              <a:t>欄を変えると約1〜2秒後に「自動保存しました」と表示。最後に「保存する」を押すと確実です。保存内容は毎日の自動更新のあとも残ります。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E8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8A78"/>
                </a:solidFill>
                <a:latin typeface="Meiryo UI"/>
              </a:rPr>
              <a:t>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658368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C2B27"/>
                </a:solidFill>
                <a:latin typeface="Meiryo UI"/>
              </a:rPr>
              <a:t>画面の地図（上から下への並び）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81328"/>
            <a:ext cx="1280160" cy="54864"/>
          </a:xfrm>
          <a:prstGeom prst="rect">
            <a:avLst/>
          </a:prstGeom>
          <a:solidFill>
            <a:srgbClr val="0E8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B6E68"/>
                </a:solidFill>
                <a:latin typeface="Meiryo UI"/>
              </a:rPr>
              <a:t>WelfareAssist Pro ｜ 基本情報タブ 操作マニュアル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691640"/>
            <a:ext cx="384048" cy="384048"/>
          </a:xfrm>
          <a:prstGeom prst="rect">
            <a:avLst/>
          </a:prstGeom>
          <a:solidFill>
            <a:srgbClr val="0E8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673352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eiryo U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1673352"/>
            <a:ext cx="5943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1C2B27"/>
                </a:solidFill>
                <a:latin typeface="Meiryo UI"/>
              </a:rPr>
              <a:t>あおぞらID・事業所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1673352"/>
            <a:ext cx="3657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5B6E68"/>
                </a:solidFill>
                <a:latin typeface="Meiryo UI"/>
              </a:rPr>
              <a:t>利用者番号と担当事業所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1673352"/>
            <a:ext cx="12801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0E8A78"/>
                </a:solidFill>
                <a:latin typeface="Meiryo UI"/>
              </a:rPr>
              <a:t>🕐 履歴あり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148840"/>
            <a:ext cx="384048" cy="384048"/>
          </a:xfrm>
          <a:prstGeom prst="rect">
            <a:avLst/>
          </a:prstGeom>
          <a:solidFill>
            <a:srgbClr val="1C2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130552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eiryo U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2130552"/>
            <a:ext cx="5943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1C2B27"/>
                </a:solidFill>
                <a:latin typeface="Meiryo UI"/>
              </a:rPr>
              <a:t>氏名・フリガナ・生年月日・性別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0" y="2130552"/>
            <a:ext cx="3657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5B6E68"/>
                </a:solidFill>
                <a:latin typeface="Meiryo UI"/>
              </a:rPr>
              <a:t>本人のプロフィール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2606040"/>
            <a:ext cx="384048" cy="384048"/>
          </a:xfrm>
          <a:prstGeom prst="rect">
            <a:avLst/>
          </a:prstGeom>
          <a:solidFill>
            <a:srgbClr val="0E8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587752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eiryo U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2587752"/>
            <a:ext cx="5943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1C2B27"/>
                </a:solidFill>
                <a:latin typeface="Meiryo UI"/>
              </a:rPr>
              <a:t>施設契約情報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0" y="2587752"/>
            <a:ext cx="3657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5B6E68"/>
                </a:solidFill>
                <a:latin typeface="Meiryo UI"/>
              </a:rPr>
              <a:t>施設への入居・退去（Kintone自動連携）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3063240"/>
            <a:ext cx="384048" cy="384048"/>
          </a:xfrm>
          <a:prstGeom prst="rect">
            <a:avLst/>
          </a:prstGeom>
          <a:solidFill>
            <a:srgbClr val="1C2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044952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eiryo U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" y="3044952"/>
            <a:ext cx="5943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1C2B27"/>
                </a:solidFill>
                <a:latin typeface="Meiryo UI"/>
              </a:rPr>
              <a:t>入居施設名・居室番号・在宅区分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0" y="3044952"/>
            <a:ext cx="3657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5B6E68"/>
                </a:solidFill>
                <a:latin typeface="Meiryo UI"/>
              </a:rPr>
              <a:t>住まいの区分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3044952"/>
            <a:ext cx="12801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0E8A78"/>
                </a:solidFill>
                <a:latin typeface="Meiryo UI"/>
              </a:rPr>
              <a:t>🕐 履歴あり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3520440"/>
            <a:ext cx="384048" cy="38404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3502152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eiryo UI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" y="3502152"/>
            <a:ext cx="5943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1C2B27"/>
                </a:solidFill>
                <a:latin typeface="Meiryo UI"/>
              </a:rPr>
              <a:t>福祉用具利用者／レセプト対象／請求区分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49440" y="3502152"/>
            <a:ext cx="3657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5B6E68"/>
                </a:solidFill>
                <a:latin typeface="Meiryo UI"/>
              </a:rPr>
              <a:t>福祉用具・請求にかかわる設定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0" y="3502152"/>
            <a:ext cx="12801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0E8A78"/>
                </a:solidFill>
                <a:latin typeface="Meiryo UI"/>
              </a:rPr>
              <a:t>🕐 履歴あり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3977639"/>
            <a:ext cx="384048" cy="38404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3959352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eiryo UI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3000" y="3959352"/>
            <a:ext cx="5943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1C2B27"/>
                </a:solidFill>
                <a:latin typeface="Meiryo UI"/>
              </a:rPr>
              <a:t>ケアマネージャー情報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49440" y="3959352"/>
            <a:ext cx="3657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5B6E68"/>
                </a:solidFill>
                <a:latin typeface="Meiryo UI"/>
              </a:rPr>
              <a:t>居宅介護支援事業所・担当CM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15600" y="3959352"/>
            <a:ext cx="12801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0E8A78"/>
                </a:solidFill>
                <a:latin typeface="Meiryo UI"/>
              </a:rPr>
              <a:t>🕐 履歴あり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" y="4434840"/>
            <a:ext cx="384048" cy="384048"/>
          </a:xfrm>
          <a:prstGeom prst="rect">
            <a:avLst/>
          </a:prstGeom>
          <a:solidFill>
            <a:srgbClr val="0E8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" y="4416552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eiryo UI"/>
              </a:rPr>
              <a:t>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3000" y="4416552"/>
            <a:ext cx="5943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1C2B27"/>
                </a:solidFill>
                <a:latin typeface="Meiryo UI"/>
              </a:rPr>
              <a:t>介護保険情報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49440" y="4416552"/>
            <a:ext cx="3657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5B6E68"/>
                </a:solidFill>
                <a:latin typeface="Meiryo UI"/>
              </a:rPr>
              <a:t>要介護度・負担割合・各種証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0" y="4416552"/>
            <a:ext cx="12801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0E8A78"/>
                </a:solidFill>
                <a:latin typeface="Meiryo UI"/>
              </a:rPr>
              <a:t>🕐 履歴あり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080" y="4892040"/>
            <a:ext cx="384048" cy="384048"/>
          </a:xfrm>
          <a:prstGeom prst="rect">
            <a:avLst/>
          </a:prstGeom>
          <a:solidFill>
            <a:srgbClr val="1C2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" y="4873752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eiryo UI"/>
              </a:rPr>
              <a:t>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43000" y="4873752"/>
            <a:ext cx="5943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1C2B27"/>
                </a:solidFill>
                <a:latin typeface="Meiryo UI"/>
              </a:rPr>
              <a:t>支払い区分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49440" y="4873752"/>
            <a:ext cx="3657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5B6E68"/>
                </a:solidFill>
                <a:latin typeface="Meiryo UI"/>
              </a:rPr>
              <a:t>生保・非生保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15600" y="4873752"/>
            <a:ext cx="12801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0E8A78"/>
                </a:solidFill>
                <a:latin typeface="Meiryo UI"/>
              </a:rPr>
              <a:t>🕐 履歴あり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0080" y="5349240"/>
            <a:ext cx="384048" cy="384048"/>
          </a:xfrm>
          <a:prstGeom prst="rect">
            <a:avLst/>
          </a:prstGeom>
          <a:solidFill>
            <a:srgbClr val="1C2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0080" y="5330952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eiryo UI"/>
              </a:rPr>
              <a:t>9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43000" y="5330952"/>
            <a:ext cx="5943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1C2B27"/>
                </a:solidFill>
                <a:latin typeface="Meiryo UI"/>
              </a:rPr>
              <a:t>キーパーソン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949440" y="5330952"/>
            <a:ext cx="3657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5B6E68"/>
                </a:solidFill>
                <a:latin typeface="Meiryo UI"/>
              </a:rPr>
              <a:t>ご家族など連絡先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40080" y="5806440"/>
            <a:ext cx="384048" cy="384048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0080" y="5788152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eiryo UI"/>
              </a:rPr>
              <a:t>10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43000" y="5788152"/>
            <a:ext cx="5943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1C2B27"/>
                </a:solidFill>
                <a:latin typeface="Meiryo UI"/>
              </a:rPr>
              <a:t>カイポケ登録（基本情報）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949440" y="5788152"/>
            <a:ext cx="3657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5B6E68"/>
                </a:solidFill>
                <a:latin typeface="Meiryo UI"/>
              </a:rPr>
              <a:t>カイポケへの登録状況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43000" y="6309359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B6E68"/>
                </a:solidFill>
                <a:latin typeface="Meiryo UI"/>
              </a:rPr>
              <a:t>※「🕐」がある項目は、いつから変わったかの履歴を残せます（最後の章参照）。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E8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8A78"/>
                </a:solidFill>
                <a:latin typeface="Meiryo UI"/>
              </a:rPr>
              <a:t>FIELDS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658368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C2B27"/>
                </a:solidFill>
                <a:latin typeface="Meiryo UI"/>
              </a:rPr>
              <a:t>項目くわしく ①②　基本プロフィール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81328"/>
            <a:ext cx="1280160" cy="54864"/>
          </a:xfrm>
          <a:prstGeom prst="rect">
            <a:avLst/>
          </a:prstGeom>
          <a:solidFill>
            <a:srgbClr val="0E8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B6E68"/>
                </a:solidFill>
                <a:latin typeface="Meiryo UI"/>
              </a:rPr>
              <a:t>WelfareAssist Pro ｜ 基本情報タブ 操作マニュアル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9164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E8A78"/>
                </a:solidFill>
                <a:latin typeface="Meiryo UI"/>
              </a:rPr>
              <a:t>① あおぞらID・事業所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2103120"/>
          <a:ext cx="10881360" cy="1188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94560"/>
                <a:gridCol w="5486400"/>
                <a:gridCol w="3200400"/>
              </a:tblGrid>
              <a:tr h="39624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eiryo UI"/>
                        </a:rPr>
                        <a:t>項目</a:t>
                      </a:r>
                    </a:p>
                  </a:txBody>
                  <a:tcPr anchor="ctr" marL="91440" marR="73152" marT="36576" marB="36576">
                    <a:solidFill>
                      <a:srgbClr val="0E8A7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eiryo UI"/>
                        </a:rPr>
                        <a:t>入れる内容</a:t>
                      </a:r>
                    </a:p>
                  </a:txBody>
                  <a:tcPr anchor="ctr" marL="91440" marR="73152" marT="36576" marB="36576">
                    <a:solidFill>
                      <a:srgbClr val="0E8A7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eiryo UI"/>
                        </a:rPr>
                        <a:t>選べる値／形式</a:t>
                      </a:r>
                    </a:p>
                  </a:txBody>
                  <a:tcPr anchor="ctr" marL="91440" marR="73152" marT="36576" marB="36576">
                    <a:solidFill>
                      <a:srgbClr val="0E8A78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C2B27"/>
                          </a:solidFill>
                          <a:latin typeface="Meiryo UI"/>
                        </a:rPr>
                        <a:t>あおぞらID</a:t>
                      </a:r>
                    </a:p>
                  </a:txBody>
                  <a:tcPr anchor="ctr" marL="91440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C2B27"/>
                          </a:solidFill>
                          <a:latin typeface="Meiryo UI"/>
                        </a:rPr>
                        <a:t>利用者を見分ける番号。基本は変更しません</a:t>
                      </a:r>
                    </a:p>
                  </a:txBody>
                  <a:tcPr anchor="ctr" marL="91440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C2B27"/>
                          </a:solidFill>
                          <a:latin typeface="Meiryo UI"/>
                        </a:rPr>
                        <a:t>AZ-0001 などの形式</a:t>
                      </a:r>
                    </a:p>
                  </a:txBody>
                  <a:tcPr anchor="ctr" marL="91440" marR="73152" marT="36576" marB="36576"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C2B27"/>
                          </a:solidFill>
                          <a:latin typeface="Meiryo UI"/>
                        </a:rPr>
                        <a:t>事業所 🕐</a:t>
                      </a:r>
                    </a:p>
                  </a:txBody>
                  <a:tcPr anchor="ctr" marL="91440" marR="73152" marT="36576" marB="36576">
                    <a:solidFill>
                      <a:srgbClr val="E2F0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C2B27"/>
                          </a:solidFill>
                          <a:latin typeface="Meiryo UI"/>
                        </a:rPr>
                        <a:t>担当事業所。売上・請求はこの事業所で集計</a:t>
                      </a:r>
                    </a:p>
                  </a:txBody>
                  <a:tcPr anchor="ctr" marL="91440" marR="73152" marT="36576" marB="36576">
                    <a:solidFill>
                      <a:srgbClr val="E2F0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C2B27"/>
                          </a:solidFill>
                          <a:latin typeface="Meiryo UI"/>
                        </a:rPr>
                        <a:t>鹿児島（ACG）／福岡（Lichi）</a:t>
                      </a:r>
                    </a:p>
                  </a:txBody>
                  <a:tcPr anchor="ctr" marL="91440" marR="73152" marT="36576" marB="36576">
                    <a:solidFill>
                      <a:srgbClr val="E2F0EC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40080" y="361188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E8A78"/>
                </a:solidFill>
                <a:latin typeface="Meiryo UI"/>
              </a:rPr>
              <a:t>② 氏名・フリガナ・生年月日・性別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40080" y="4023360"/>
          <a:ext cx="10881360" cy="1920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94560"/>
                <a:gridCol w="5486400"/>
                <a:gridCol w="3200400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eiryo UI"/>
                        </a:rPr>
                        <a:t>項目</a:t>
                      </a:r>
                    </a:p>
                  </a:txBody>
                  <a:tcPr anchor="ctr" marL="91440" marR="73152" marT="36576" marB="36576">
                    <a:solidFill>
                      <a:srgbClr val="0E8A7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eiryo UI"/>
                        </a:rPr>
                        <a:t>入れる内容</a:t>
                      </a:r>
                    </a:p>
                  </a:txBody>
                  <a:tcPr anchor="ctr" marL="91440" marR="73152" marT="36576" marB="36576">
                    <a:solidFill>
                      <a:srgbClr val="0E8A7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eiryo UI"/>
                        </a:rPr>
                        <a:t>選べる値／形式</a:t>
                      </a:r>
                    </a:p>
                  </a:txBody>
                  <a:tcPr anchor="ctr" marL="91440" marR="73152" marT="36576" marB="36576">
                    <a:solidFill>
                      <a:srgbClr val="0E8A78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C2B27"/>
                          </a:solidFill>
                          <a:latin typeface="Meiryo UI"/>
                        </a:rPr>
                        <a:t>氏名</a:t>
                      </a:r>
                    </a:p>
                  </a:txBody>
                  <a:tcPr anchor="ctr" marL="91440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C2B27"/>
                          </a:solidFill>
                          <a:latin typeface="Meiryo UI"/>
                        </a:rPr>
                        <a:t>利用者のお名前</a:t>
                      </a:r>
                    </a:p>
                  </a:txBody>
                  <a:tcPr anchor="ctr" marL="91440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C2B27"/>
                          </a:solidFill>
                          <a:latin typeface="Meiryo UI"/>
                        </a:rPr>
                        <a:t>文字入力</a:t>
                      </a:r>
                    </a:p>
                  </a:txBody>
                  <a:tcPr anchor="ctr" marL="91440" marR="73152" marT="36576" marB="36576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C2B27"/>
                          </a:solidFill>
                          <a:latin typeface="Meiryo UI"/>
                        </a:rPr>
                        <a:t>フリガナ</a:t>
                      </a:r>
                    </a:p>
                  </a:txBody>
                  <a:tcPr anchor="ctr" marL="91440" marR="73152" marT="36576" marB="36576">
                    <a:solidFill>
                      <a:srgbClr val="E2F0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C2B27"/>
                          </a:solidFill>
                          <a:latin typeface="Meiryo UI"/>
                        </a:rPr>
                        <a:t>検索・あいうえお順の並び替えに使用</a:t>
                      </a:r>
                    </a:p>
                  </a:txBody>
                  <a:tcPr anchor="ctr" marL="91440" marR="73152" marT="36576" marB="36576">
                    <a:solidFill>
                      <a:srgbClr val="E2F0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C2B27"/>
                          </a:solidFill>
                          <a:latin typeface="Meiryo UI"/>
                        </a:rPr>
                        <a:t>カナ入力</a:t>
                      </a:r>
                    </a:p>
                  </a:txBody>
                  <a:tcPr anchor="ctr" marL="91440" marR="73152" marT="36576" marB="36576">
                    <a:solidFill>
                      <a:srgbClr val="E2F0E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C2B27"/>
                          </a:solidFill>
                          <a:latin typeface="Meiryo UI"/>
                        </a:rPr>
                        <a:t>生年月日</a:t>
                      </a:r>
                    </a:p>
                  </a:txBody>
                  <a:tcPr anchor="ctr" marL="91440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C2B27"/>
                          </a:solidFill>
                          <a:latin typeface="Meiryo UI"/>
                        </a:rPr>
                        <a:t>カレンダーから選択</a:t>
                      </a:r>
                    </a:p>
                  </a:txBody>
                  <a:tcPr anchor="ctr" marL="91440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C2B27"/>
                          </a:solidFill>
                          <a:latin typeface="Meiryo UI"/>
                        </a:rPr>
                        <a:t>日付</a:t>
                      </a:r>
                    </a:p>
                  </a:txBody>
                  <a:tcPr anchor="ctr" marL="91440" marR="73152" marT="36576" marB="36576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C2B27"/>
                          </a:solidFill>
                          <a:latin typeface="Meiryo UI"/>
                        </a:rPr>
                        <a:t>性別</a:t>
                      </a:r>
                    </a:p>
                  </a:txBody>
                  <a:tcPr anchor="ctr" marL="91440" marR="73152" marT="36576" marB="36576">
                    <a:solidFill>
                      <a:srgbClr val="E2F0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C2B27"/>
                          </a:solidFill>
                          <a:latin typeface="Meiryo UI"/>
                        </a:rPr>
                        <a:t>選択</a:t>
                      </a:r>
                    </a:p>
                  </a:txBody>
                  <a:tcPr anchor="ctr" marL="91440" marR="73152" marT="36576" marB="36576">
                    <a:solidFill>
                      <a:srgbClr val="E2F0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C2B27"/>
                          </a:solidFill>
                          <a:latin typeface="Meiryo UI"/>
                        </a:rPr>
                        <a:t>男性／女性</a:t>
                      </a:r>
                    </a:p>
                  </a:txBody>
                  <a:tcPr anchor="ctr" marL="91440" marR="73152" marT="36576" marB="36576">
                    <a:solidFill>
                      <a:srgbClr val="E2F0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E8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8A78"/>
                </a:solidFill>
                <a:latin typeface="Meiryo UI"/>
              </a:rPr>
              <a:t>FIELDS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658368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C2B27"/>
                </a:solidFill>
                <a:latin typeface="Meiryo UI"/>
              </a:rPr>
              <a:t>項目くわしく ③　施設契約情報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81328"/>
            <a:ext cx="1280160" cy="54864"/>
          </a:xfrm>
          <a:prstGeom prst="rect">
            <a:avLst/>
          </a:prstGeom>
          <a:solidFill>
            <a:srgbClr val="0E8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B6E68"/>
                </a:solidFill>
                <a:latin typeface="Meiryo UI"/>
              </a:rPr>
              <a:t>WelfareAssist Pro ｜ 基本情報タブ 操作マニュアル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9164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>
                <a:solidFill>
                  <a:srgbClr val="1C2B27"/>
                </a:solidFill>
                <a:latin typeface="Meiryo UI"/>
              </a:rPr>
              <a:t>施設への「入居」「退去」の記録です。Kintone から自動で入ってくる情報で、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>
                <a:solidFill>
                  <a:srgbClr val="1C2B27"/>
                </a:solidFill>
                <a:latin typeface="Meiryo UI"/>
              </a:rPr>
              <a:t>入居と退去がペアで表示されます。施設に入っている利用者だけ表示されます。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2514600"/>
          <a:ext cx="10881360" cy="1554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77440"/>
                <a:gridCol w="8503920"/>
              </a:tblGrid>
              <a:tr h="38862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eiryo UI"/>
                        </a:rPr>
                        <a:t>表示</a:t>
                      </a:r>
                    </a:p>
                  </a:txBody>
                  <a:tcPr anchor="ctr" marL="91440" marR="73152" marT="36576" marB="36576">
                    <a:solidFill>
                      <a:srgbClr val="0E8A7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eiryo UI"/>
                        </a:rPr>
                        <a:t>意味</a:t>
                      </a:r>
                    </a:p>
                  </a:txBody>
                  <a:tcPr anchor="ctr" marL="91440" marR="73152" marT="36576" marB="36576">
                    <a:solidFill>
                      <a:srgbClr val="0E8A78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C2B27"/>
                          </a:solidFill>
                          <a:latin typeface="Meiryo UI"/>
                        </a:rPr>
                        <a:t>入居日</a:t>
                      </a:r>
                    </a:p>
                  </a:txBody>
                  <a:tcPr anchor="ctr" marL="91440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C2B27"/>
                          </a:solidFill>
                          <a:latin typeface="Meiryo UI"/>
                        </a:rPr>
                        <a:t>施設に入った日（自動連携）</a:t>
                      </a:r>
                    </a:p>
                  </a:txBody>
                  <a:tcPr anchor="ctr" marL="91440" marR="73152" marT="36576" marB="36576"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C2B27"/>
                          </a:solidFill>
                          <a:latin typeface="Meiryo UI"/>
                        </a:rPr>
                        <a:t>退去日</a:t>
                      </a:r>
                    </a:p>
                  </a:txBody>
                  <a:tcPr anchor="ctr" marL="91440" marR="73152" marT="36576" marB="36576">
                    <a:solidFill>
                      <a:srgbClr val="E2F0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C2B27"/>
                          </a:solidFill>
                          <a:latin typeface="Meiryo UI"/>
                        </a:rPr>
                        <a:t>施設を出た日。入居中なら「退去情報なし（入居中）」と表示</a:t>
                      </a:r>
                    </a:p>
                  </a:txBody>
                  <a:tcPr anchor="ctr" marL="91440" marR="73152" marT="36576" marB="36576">
                    <a:solidFill>
                      <a:srgbClr val="E2F0EC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C2B27"/>
                          </a:solidFill>
                          <a:latin typeface="Meiryo UI"/>
                        </a:rPr>
                        <a:t>記録者・特記</a:t>
                      </a:r>
                    </a:p>
                  </a:txBody>
                  <a:tcPr anchor="ctr" marL="91440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C2B27"/>
                          </a:solidFill>
                          <a:latin typeface="Meiryo UI"/>
                        </a:rPr>
                        <a:t>連携元の記録者名と補足メモ</a:t>
                      </a:r>
                    </a:p>
                  </a:txBody>
                  <a:tcPr anchor="ctr" marL="91440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640080" y="4297680"/>
            <a:ext cx="10881360" cy="1737360"/>
          </a:xfrm>
          <a:prstGeom prst="rect">
            <a:avLst/>
          </a:prstGeom>
          <a:solidFill>
            <a:srgbClr val="FBE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4297680"/>
            <a:ext cx="73152" cy="1737360"/>
          </a:xfrm>
          <a:prstGeom prst="rect">
            <a:avLst/>
          </a:prstGeom>
          <a:solidFill>
            <a:srgbClr val="E27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4407408"/>
            <a:ext cx="10515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1">
                <a:solidFill>
                  <a:srgbClr val="E2714A"/>
                </a:solidFill>
                <a:latin typeface="Meiryo UI"/>
              </a:rPr>
              <a:t>⚠️ ここはレンタル契約とは別物です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0">
                <a:solidFill>
                  <a:srgbClr val="1C2B27"/>
                </a:solidFill>
                <a:latin typeface="Meiryo UI"/>
              </a:rPr>
              <a:t>福祉用具レンタルの「新規・解約」は、別タブ（利用者新規・変更情報入力）の「レンタル契約情報」にあります。混同にご注意ください。
Kintone由来のため、この欄を手で書き換えても翌日の自動連携で元に戻ります。直したいときは Kintone 側を修正してください。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6A34A"/>
                </a:solidFill>
                <a:latin typeface="Meiryo UI"/>
              </a:rPr>
              <a:t>FIELDS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658368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C2B27"/>
                </a:solidFill>
                <a:latin typeface="Meiryo UI"/>
              </a:rPr>
              <a:t>項目くわしく ④⑤　住まい・福祉用具・請求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81328"/>
            <a:ext cx="1280160" cy="54864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B6E68"/>
                </a:solidFill>
                <a:latin typeface="Meiryo UI"/>
              </a:rPr>
              <a:t>WelfareAssist Pro ｜ 基本情報タブ 操作マニュアル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45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6A34A"/>
                </a:solidFill>
                <a:latin typeface="Meiryo UI"/>
              </a:rPr>
              <a:t>④ 入居施設名・居室番号・在宅区分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2011680"/>
          <a:ext cx="10881360" cy="1371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68880"/>
                <a:gridCol w="5303520"/>
                <a:gridCol w="3108960"/>
              </a:tblGrid>
              <a:tr h="34290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eiryo UI"/>
                        </a:rPr>
                        <a:t>項目</a:t>
                      </a:r>
                    </a:p>
                  </a:txBody>
                  <a:tcPr anchor="ctr" marL="91440" marR="73152" marT="36576" marB="36576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eiryo UI"/>
                        </a:rPr>
                        <a:t>入れる内容</a:t>
                      </a:r>
                    </a:p>
                  </a:txBody>
                  <a:tcPr anchor="ctr" marL="91440" marR="73152" marT="36576" marB="36576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eiryo UI"/>
                        </a:rPr>
                        <a:t>選べる値</a:t>
                      </a:r>
                    </a:p>
                  </a:txBody>
                  <a:tcPr anchor="ctr" marL="91440" marR="73152" marT="36576" marB="36576">
                    <a:solidFill>
                      <a:srgbClr val="16A34A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C2B27"/>
                          </a:solidFill>
                          <a:latin typeface="Meiryo UI"/>
                        </a:rPr>
                        <a:t>入居施設名 🕐</a:t>
                      </a:r>
                    </a:p>
                  </a:txBody>
                  <a:tcPr anchor="ctr" marL="91440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C2B27"/>
                          </a:solidFill>
                          <a:latin typeface="Meiryo UI"/>
                        </a:rPr>
                        <a:t>入居先の施設名（在宅は空欄でOK）</a:t>
                      </a:r>
                    </a:p>
                  </a:txBody>
                  <a:tcPr anchor="ctr" marL="91440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C2B27"/>
                          </a:solidFill>
                          <a:latin typeface="Meiryo UI"/>
                        </a:rPr>
                        <a:t>文字入力</a:t>
                      </a:r>
                    </a:p>
                  </a:txBody>
                  <a:tcPr anchor="ctr" marL="91440" marR="73152" marT="36576" marB="36576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C2B27"/>
                          </a:solidFill>
                          <a:latin typeface="Meiryo UI"/>
                        </a:rPr>
                        <a:t>居室番号 🕐</a:t>
                      </a:r>
                    </a:p>
                  </a:txBody>
                  <a:tcPr anchor="ctr" marL="91440" marR="73152" marT="36576" marB="36576">
                    <a:solidFill>
                      <a:srgbClr val="E2F0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C2B27"/>
                          </a:solidFill>
                          <a:latin typeface="Meiryo UI"/>
                        </a:rPr>
                        <a:t>施設の部屋番号</a:t>
                      </a:r>
                    </a:p>
                  </a:txBody>
                  <a:tcPr anchor="ctr" marL="91440" marR="73152" marT="36576" marB="36576">
                    <a:solidFill>
                      <a:srgbClr val="E2F0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C2B27"/>
                          </a:solidFill>
                          <a:latin typeface="Meiryo UI"/>
                        </a:rPr>
                        <a:t>例：101</a:t>
                      </a:r>
                    </a:p>
                  </a:txBody>
                  <a:tcPr anchor="ctr" marL="91440" marR="73152" marT="36576" marB="36576">
                    <a:solidFill>
                      <a:srgbClr val="E2F0EC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C2B27"/>
                          </a:solidFill>
                          <a:latin typeface="Meiryo UI"/>
                        </a:rPr>
                        <a:t>在宅区分 🕐</a:t>
                      </a:r>
                    </a:p>
                  </a:txBody>
                  <a:tcPr anchor="ctr" marL="91440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C2B27"/>
                          </a:solidFill>
                          <a:latin typeface="Meiryo UI"/>
                        </a:rPr>
                        <a:t>住まいの種類</a:t>
                      </a:r>
                    </a:p>
                  </a:txBody>
                  <a:tcPr anchor="ctr" marL="91440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C2B27"/>
                          </a:solidFill>
                          <a:latin typeface="Meiryo UI"/>
                        </a:rPr>
                        <a:t>ー／自宅／外部施設／その他</a:t>
                      </a:r>
                    </a:p>
                  </a:txBody>
                  <a:tcPr anchor="ctr" marL="91440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40080" y="36118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6A34A"/>
                </a:solidFill>
                <a:latin typeface="Meiryo UI"/>
              </a:rPr>
              <a:t>⑤ 福祉用具利用者・レセプトチェック対象・請求区分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40080" y="3977639"/>
          <a:ext cx="10881360" cy="1828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68880"/>
                <a:gridCol w="5303520"/>
                <a:gridCol w="310896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eiryo UI"/>
                        </a:rPr>
                        <a:t>項目</a:t>
                      </a:r>
                    </a:p>
                  </a:txBody>
                  <a:tcPr anchor="ctr" marL="91440" marR="73152" marT="36576" marB="36576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eiryo UI"/>
                        </a:rPr>
                        <a:t>入れる内容</a:t>
                      </a:r>
                    </a:p>
                  </a:txBody>
                  <a:tcPr anchor="ctr" marL="91440" marR="73152" marT="36576" marB="36576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eiryo UI"/>
                        </a:rPr>
                        <a:t>選べる値</a:t>
                      </a:r>
                    </a:p>
                  </a:txBody>
                  <a:tcPr anchor="ctr" marL="91440" marR="73152" marT="36576" marB="36576">
                    <a:solidFill>
                      <a:srgbClr val="16A34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C2B27"/>
                          </a:solidFill>
                          <a:latin typeface="Meiryo UI"/>
                        </a:rPr>
                        <a:t>福祉用具利用者 🕐</a:t>
                      </a:r>
                    </a:p>
                  </a:txBody>
                  <a:tcPr anchor="ctr" marL="91440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C2B27"/>
                          </a:solidFill>
                          <a:latin typeface="Meiryo UI"/>
                        </a:rPr>
                        <a:t>福祉用具を使う方はチェック（介護保険・自費・販売すべて含む）</a:t>
                      </a:r>
                    </a:p>
                  </a:txBody>
                  <a:tcPr anchor="ctr" marL="91440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C2B27"/>
                          </a:solidFill>
                          <a:latin typeface="Meiryo UI"/>
                        </a:rPr>
                        <a:t>チェック ✓</a:t>
                      </a:r>
                    </a:p>
                  </a:txBody>
                  <a:tcPr anchor="ctr" marL="91440" marR="73152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C2B27"/>
                          </a:solidFill>
                          <a:latin typeface="Meiryo UI"/>
                        </a:rPr>
                        <a:t>レセプトチェック対象 🕐</a:t>
                      </a:r>
                    </a:p>
                  </a:txBody>
                  <a:tcPr anchor="ctr" marL="91440" marR="73152" marT="36576" marB="36576">
                    <a:solidFill>
                      <a:srgbClr val="E2F0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C2B27"/>
                          </a:solidFill>
                          <a:latin typeface="Meiryo UI"/>
                        </a:rPr>
                        <a:t>ふだんは未設定（自動判定）でOK</a:t>
                      </a:r>
                    </a:p>
                  </a:txBody>
                  <a:tcPr anchor="ctr" marL="91440" marR="73152" marT="36576" marB="36576">
                    <a:solidFill>
                      <a:srgbClr val="E2F0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C2B27"/>
                          </a:solidFill>
                          <a:latin typeface="Meiryo UI"/>
                        </a:rPr>
                        <a:t>✓オン=強制追加／□オフ=強制除外／未設定=自動</a:t>
                      </a:r>
                    </a:p>
                  </a:txBody>
                  <a:tcPr anchor="ctr" marL="91440" marR="73152" marT="36576" marB="36576">
                    <a:solidFill>
                      <a:srgbClr val="E2F0EC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C2B27"/>
                          </a:solidFill>
                          <a:latin typeface="Meiryo UI"/>
                        </a:rPr>
                        <a:t>請求区分 🕐</a:t>
                      </a:r>
                    </a:p>
                  </a:txBody>
                  <a:tcPr anchor="ctr" marL="91440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C2B27"/>
                          </a:solidFill>
                          <a:latin typeface="Meiryo UI"/>
                        </a:rPr>
                        <a:t>請求の種類を選択</a:t>
                      </a:r>
                    </a:p>
                  </a:txBody>
                  <a:tcPr anchor="ctr" marL="91440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C2B27"/>
                          </a:solidFill>
                          <a:latin typeface="Meiryo UI"/>
                        </a:rPr>
                        <a:t>ー／自費レンタル／介護保険レンタル／併用</a:t>
                      </a:r>
                    </a:p>
                  </a:txBody>
                  <a:tcPr anchor="ctr" marL="91440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563EB"/>
                </a:solidFill>
                <a:latin typeface="Meiryo UI"/>
              </a:rPr>
              <a:t>FIELDS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658368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C2B27"/>
                </a:solidFill>
                <a:latin typeface="Meiryo UI"/>
              </a:rPr>
              <a:t>項目くわしく ⑥⑦　ケアマネ・介護保険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81328"/>
            <a:ext cx="1280160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B6E68"/>
                </a:solidFill>
                <a:latin typeface="Meiryo UI"/>
              </a:rPr>
              <a:t>WelfareAssist Pro ｜ 基本情報タブ 操作マニュアル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45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563EB"/>
                </a:solidFill>
                <a:latin typeface="Meiryo UI"/>
              </a:rPr>
              <a:t>⑥ ケアマネージャー情報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2011680"/>
          <a:ext cx="10881360" cy="10972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91840"/>
                <a:gridCol w="7589520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eiryo UI"/>
                        </a:rPr>
                        <a:t>項目</a:t>
                      </a:r>
                    </a:p>
                  </a:txBody>
                  <a:tcPr anchor="ctr" marL="91440" marR="73152" marT="36576" marB="36576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eiryo UI"/>
                        </a:rPr>
                        <a:t>入れる内容</a:t>
                      </a:r>
                    </a:p>
                  </a:txBody>
                  <a:tcPr anchor="ctr" marL="91440" marR="73152" marT="36576" marB="36576">
                    <a:solidFill>
                      <a:srgbClr val="2563E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C2B27"/>
                          </a:solidFill>
                          <a:latin typeface="Meiryo UI"/>
                        </a:rPr>
                        <a:t>居宅介護支援事業所 🕐</a:t>
                      </a:r>
                    </a:p>
                  </a:txBody>
                  <a:tcPr anchor="ctr" marL="91440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C2B27"/>
                          </a:solidFill>
                          <a:latin typeface="Meiryo UI"/>
                        </a:rPr>
                        <a:t>担当ケアマネの所属事業所名</a:t>
                      </a:r>
                    </a:p>
                  </a:txBody>
                  <a:tcPr anchor="ctr" marL="91440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C2B27"/>
                          </a:solidFill>
                          <a:latin typeface="Meiryo UI"/>
                        </a:rPr>
                        <a:t>担当CM 🕐</a:t>
                      </a:r>
                    </a:p>
                  </a:txBody>
                  <a:tcPr anchor="ctr" marL="91440" marR="73152" marT="36576" marB="36576">
                    <a:solidFill>
                      <a:srgbClr val="E2F0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C2B27"/>
                          </a:solidFill>
                          <a:latin typeface="Meiryo UI"/>
                        </a:rPr>
                        <a:t>担当ケアマネジャーのお名前</a:t>
                      </a:r>
                    </a:p>
                  </a:txBody>
                  <a:tcPr anchor="ctr" marL="91440" marR="73152" marT="36576" marB="36576">
                    <a:solidFill>
                      <a:srgbClr val="E2F0EC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40080" y="329184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E8A78"/>
                </a:solidFill>
                <a:latin typeface="Meiryo UI"/>
              </a:rPr>
              <a:t>⑦ 介護保険情報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40080" y="3657600"/>
          <a:ext cx="10881360" cy="1828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43200"/>
                <a:gridCol w="4206240"/>
                <a:gridCol w="3931920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eiryo UI"/>
                        </a:rPr>
                        <a:t>項目</a:t>
                      </a:r>
                    </a:p>
                  </a:txBody>
                  <a:tcPr anchor="ctr" marL="91440" marR="73152" marT="36576" marB="36576">
                    <a:solidFill>
                      <a:srgbClr val="0E8A7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eiryo UI"/>
                        </a:rPr>
                        <a:t>入れる内容</a:t>
                      </a:r>
                    </a:p>
                  </a:txBody>
                  <a:tcPr anchor="ctr" marL="91440" marR="73152" marT="36576" marB="36576">
                    <a:solidFill>
                      <a:srgbClr val="0E8A7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eiryo UI"/>
                        </a:rPr>
                        <a:t>選べる値</a:t>
                      </a:r>
                    </a:p>
                  </a:txBody>
                  <a:tcPr anchor="ctr" marL="91440" marR="73152" marT="36576" marB="36576">
                    <a:solidFill>
                      <a:srgbClr val="0E8A78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C2B27"/>
                          </a:solidFill>
                          <a:latin typeface="Meiryo UI"/>
                        </a:rPr>
                        <a:t>要介護度 🕐</a:t>
                      </a:r>
                    </a:p>
                  </a:txBody>
                  <a:tcPr anchor="ctr" marL="91440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C2B27"/>
                          </a:solidFill>
                          <a:latin typeface="Meiryo UI"/>
                        </a:rPr>
                        <a:t>認定区分</a:t>
                      </a:r>
                    </a:p>
                  </a:txBody>
                  <a:tcPr anchor="ctr" marL="91440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C2B27"/>
                          </a:solidFill>
                          <a:latin typeface="Meiryo UI"/>
                        </a:rPr>
                        <a:t>ー／申請中／要支援1・2／要介護1〜5</a:t>
                      </a:r>
                    </a:p>
                  </a:txBody>
                  <a:tcPr anchor="ctr" marL="91440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C2B27"/>
                          </a:solidFill>
                          <a:latin typeface="Meiryo UI"/>
                        </a:rPr>
                        <a:t>負担割合 🕐</a:t>
                      </a:r>
                    </a:p>
                  </a:txBody>
                  <a:tcPr anchor="ctr" marL="91440" marR="73152" marT="36576" marB="36576">
                    <a:solidFill>
                      <a:srgbClr val="E2F0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C2B27"/>
                          </a:solidFill>
                          <a:latin typeface="Meiryo UI"/>
                        </a:rPr>
                        <a:t>利用者の自己負担割合</a:t>
                      </a:r>
                    </a:p>
                  </a:txBody>
                  <a:tcPr anchor="ctr" marL="91440" marR="73152" marT="36576" marB="36576">
                    <a:solidFill>
                      <a:srgbClr val="E2F0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C2B27"/>
                          </a:solidFill>
                          <a:latin typeface="Meiryo UI"/>
                        </a:rPr>
                        <a:t>ー／1割／2割／3割</a:t>
                      </a:r>
                    </a:p>
                  </a:txBody>
                  <a:tcPr anchor="ctr" marL="91440" marR="73152" marT="36576" marB="36576">
                    <a:solidFill>
                      <a:srgbClr val="E2F0E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C2B27"/>
                          </a:solidFill>
                          <a:latin typeface="Meiryo UI"/>
                        </a:rPr>
                        <a:t>介護保険被保険者証 🕐</a:t>
                      </a:r>
                    </a:p>
                  </a:txBody>
                  <a:tcPr anchor="ctr" marL="91440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C2B27"/>
                          </a:solidFill>
                          <a:latin typeface="Meiryo UI"/>
                        </a:rPr>
                        <a:t>確認できているか</a:t>
                      </a:r>
                    </a:p>
                  </a:txBody>
                  <a:tcPr anchor="ctr" marL="91440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C2B27"/>
                          </a:solidFill>
                          <a:latin typeface="Meiryo UI"/>
                        </a:rPr>
                        <a:t>ー／確認済／未確認</a:t>
                      </a:r>
                    </a:p>
                  </a:txBody>
                  <a:tcPr anchor="ctr" marL="91440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C2B27"/>
                          </a:solidFill>
                          <a:latin typeface="Meiryo UI"/>
                        </a:rPr>
                        <a:t>介護保険負担割合証 🕐</a:t>
                      </a:r>
                    </a:p>
                  </a:txBody>
                  <a:tcPr anchor="ctr" marL="91440" marR="73152" marT="36576" marB="36576">
                    <a:solidFill>
                      <a:srgbClr val="E2F0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C2B27"/>
                          </a:solidFill>
                          <a:latin typeface="Meiryo UI"/>
                        </a:rPr>
                        <a:t>確認できているか</a:t>
                      </a:r>
                    </a:p>
                  </a:txBody>
                  <a:tcPr anchor="ctr" marL="91440" marR="73152" marT="36576" marB="36576">
                    <a:solidFill>
                      <a:srgbClr val="E2F0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C2B27"/>
                          </a:solidFill>
                          <a:latin typeface="Meiryo UI"/>
                        </a:rPr>
                        <a:t>ー／確認済／未確認</a:t>
                      </a:r>
                    </a:p>
                  </a:txBody>
                  <a:tcPr anchor="ctr" marL="91440" marR="73152" marT="36576" marB="36576">
                    <a:solidFill>
                      <a:srgbClr val="E2F0EC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40080" y="562356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B6E68"/>
                </a:solidFill>
                <a:latin typeface="Meiryo UI"/>
              </a:rPr>
              <a:t>※「ー」は「まだ未設定」の意味。わかった時点で選び直してください。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E8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8A78"/>
                </a:solidFill>
                <a:latin typeface="Meiryo UI"/>
              </a:rPr>
              <a:t>FIELDS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658368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C2B27"/>
                </a:solidFill>
                <a:latin typeface="Meiryo UI"/>
              </a:rPr>
              <a:t>項目くわしく ⑧⑨⑩　支払い・連絡先・カイポケ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81328"/>
            <a:ext cx="1280160" cy="54864"/>
          </a:xfrm>
          <a:prstGeom prst="rect">
            <a:avLst/>
          </a:prstGeom>
          <a:solidFill>
            <a:srgbClr val="0E8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B6E68"/>
                </a:solidFill>
                <a:latin typeface="Meiryo UI"/>
              </a:rPr>
              <a:t>WelfareAssist Pro ｜ 基本情報タブ 操作マニュアル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920240"/>
          <a:ext cx="10881360" cy="2743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108960"/>
                <a:gridCol w="5029200"/>
                <a:gridCol w="274320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eiryo UI"/>
                        </a:rPr>
                        <a:t>項目</a:t>
                      </a:r>
                    </a:p>
                  </a:txBody>
                  <a:tcPr anchor="ctr" marL="91440" marR="73152" marT="36576" marB="36576">
                    <a:solidFill>
                      <a:srgbClr val="0E8A7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eiryo UI"/>
                        </a:rPr>
                        <a:t>入れる内容</a:t>
                      </a:r>
                    </a:p>
                  </a:txBody>
                  <a:tcPr anchor="ctr" marL="91440" marR="73152" marT="36576" marB="36576">
                    <a:solidFill>
                      <a:srgbClr val="0E8A7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eiryo UI"/>
                        </a:rPr>
                        <a:t>選べる値</a:t>
                      </a:r>
                    </a:p>
                  </a:txBody>
                  <a:tcPr anchor="ctr" marL="91440" marR="73152" marT="36576" marB="36576">
                    <a:solidFill>
                      <a:srgbClr val="0E8A78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C2B27"/>
                          </a:solidFill>
                          <a:latin typeface="Meiryo UI"/>
                        </a:rPr>
                        <a:t>⑧ 支払い区分 🕐</a:t>
                      </a:r>
                    </a:p>
                  </a:txBody>
                  <a:tcPr anchor="ctr" marL="91440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C2B27"/>
                          </a:solidFill>
                          <a:latin typeface="Meiryo UI"/>
                        </a:rPr>
                        <a:t>生活保護受給かどうか（レセプトの生保判定に使用）</a:t>
                      </a:r>
                    </a:p>
                  </a:txBody>
                  <a:tcPr anchor="ctr" marL="91440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C2B27"/>
                          </a:solidFill>
                          <a:latin typeface="Meiryo UI"/>
                        </a:rPr>
                        <a:t>ー／非生保／生保</a:t>
                      </a:r>
                    </a:p>
                  </a:txBody>
                  <a:tcPr anchor="ctr" marL="91440" marR="73152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C2B27"/>
                          </a:solidFill>
                          <a:latin typeface="Meiryo UI"/>
                        </a:rPr>
                        <a:t>⑨ キーパーソン：氏名</a:t>
                      </a:r>
                    </a:p>
                  </a:txBody>
                  <a:tcPr anchor="ctr" marL="91440" marR="73152" marT="36576" marB="36576">
                    <a:solidFill>
                      <a:srgbClr val="E2F0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C2B27"/>
                          </a:solidFill>
                          <a:latin typeface="Meiryo UI"/>
                        </a:rPr>
                        <a:t>ご家族など連絡先になる方の氏名</a:t>
                      </a:r>
                    </a:p>
                  </a:txBody>
                  <a:tcPr anchor="ctr" marL="91440" marR="73152" marT="36576" marB="36576">
                    <a:solidFill>
                      <a:srgbClr val="E2F0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C2B27"/>
                          </a:solidFill>
                          <a:latin typeface="Meiryo UI"/>
                        </a:rPr>
                        <a:t>文字入力</a:t>
                      </a:r>
                    </a:p>
                  </a:txBody>
                  <a:tcPr anchor="ctr" marL="91440" marR="73152" marT="36576" marB="36576">
                    <a:solidFill>
                      <a:srgbClr val="E2F0EC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C2B27"/>
                          </a:solidFill>
                          <a:latin typeface="Meiryo UI"/>
                        </a:rPr>
                        <a:t>⑨ キーパーソン：続柄</a:t>
                      </a:r>
                    </a:p>
                  </a:txBody>
                  <a:tcPr anchor="ctr" marL="91440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C2B27"/>
                          </a:solidFill>
                          <a:latin typeface="Meiryo UI"/>
                        </a:rPr>
                        <a:t>本人との関係（長男・妻 など）</a:t>
                      </a:r>
                    </a:p>
                  </a:txBody>
                  <a:tcPr anchor="ctr" marL="91440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C2B27"/>
                          </a:solidFill>
                          <a:latin typeface="Meiryo UI"/>
                        </a:rPr>
                        <a:t>文字入力</a:t>
                      </a:r>
                    </a:p>
                  </a:txBody>
                  <a:tcPr anchor="ctr" marL="91440" marR="73152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C2B27"/>
                          </a:solidFill>
                          <a:latin typeface="Meiryo UI"/>
                        </a:rPr>
                        <a:t>⑨ キーパーソン：連絡先</a:t>
                      </a:r>
                    </a:p>
                  </a:txBody>
                  <a:tcPr anchor="ctr" marL="91440" marR="73152" marT="36576" marB="36576">
                    <a:solidFill>
                      <a:srgbClr val="E2F0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C2B27"/>
                          </a:solidFill>
                          <a:latin typeface="Meiryo UI"/>
                        </a:rPr>
                        <a:t>電話番号など</a:t>
                      </a:r>
                    </a:p>
                  </a:txBody>
                  <a:tcPr anchor="ctr" marL="91440" marR="73152" marT="36576" marB="36576">
                    <a:solidFill>
                      <a:srgbClr val="E2F0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C2B27"/>
                          </a:solidFill>
                          <a:latin typeface="Meiryo UI"/>
                        </a:rPr>
                        <a:t>文字入力</a:t>
                      </a:r>
                    </a:p>
                  </a:txBody>
                  <a:tcPr anchor="ctr" marL="91440" marR="73152" marT="36576" marB="36576">
                    <a:solidFill>
                      <a:srgbClr val="E2F0EC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C2B27"/>
                          </a:solidFill>
                          <a:latin typeface="Meiryo UI"/>
                        </a:rPr>
                        <a:t>⑩ カイポケ登録（基本情報）</a:t>
                      </a:r>
                    </a:p>
                  </a:txBody>
                  <a:tcPr anchor="ctr" marL="91440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C2B27"/>
                          </a:solidFill>
                          <a:latin typeface="Meiryo UI"/>
                        </a:rPr>
                        <a:t>カイポケに基本情報を登録済みか</a:t>
                      </a:r>
                    </a:p>
                  </a:txBody>
                  <a:tcPr anchor="ctr" marL="91440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C2B27"/>
                          </a:solidFill>
                          <a:latin typeface="Meiryo UI"/>
                        </a:rPr>
                        <a:t>未登録／登録済</a:t>
                      </a:r>
                    </a:p>
                  </a:txBody>
                  <a:tcPr anchor="ctr" marL="91440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E8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8A78"/>
                </a:solidFill>
                <a:latin typeface="Meiryo UI"/>
              </a:rPr>
              <a:t>HISTORY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658368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C2B27"/>
                </a:solidFill>
                <a:latin typeface="Meiryo UI"/>
              </a:rPr>
              <a:t>🕐 変更履歴の使い方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81328"/>
            <a:ext cx="1280160" cy="54864"/>
          </a:xfrm>
          <a:prstGeom prst="rect">
            <a:avLst/>
          </a:prstGeom>
          <a:solidFill>
            <a:srgbClr val="0E8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B6E68"/>
                </a:solidFill>
                <a:latin typeface="Meiryo UI"/>
              </a:rPr>
              <a:t>WelfareAssist Pro ｜ 基本情報タブ 操作マニュアル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4592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>
                <a:solidFill>
                  <a:srgbClr val="1C2B27"/>
                </a:solidFill>
                <a:latin typeface="Meiryo UI"/>
              </a:rPr>
              <a:t>「いつから介護度が変わったか」など、変化の履歴を残せます。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>
                <a:solidFill>
                  <a:srgbClr val="5B6E68"/>
                </a:solidFill>
                <a:latin typeface="Meiryo UI"/>
              </a:rPr>
              <a:t>過去の月を正しく表示するために役立ちます。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E8A78"/>
                </a:solidFill>
                <a:latin typeface="Meiryo UI"/>
              </a:rPr>
              <a:t>● 自動で記録される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83464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C2B27"/>
                </a:solidFill>
                <a:latin typeface="Meiryo UI"/>
              </a:rPr>
              <a:t>編集モードで🕐つきの項目を変えると「いつから有効ですか？」と日付をきく画面が出ます。日付を入れると履歴に残ります。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52044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E8A78"/>
                </a:solidFill>
                <a:latin typeface="Meiryo UI"/>
              </a:rPr>
              <a:t>● 過去の履歴を手で追加する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931920"/>
            <a:ext cx="34290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59" y="4023360"/>
            <a:ext cx="914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E8A78"/>
                </a:solidFill>
                <a:latin typeface="Meiryo U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59" y="4572000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C2B27"/>
                </a:solidFill>
                <a:latin typeface="Meiryo UI"/>
              </a:rPr>
              <a:t>編集モードにする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59" y="489204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B6E68"/>
                </a:solidFill>
                <a:latin typeface="Meiryo UI"/>
              </a:rPr>
              <a:t>右上の「編集」を押す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43400" y="3931920"/>
            <a:ext cx="34290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26280" y="4023360"/>
            <a:ext cx="914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E8A78"/>
                </a:solidFill>
                <a:latin typeface="Meiryo U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4572000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C2B27"/>
                </a:solidFill>
                <a:latin typeface="Meiryo UI"/>
              </a:rPr>
              <a:t>🕐 を押す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489204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B6E68"/>
                </a:solidFill>
                <a:latin typeface="Meiryo UI"/>
              </a:rPr>
              <a:t>項目名の横の🕐で履歴の画面を開く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46720" y="3931920"/>
            <a:ext cx="34290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0" y="4023360"/>
            <a:ext cx="914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E8A78"/>
                </a:solidFill>
                <a:latin typeface="Meiryo U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4572000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C2B27"/>
                </a:solidFill>
                <a:latin typeface="Meiryo UI"/>
              </a:rPr>
              <a:t>「履歴を追加」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489204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B6E68"/>
                </a:solidFill>
                <a:latin typeface="Meiryo UI"/>
              </a:rPr>
              <a:t>値・実効日（必須）・備考を入れて追加 →「保存する」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5486400"/>
            <a:ext cx="10881360" cy="777240"/>
          </a:xfrm>
          <a:prstGeom prst="rect">
            <a:avLst/>
          </a:prstGeom>
          <a:solidFill>
            <a:srgbClr val="E2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" y="5486400"/>
            <a:ext cx="73152" cy="777240"/>
          </a:xfrm>
          <a:prstGeom prst="rect">
            <a:avLst/>
          </a:prstGeom>
          <a:solidFill>
            <a:srgbClr val="0E8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5596128"/>
            <a:ext cx="1051560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1">
                <a:solidFill>
                  <a:srgbClr val="0E8A78"/>
                </a:solidFill>
                <a:latin typeface="Meiryo UI"/>
              </a:rPr>
              <a:t>🗑️ まちがえたら削除できます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0">
                <a:solidFill>
                  <a:srgbClr val="1C2B27"/>
                </a:solidFill>
                <a:latin typeface="Meiryo UI"/>
              </a:rPr>
              <a:t>同じ🕐の画面で「削除」を押せば消せます。この履歴は施設契約情報とちがい、消えずに保存されます。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E8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8A78"/>
                </a:solidFill>
                <a:latin typeface="Meiryo UI"/>
              </a:rPr>
              <a:t>Q&amp;A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658368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C2B27"/>
                </a:solidFill>
                <a:latin typeface="Meiryo UI"/>
              </a:rPr>
              <a:t>よくある質問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81328"/>
            <a:ext cx="1280160" cy="54864"/>
          </a:xfrm>
          <a:prstGeom prst="rect">
            <a:avLst/>
          </a:prstGeom>
          <a:solidFill>
            <a:srgbClr val="0E8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B6E68"/>
                </a:solidFill>
                <a:latin typeface="Meiryo UI"/>
              </a:rPr>
              <a:t>WelfareAssist Pro ｜ 基本情報タブ 操作マニュアル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83080"/>
            <a:ext cx="10881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E8A78"/>
                </a:solidFill>
                <a:latin typeface="Meiryo UI"/>
              </a:rPr>
              <a:t>Q. 入力したのに反映されません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67128"/>
            <a:ext cx="10424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C2B27"/>
                </a:solidFill>
                <a:latin typeface="Meiryo UI"/>
              </a:rPr>
              <a:t>A. 「編集」中のままかも。右上の「保存する」を押したか確認を。編集中は自動保存もされます。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880360"/>
            <a:ext cx="10881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E8A78"/>
                </a:solidFill>
                <a:latin typeface="Meiryo UI"/>
              </a:rPr>
              <a:t>Q. 施設契約情報を直したのに翌日もとに戻る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264408"/>
            <a:ext cx="10424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C2B27"/>
                </a:solidFill>
                <a:latin typeface="Meiryo UI"/>
              </a:rPr>
              <a:t>A. Kintoneからの自動連携情報です。直すときは Kintone 側を修正してください。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977639"/>
            <a:ext cx="10881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E8A78"/>
                </a:solidFill>
                <a:latin typeface="Meiryo UI"/>
              </a:rPr>
              <a:t>Q. 「ー」のままでいい？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361688"/>
            <a:ext cx="10424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C2B27"/>
                </a:solidFill>
                <a:latin typeface="Meiryo UI"/>
              </a:rPr>
              <a:t>A. 「ー」は未設定の意味。わかる範囲で選ぶと、レセプトチェックや集計が正しく動きます。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074920"/>
            <a:ext cx="10881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E8A78"/>
                </a:solidFill>
                <a:latin typeface="Meiryo UI"/>
              </a:rPr>
              <a:t>Q. レンタルの新規・解約はどこ？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458968"/>
            <a:ext cx="10424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C2B27"/>
                </a:solidFill>
                <a:latin typeface="Meiryo UI"/>
              </a:rPr>
              <a:t>A. 「利用者新規・変更情報入力」タブの「レンタル契約情報」です。基本情報タブの施設契約情報は施設の入退去専用。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