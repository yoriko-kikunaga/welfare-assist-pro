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A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01168"/>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457200"/>
          </a:xfrm>
          <a:prstGeom prst="rect">
            <a:avLst/>
          </a:prstGeom>
          <a:noFill/>
        </p:spPr>
        <p:txBody>
          <a:bodyPr wrap="square" anchor="t">
            <a:spAutoFit/>
          </a:bodyPr>
          <a:lstStyle/>
          <a:p>
            <a:pPr algn="l"/>
            <a:r>
              <a:rPr sz="1600" b="1">
                <a:solidFill>
                  <a:srgbClr val="0E8A78"/>
                </a:solidFill>
                <a:latin typeface="Meiryo UI"/>
              </a:rPr>
              <a:t>福祉用具マネージャー　操作マニュアル</a:t>
            </a:r>
          </a:p>
        </p:txBody>
      </p:sp>
      <p:sp>
        <p:nvSpPr>
          <p:cNvPr id="5" name="TextBox 4"/>
          <p:cNvSpPr txBox="1"/>
          <p:nvPr/>
        </p:nvSpPr>
        <p:spPr>
          <a:xfrm>
            <a:off x="914400" y="2377440"/>
            <a:ext cx="10332720" cy="1188720"/>
          </a:xfrm>
          <a:prstGeom prst="rect">
            <a:avLst/>
          </a:prstGeom>
          <a:noFill/>
        </p:spPr>
        <p:txBody>
          <a:bodyPr wrap="square" anchor="t">
            <a:spAutoFit/>
          </a:bodyPr>
          <a:lstStyle/>
          <a:p>
            <a:pPr algn="l"/>
            <a:r>
              <a:rPr sz="4600" b="1">
                <a:solidFill>
                  <a:srgbClr val="1C2B27"/>
                </a:solidFill>
                <a:latin typeface="Meiryo UI"/>
              </a:rPr>
              <a:t>「基本情報」タブの使い方</a:t>
            </a:r>
          </a:p>
        </p:txBody>
      </p:sp>
      <p:sp>
        <p:nvSpPr>
          <p:cNvPr id="6" name="Rectangle 5"/>
          <p:cNvSpPr/>
          <p:nvPr/>
        </p:nvSpPr>
        <p:spPr>
          <a:xfrm>
            <a:off x="960120" y="3611880"/>
            <a:ext cx="2011680" cy="73152"/>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886200"/>
            <a:ext cx="10058400" cy="1097280"/>
          </a:xfrm>
          <a:prstGeom prst="rect">
            <a:avLst/>
          </a:prstGeom>
          <a:noFill/>
        </p:spPr>
        <p:txBody>
          <a:bodyPr wrap="square">
            <a:spAutoFit/>
          </a:bodyPr>
          <a:lstStyle/>
          <a:p>
            <a:pPr algn="l">
              <a:lnSpc>
                <a:spcPct val="125000"/>
              </a:lnSpc>
              <a:spcAft>
                <a:spcPts val="400"/>
              </a:spcAft>
            </a:pPr>
            <a:r>
              <a:rPr sz="1700" b="0">
                <a:solidFill>
                  <a:srgbClr val="5B6E68"/>
                </a:solidFill>
                <a:latin typeface="Meiryo UI"/>
              </a:rPr>
              <a:t>利用者ひとりひとりの基本データを登録・確認する画面です。</a:t>
            </a:r>
          </a:p>
          <a:p>
            <a:pPr algn="l">
              <a:lnSpc>
                <a:spcPct val="125000"/>
              </a:lnSpc>
              <a:spcAft>
                <a:spcPts val="400"/>
              </a:spcAft>
            </a:pPr>
            <a:r>
              <a:rPr sz="1700" b="0">
                <a:solidFill>
                  <a:srgbClr val="5B6E68"/>
                </a:solidFill>
                <a:latin typeface="Meiryo UI"/>
              </a:rPr>
              <a:t>はじめての方でも迷わず編集・保存できるよう、やさしくまとめました。</a:t>
            </a:r>
          </a:p>
        </p:txBody>
      </p:sp>
      <p:sp>
        <p:nvSpPr>
          <p:cNvPr id="8" name="TextBox 7"/>
          <p:cNvSpPr txBox="1"/>
          <p:nvPr/>
        </p:nvSpPr>
        <p:spPr>
          <a:xfrm>
            <a:off x="960120" y="5852160"/>
            <a:ext cx="10515600" cy="457200"/>
          </a:xfrm>
          <a:prstGeom prst="rect">
            <a:avLst/>
          </a:prstGeom>
          <a:noFill/>
        </p:spPr>
        <p:txBody>
          <a:bodyPr wrap="square" anchor="t">
            <a:spAutoFit/>
          </a:bodyPr>
          <a:lstStyle/>
          <a:p>
            <a:pPr algn="l"/>
            <a:r>
              <a:rPr sz="1300" b="1">
                <a:solidFill>
                  <a:srgbClr val="0E8A78"/>
                </a:solidFill>
                <a:latin typeface="Meiryo UI"/>
              </a:rPr>
              <a:t>対象：福祉用具専門相談員のみなさま　／　場所：利用者をクリック → 一番左のタブ</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OVERVIEW</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このタブでできること</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Rectangle 7"/>
          <p:cNvSpPr/>
          <p:nvPr/>
        </p:nvSpPr>
        <p:spPr>
          <a:xfrm>
            <a:off x="640080" y="1828800"/>
            <a:ext cx="10881360" cy="1371600"/>
          </a:xfrm>
          <a:prstGeom prst="rect">
            <a:avLst/>
          </a:prstGeom>
          <a:solidFill>
            <a:srgbClr val="E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73152" cy="13716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11680"/>
            <a:ext cx="10332720" cy="1188720"/>
          </a:xfrm>
          <a:prstGeom prst="rect">
            <a:avLst/>
          </a:prstGeom>
          <a:noFill/>
        </p:spPr>
        <p:txBody>
          <a:bodyPr wrap="square">
            <a:spAutoFit/>
          </a:bodyPr>
          <a:lstStyle/>
          <a:p>
            <a:pPr algn="l">
              <a:lnSpc>
                <a:spcPct val="125000"/>
              </a:lnSpc>
              <a:spcAft>
                <a:spcPts val="400"/>
              </a:spcAft>
            </a:pPr>
            <a:r>
              <a:rPr sz="1600" b="1">
                <a:solidFill>
                  <a:srgbClr val="1C2B27"/>
                </a:solidFill>
                <a:latin typeface="Meiryo UI"/>
              </a:rPr>
              <a:t>このタブは、利用者の「カルテの表紙」のような画面です。</a:t>
            </a:r>
          </a:p>
          <a:p>
            <a:pPr algn="l">
              <a:lnSpc>
                <a:spcPct val="125000"/>
              </a:lnSpc>
              <a:spcAft>
                <a:spcPts val="400"/>
              </a:spcAft>
            </a:pPr>
            <a:r>
              <a:rPr sz="1600" b="0">
                <a:solidFill>
                  <a:srgbClr val="1C2B27"/>
                </a:solidFill>
                <a:latin typeface="Meiryo UI"/>
              </a:rPr>
              <a:t>請求・レセプトチェック・売上集計など、アプリのほかの機能はすべて</a:t>
            </a:r>
          </a:p>
          <a:p>
            <a:pPr algn="l">
              <a:lnSpc>
                <a:spcPct val="125000"/>
              </a:lnSpc>
              <a:spcAft>
                <a:spcPts val="400"/>
              </a:spcAft>
            </a:pPr>
            <a:r>
              <a:rPr sz="1600" b="0">
                <a:solidFill>
                  <a:srgbClr val="1C2B27"/>
                </a:solidFill>
                <a:latin typeface="Meiryo UI"/>
              </a:rPr>
              <a:t>ここの情報をもとに動きます。正しく入れておくほど、後の作業がラクになります。</a:t>
            </a:r>
          </a:p>
        </p:txBody>
      </p:sp>
      <p:sp>
        <p:nvSpPr>
          <p:cNvPr id="11" name="TextBox 10"/>
          <p:cNvSpPr txBox="1"/>
          <p:nvPr/>
        </p:nvSpPr>
        <p:spPr>
          <a:xfrm>
            <a:off x="640080" y="3566160"/>
            <a:ext cx="10058400" cy="411480"/>
          </a:xfrm>
          <a:prstGeom prst="rect">
            <a:avLst/>
          </a:prstGeom>
          <a:noFill/>
        </p:spPr>
        <p:txBody>
          <a:bodyPr wrap="square" anchor="t">
            <a:spAutoFit/>
          </a:bodyPr>
          <a:lstStyle/>
          <a:p>
            <a:pPr algn="l"/>
            <a:r>
              <a:rPr sz="1600" b="1">
                <a:solidFill>
                  <a:srgbClr val="0E8A78"/>
                </a:solidFill>
                <a:latin typeface="Meiryo UI"/>
              </a:rPr>
              <a:t>この画面で扱う主な情報</a:t>
            </a:r>
          </a:p>
        </p:txBody>
      </p:sp>
      <p:graphicFrame>
        <p:nvGraphicFramePr>
          <p:cNvPr id="12" name="Table 11"/>
          <p:cNvGraphicFramePr>
            <a:graphicFrameLocks noGrp="1"/>
          </p:cNvGraphicFramePr>
          <p:nvPr/>
        </p:nvGraphicFramePr>
        <p:xfrm>
          <a:off x="640080" y="3977639"/>
          <a:ext cx="10881360" cy="2103120"/>
        </p:xfrm>
        <a:graphic>
          <a:graphicData uri="http://schemas.openxmlformats.org/drawingml/2006/table">
            <a:tbl>
              <a:tblPr>
                <a:tableStyleId>{5C22544A-7EE6-4342-B048-85BDC9FD1C3A}</a:tableStyleId>
              </a:tblPr>
              <a:tblGrid>
                <a:gridCol w="2377440"/>
                <a:gridCol w="8503920"/>
              </a:tblGrid>
              <a:tr h="420624">
                <a:tc>
                  <a:txBody>
                    <a:bodyPr wrap="square"/>
                    <a:lstStyle/>
                    <a:p>
                      <a:pPr algn="l"/>
                      <a:r>
                        <a:rPr sz="1300" b="1">
                          <a:solidFill>
                            <a:srgbClr val="FFFFFF"/>
                          </a:solidFill>
                          <a:latin typeface="Meiryo UI"/>
                        </a:rPr>
                        <a:t>分類</a:t>
                      </a:r>
                    </a:p>
                  </a:txBody>
                  <a:tcPr anchor="ctr" marL="91440" marR="73152" marT="36576" marB="36576">
                    <a:solidFill>
                      <a:srgbClr val="0E8A78"/>
                    </a:solidFill>
                  </a:tcPr>
                </a:tc>
                <a:tc>
                  <a:txBody>
                    <a:bodyPr wrap="square"/>
                    <a:lstStyle/>
                    <a:p>
                      <a:pPr algn="l"/>
                      <a:r>
                        <a:rPr sz="1300" b="1">
                          <a:solidFill>
                            <a:srgbClr val="FFFFFF"/>
                          </a:solidFill>
                          <a:latin typeface="Meiryo UI"/>
                        </a:rPr>
                        <a:t>おもな項目</a:t>
                      </a:r>
                    </a:p>
                  </a:txBody>
                  <a:tcPr anchor="ctr" marL="91440" marR="73152" marT="36576" marB="36576">
                    <a:solidFill>
                      <a:srgbClr val="0E8A78"/>
                    </a:solidFill>
                  </a:tcPr>
                </a:tc>
              </a:tr>
              <a:tr h="420624">
                <a:tc>
                  <a:txBody>
                    <a:bodyPr wrap="square"/>
                    <a:lstStyle/>
                    <a:p>
                      <a:pPr algn="l"/>
                      <a:r>
                        <a:rPr sz="1300" b="1">
                          <a:solidFill>
                            <a:srgbClr val="1C2B27"/>
                          </a:solidFill>
                          <a:latin typeface="Meiryo UI"/>
                        </a:rPr>
                        <a:t>本人・住まい</a:t>
                      </a:r>
                    </a:p>
                  </a:txBody>
                  <a:tcPr anchor="ctr" marL="91440" marR="73152" marT="36576" marB="36576">
                    <a:solidFill>
                      <a:srgbClr val="FFFFFF"/>
                    </a:solidFill>
                  </a:tcPr>
                </a:tc>
                <a:tc>
                  <a:txBody>
                    <a:bodyPr wrap="square"/>
                    <a:lstStyle/>
                    <a:p>
                      <a:pPr algn="l"/>
                      <a:r>
                        <a:rPr sz="1300" b="0">
                          <a:solidFill>
                            <a:srgbClr val="1C2B27"/>
                          </a:solidFill>
                          <a:latin typeface="Meiryo UI"/>
                        </a:rPr>
                        <a:t>氏名・フリガナ・生年月日・性別・入居施設名・居室番号・在宅区分</a:t>
                      </a:r>
                    </a:p>
                  </a:txBody>
                  <a:tcPr anchor="ctr" marL="91440" marR="73152" marT="36576" marB="36576">
                    <a:solidFill>
                      <a:srgbClr val="FFFFFF"/>
                    </a:solidFill>
                  </a:tcPr>
                </a:tc>
              </a:tr>
              <a:tr h="420624">
                <a:tc>
                  <a:txBody>
                    <a:bodyPr wrap="square"/>
                    <a:lstStyle/>
                    <a:p>
                      <a:pPr algn="l"/>
                      <a:r>
                        <a:rPr sz="1300" b="1">
                          <a:solidFill>
                            <a:srgbClr val="1C2B27"/>
                          </a:solidFill>
                          <a:latin typeface="Meiryo UI"/>
                        </a:rPr>
                        <a:t>事業・福祉用具</a:t>
                      </a:r>
                    </a:p>
                  </a:txBody>
                  <a:tcPr anchor="ctr" marL="91440" marR="73152" marT="36576" marB="36576">
                    <a:solidFill>
                      <a:srgbClr val="E2F0EC"/>
                    </a:solidFill>
                  </a:tcPr>
                </a:tc>
                <a:tc>
                  <a:txBody>
                    <a:bodyPr wrap="square"/>
                    <a:lstStyle/>
                    <a:p>
                      <a:pPr algn="l"/>
                      <a:r>
                        <a:rPr sz="1300" b="0">
                          <a:solidFill>
                            <a:srgbClr val="1C2B27"/>
                          </a:solidFill>
                          <a:latin typeface="Meiryo UI"/>
                        </a:rPr>
                        <a:t>事業所・福祉用具利用者・レセプトチェック対象・請求区分</a:t>
                      </a:r>
                    </a:p>
                  </a:txBody>
                  <a:tcPr anchor="ctr" marL="91440" marR="73152" marT="36576" marB="36576">
                    <a:solidFill>
                      <a:srgbClr val="E2F0EC"/>
                    </a:solidFill>
                  </a:tcPr>
                </a:tc>
              </a:tr>
              <a:tr h="420624">
                <a:tc>
                  <a:txBody>
                    <a:bodyPr wrap="square"/>
                    <a:lstStyle/>
                    <a:p>
                      <a:pPr algn="l"/>
                      <a:r>
                        <a:rPr sz="1300" b="1">
                          <a:solidFill>
                            <a:srgbClr val="1C2B27"/>
                          </a:solidFill>
                          <a:latin typeface="Meiryo UI"/>
                        </a:rPr>
                        <a:t>介護保険</a:t>
                      </a:r>
                    </a:p>
                  </a:txBody>
                  <a:tcPr anchor="ctr" marL="91440" marR="73152" marT="36576" marB="36576">
                    <a:solidFill>
                      <a:srgbClr val="FFFFFF"/>
                    </a:solidFill>
                  </a:tcPr>
                </a:tc>
                <a:tc>
                  <a:txBody>
                    <a:bodyPr wrap="square"/>
                    <a:lstStyle/>
                    <a:p>
                      <a:pPr algn="l"/>
                      <a:r>
                        <a:rPr sz="1300" b="0">
                          <a:solidFill>
                            <a:srgbClr val="1C2B27"/>
                          </a:solidFill>
                          <a:latin typeface="Meiryo UI"/>
                        </a:rPr>
                        <a:t>要介護度・負担割合・被保険者証・負担割合証・支払い区分</a:t>
                      </a:r>
                    </a:p>
                  </a:txBody>
                  <a:tcPr anchor="ctr" marL="91440" marR="73152" marT="36576" marB="36576">
                    <a:solidFill>
                      <a:srgbClr val="FFFFFF"/>
                    </a:solidFill>
                  </a:tcPr>
                </a:tc>
              </a:tr>
              <a:tr h="420624">
                <a:tc>
                  <a:txBody>
                    <a:bodyPr wrap="square"/>
                    <a:lstStyle/>
                    <a:p>
                      <a:pPr algn="l"/>
                      <a:r>
                        <a:rPr sz="1300" b="1">
                          <a:solidFill>
                            <a:srgbClr val="1C2B27"/>
                          </a:solidFill>
                          <a:latin typeface="Meiryo UI"/>
                        </a:rPr>
                        <a:t>関係先・施設</a:t>
                      </a:r>
                    </a:p>
                  </a:txBody>
                  <a:tcPr anchor="ctr" marL="91440" marR="73152" marT="36576" marB="36576">
                    <a:solidFill>
                      <a:srgbClr val="E2F0EC"/>
                    </a:solidFill>
                  </a:tcPr>
                </a:tc>
                <a:tc>
                  <a:txBody>
                    <a:bodyPr wrap="square"/>
                    <a:lstStyle/>
                    <a:p>
                      <a:pPr algn="l"/>
                      <a:r>
                        <a:rPr sz="1300" b="0">
                          <a:solidFill>
                            <a:srgbClr val="1C2B27"/>
                          </a:solidFill>
                          <a:latin typeface="Meiryo UI"/>
                        </a:rPr>
                        <a:t>ケアマネ情報・施設契約情報（入退去）・キーパーソン・カイポケ登録</a:t>
                      </a:r>
                    </a:p>
                  </a:txBody>
                  <a:tcPr anchor="ctr" marL="91440" marR="73152" marT="36576" marB="36576">
                    <a:solidFill>
                      <a:srgbClr val="E2F0E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BASIC</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まず、この3ステップだけ</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Rectangle 7"/>
          <p:cNvSpPr/>
          <p:nvPr/>
        </p:nvSpPr>
        <p:spPr>
          <a:xfrm>
            <a:off x="640080" y="1920240"/>
            <a:ext cx="3429000" cy="219456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1097280" cy="914400"/>
          </a:xfrm>
          <a:prstGeom prst="rect">
            <a:avLst/>
          </a:prstGeom>
          <a:noFill/>
        </p:spPr>
        <p:txBody>
          <a:bodyPr wrap="square" anchor="t">
            <a:spAutoFit/>
          </a:bodyPr>
          <a:lstStyle/>
          <a:p>
            <a:pPr algn="l"/>
            <a:r>
              <a:rPr sz="4400" b="1">
                <a:solidFill>
                  <a:srgbClr val="0E8A78"/>
                </a:solidFill>
                <a:latin typeface="Meiryo UI"/>
              </a:rPr>
              <a:t>1</a:t>
            </a:r>
          </a:p>
        </p:txBody>
      </p:sp>
      <p:sp>
        <p:nvSpPr>
          <p:cNvPr id="10" name="TextBox 9"/>
          <p:cNvSpPr txBox="1"/>
          <p:nvPr/>
        </p:nvSpPr>
        <p:spPr>
          <a:xfrm>
            <a:off x="868680" y="2971800"/>
            <a:ext cx="3017520" cy="457200"/>
          </a:xfrm>
          <a:prstGeom prst="rect">
            <a:avLst/>
          </a:prstGeom>
          <a:noFill/>
        </p:spPr>
        <p:txBody>
          <a:bodyPr wrap="square" anchor="t">
            <a:spAutoFit/>
          </a:bodyPr>
          <a:lstStyle/>
          <a:p>
            <a:pPr algn="l"/>
            <a:r>
              <a:rPr sz="1800" b="1">
                <a:solidFill>
                  <a:srgbClr val="1C2B27"/>
                </a:solidFill>
                <a:latin typeface="Meiryo UI"/>
              </a:rPr>
              <a:t>「編集」を押す</a:t>
            </a:r>
          </a:p>
        </p:txBody>
      </p:sp>
      <p:sp>
        <p:nvSpPr>
          <p:cNvPr id="11" name="TextBox 10"/>
          <p:cNvSpPr txBox="1"/>
          <p:nvPr/>
        </p:nvSpPr>
        <p:spPr>
          <a:xfrm>
            <a:off x="868680" y="3429000"/>
            <a:ext cx="3017520" cy="822960"/>
          </a:xfrm>
          <a:prstGeom prst="rect">
            <a:avLst/>
          </a:prstGeom>
          <a:noFill/>
        </p:spPr>
        <p:txBody>
          <a:bodyPr wrap="square" anchor="t">
            <a:spAutoFit/>
          </a:bodyPr>
          <a:lstStyle/>
          <a:p>
            <a:pPr algn="l"/>
            <a:r>
              <a:rPr sz="1300" b="0">
                <a:solidFill>
                  <a:srgbClr val="5B6E68"/>
                </a:solidFill>
                <a:latin typeface="Meiryo UI"/>
              </a:rPr>
              <a:t>画面右上の「編集」ボタンを押すと、入力できる状態になります。</a:t>
            </a:r>
          </a:p>
        </p:txBody>
      </p:sp>
      <p:sp>
        <p:nvSpPr>
          <p:cNvPr id="12" name="Rectangle 11"/>
          <p:cNvSpPr/>
          <p:nvPr/>
        </p:nvSpPr>
        <p:spPr>
          <a:xfrm>
            <a:off x="4343400" y="1920240"/>
            <a:ext cx="3429000" cy="219456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057400"/>
            <a:ext cx="1097280" cy="914400"/>
          </a:xfrm>
          <a:prstGeom prst="rect">
            <a:avLst/>
          </a:prstGeom>
          <a:noFill/>
        </p:spPr>
        <p:txBody>
          <a:bodyPr wrap="square" anchor="t">
            <a:spAutoFit/>
          </a:bodyPr>
          <a:lstStyle/>
          <a:p>
            <a:pPr algn="l"/>
            <a:r>
              <a:rPr sz="4400" b="1">
                <a:solidFill>
                  <a:srgbClr val="0E8A78"/>
                </a:solidFill>
                <a:latin typeface="Meiryo UI"/>
              </a:rPr>
              <a:t>2</a:t>
            </a:r>
          </a:p>
        </p:txBody>
      </p:sp>
      <p:sp>
        <p:nvSpPr>
          <p:cNvPr id="14" name="TextBox 13"/>
          <p:cNvSpPr txBox="1"/>
          <p:nvPr/>
        </p:nvSpPr>
        <p:spPr>
          <a:xfrm>
            <a:off x="4572000" y="2971800"/>
            <a:ext cx="3017520" cy="457200"/>
          </a:xfrm>
          <a:prstGeom prst="rect">
            <a:avLst/>
          </a:prstGeom>
          <a:noFill/>
        </p:spPr>
        <p:txBody>
          <a:bodyPr wrap="square" anchor="t">
            <a:spAutoFit/>
          </a:bodyPr>
          <a:lstStyle/>
          <a:p>
            <a:pPr algn="l"/>
            <a:r>
              <a:rPr sz="1800" b="1">
                <a:solidFill>
                  <a:srgbClr val="1C2B27"/>
                </a:solidFill>
                <a:latin typeface="Meiryo UI"/>
              </a:rPr>
              <a:t>内容を入力する</a:t>
            </a:r>
          </a:p>
        </p:txBody>
      </p:sp>
      <p:sp>
        <p:nvSpPr>
          <p:cNvPr id="15" name="TextBox 14"/>
          <p:cNvSpPr txBox="1"/>
          <p:nvPr/>
        </p:nvSpPr>
        <p:spPr>
          <a:xfrm>
            <a:off x="4572000" y="3429000"/>
            <a:ext cx="3017520" cy="822960"/>
          </a:xfrm>
          <a:prstGeom prst="rect">
            <a:avLst/>
          </a:prstGeom>
          <a:noFill/>
        </p:spPr>
        <p:txBody>
          <a:bodyPr wrap="square" anchor="t">
            <a:spAutoFit/>
          </a:bodyPr>
          <a:lstStyle/>
          <a:p>
            <a:pPr algn="l"/>
            <a:r>
              <a:rPr sz="1300" b="0">
                <a:solidFill>
                  <a:srgbClr val="5B6E68"/>
                </a:solidFill>
                <a:latin typeface="Meiryo UI"/>
              </a:rPr>
              <a:t>直したい欄を選んで入力・選択します。複数まとめてOK。</a:t>
            </a:r>
          </a:p>
        </p:txBody>
      </p:sp>
      <p:sp>
        <p:nvSpPr>
          <p:cNvPr id="16" name="Rectangle 15"/>
          <p:cNvSpPr/>
          <p:nvPr/>
        </p:nvSpPr>
        <p:spPr>
          <a:xfrm>
            <a:off x="8046720" y="1920240"/>
            <a:ext cx="3429000" cy="219456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2057400"/>
            <a:ext cx="1097280" cy="914400"/>
          </a:xfrm>
          <a:prstGeom prst="rect">
            <a:avLst/>
          </a:prstGeom>
          <a:noFill/>
        </p:spPr>
        <p:txBody>
          <a:bodyPr wrap="square" anchor="t">
            <a:spAutoFit/>
          </a:bodyPr>
          <a:lstStyle/>
          <a:p>
            <a:pPr algn="l"/>
            <a:r>
              <a:rPr sz="4400" b="1">
                <a:solidFill>
                  <a:srgbClr val="0E8A78"/>
                </a:solidFill>
                <a:latin typeface="Meiryo UI"/>
              </a:rPr>
              <a:t>3</a:t>
            </a:r>
          </a:p>
        </p:txBody>
      </p:sp>
      <p:sp>
        <p:nvSpPr>
          <p:cNvPr id="18" name="TextBox 17"/>
          <p:cNvSpPr txBox="1"/>
          <p:nvPr/>
        </p:nvSpPr>
        <p:spPr>
          <a:xfrm>
            <a:off x="8275320" y="2971800"/>
            <a:ext cx="3017520" cy="457200"/>
          </a:xfrm>
          <a:prstGeom prst="rect">
            <a:avLst/>
          </a:prstGeom>
          <a:noFill/>
        </p:spPr>
        <p:txBody>
          <a:bodyPr wrap="square" anchor="t">
            <a:spAutoFit/>
          </a:bodyPr>
          <a:lstStyle/>
          <a:p>
            <a:pPr algn="l"/>
            <a:r>
              <a:rPr sz="1800" b="1">
                <a:solidFill>
                  <a:srgbClr val="1C2B27"/>
                </a:solidFill>
                <a:latin typeface="Meiryo UI"/>
              </a:rPr>
              <a:t>「保存する」を押す</a:t>
            </a:r>
          </a:p>
        </p:txBody>
      </p:sp>
      <p:sp>
        <p:nvSpPr>
          <p:cNvPr id="19" name="TextBox 18"/>
          <p:cNvSpPr txBox="1"/>
          <p:nvPr/>
        </p:nvSpPr>
        <p:spPr>
          <a:xfrm>
            <a:off x="8275320" y="3429000"/>
            <a:ext cx="3017520" cy="822960"/>
          </a:xfrm>
          <a:prstGeom prst="rect">
            <a:avLst/>
          </a:prstGeom>
          <a:noFill/>
        </p:spPr>
        <p:txBody>
          <a:bodyPr wrap="square" anchor="t">
            <a:spAutoFit/>
          </a:bodyPr>
          <a:lstStyle/>
          <a:p>
            <a:pPr algn="l"/>
            <a:r>
              <a:rPr sz="1300" b="0">
                <a:solidFill>
                  <a:srgbClr val="5B6E68"/>
                </a:solidFill>
                <a:latin typeface="Meiryo UI"/>
              </a:rPr>
              <a:t>右上の「保存する」で確定。これで全員に反映されます。</a:t>
            </a:r>
          </a:p>
        </p:txBody>
      </p:sp>
      <p:sp>
        <p:nvSpPr>
          <p:cNvPr id="20" name="Rectangle 19"/>
          <p:cNvSpPr/>
          <p:nvPr/>
        </p:nvSpPr>
        <p:spPr>
          <a:xfrm>
            <a:off x="640080" y="4434840"/>
            <a:ext cx="10881360" cy="914400"/>
          </a:xfrm>
          <a:prstGeom prst="rect">
            <a:avLst/>
          </a:prstGeom>
          <a:solidFill>
            <a:srgbClr val="FBEA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4434840"/>
            <a:ext cx="73152" cy="914400"/>
          </a:xfrm>
          <a:prstGeom prst="rect">
            <a:avLst/>
          </a:prstGeom>
          <a:solidFill>
            <a:srgbClr val="E27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544568"/>
            <a:ext cx="10515600" cy="731520"/>
          </a:xfrm>
          <a:prstGeom prst="rect">
            <a:avLst/>
          </a:prstGeom>
          <a:noFill/>
        </p:spPr>
        <p:txBody>
          <a:bodyPr wrap="square">
            <a:spAutoFit/>
          </a:bodyPr>
          <a:lstStyle/>
          <a:p>
            <a:pPr algn="l">
              <a:lnSpc>
                <a:spcPct val="125000"/>
              </a:lnSpc>
              <a:spcAft>
                <a:spcPts val="400"/>
              </a:spcAft>
            </a:pPr>
            <a:r>
              <a:rPr sz="1300" b="1">
                <a:solidFill>
                  <a:srgbClr val="E2714A"/>
                </a:solidFill>
                <a:latin typeface="Meiryo UI"/>
              </a:rPr>
              <a:t>⚠️ 自動保存はありません（2026-08〜）</a:t>
            </a:r>
          </a:p>
          <a:p>
            <a:pPr algn="l">
              <a:lnSpc>
                <a:spcPct val="125000"/>
              </a:lnSpc>
              <a:spcAft>
                <a:spcPts val="400"/>
              </a:spcAft>
            </a:pPr>
            <a:r>
              <a:rPr sz="1300" b="0">
                <a:solidFill>
                  <a:srgbClr val="1C2B27"/>
                </a:solidFill>
                <a:latin typeface="Meiryo UI"/>
              </a:rPr>
              <a:t>編集したら必ず右上の「保存する」を押してください。未保存の間はヘッダーに「未保存の変更があります」と表示され、保存せず他の利用者に移動・タブを閉じようとすると確認が出ます。保存内容は毎日の自動更新のあとも残り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MAP</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画面の地図（上から下への並び）</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Rectangle 7"/>
          <p:cNvSpPr/>
          <p:nvPr/>
        </p:nvSpPr>
        <p:spPr>
          <a:xfrm>
            <a:off x="640080" y="1691640"/>
            <a:ext cx="384048" cy="384048"/>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84048" cy="384048"/>
          </a:xfrm>
          <a:prstGeom prst="rect">
            <a:avLst/>
          </a:prstGeom>
          <a:noFill/>
        </p:spPr>
        <p:txBody>
          <a:bodyPr wrap="square" anchor="ctr">
            <a:spAutoFit/>
          </a:bodyPr>
          <a:lstStyle/>
          <a:p>
            <a:pPr algn="ctr"/>
            <a:r>
              <a:rPr sz="1500" b="1">
                <a:solidFill>
                  <a:srgbClr val="FFFFFF"/>
                </a:solidFill>
                <a:latin typeface="Meiryo UI"/>
              </a:rPr>
              <a:t>1</a:t>
            </a:r>
          </a:p>
        </p:txBody>
      </p:sp>
      <p:sp>
        <p:nvSpPr>
          <p:cNvPr id="10" name="TextBox 9"/>
          <p:cNvSpPr txBox="1"/>
          <p:nvPr/>
        </p:nvSpPr>
        <p:spPr>
          <a:xfrm>
            <a:off x="1143000" y="1673352"/>
            <a:ext cx="5943600" cy="457200"/>
          </a:xfrm>
          <a:prstGeom prst="rect">
            <a:avLst/>
          </a:prstGeom>
          <a:noFill/>
        </p:spPr>
        <p:txBody>
          <a:bodyPr wrap="square" anchor="ctr">
            <a:spAutoFit/>
          </a:bodyPr>
          <a:lstStyle/>
          <a:p>
            <a:pPr algn="l"/>
            <a:r>
              <a:rPr sz="1500" b="1">
                <a:solidFill>
                  <a:srgbClr val="1C2B27"/>
                </a:solidFill>
                <a:latin typeface="Meiryo UI"/>
              </a:rPr>
              <a:t>あおぞらID・事業所</a:t>
            </a:r>
          </a:p>
        </p:txBody>
      </p:sp>
      <p:sp>
        <p:nvSpPr>
          <p:cNvPr id="11" name="TextBox 10"/>
          <p:cNvSpPr txBox="1"/>
          <p:nvPr/>
        </p:nvSpPr>
        <p:spPr>
          <a:xfrm>
            <a:off x="6949440" y="1673352"/>
            <a:ext cx="3657600" cy="457200"/>
          </a:xfrm>
          <a:prstGeom prst="rect">
            <a:avLst/>
          </a:prstGeom>
          <a:noFill/>
        </p:spPr>
        <p:txBody>
          <a:bodyPr wrap="square" anchor="ctr">
            <a:spAutoFit/>
          </a:bodyPr>
          <a:lstStyle/>
          <a:p>
            <a:pPr algn="l"/>
            <a:r>
              <a:rPr sz="1200" b="0">
                <a:solidFill>
                  <a:srgbClr val="5B6E68"/>
                </a:solidFill>
                <a:latin typeface="Meiryo UI"/>
              </a:rPr>
              <a:t>利用者番号と担当事業所</a:t>
            </a:r>
          </a:p>
        </p:txBody>
      </p:sp>
      <p:sp>
        <p:nvSpPr>
          <p:cNvPr id="12" name="TextBox 11"/>
          <p:cNvSpPr txBox="1"/>
          <p:nvPr/>
        </p:nvSpPr>
        <p:spPr>
          <a:xfrm>
            <a:off x="10515600" y="1673352"/>
            <a:ext cx="1280160" cy="457200"/>
          </a:xfrm>
          <a:prstGeom prst="rect">
            <a:avLst/>
          </a:prstGeom>
          <a:noFill/>
        </p:spPr>
        <p:txBody>
          <a:bodyPr wrap="square" anchor="ctr">
            <a:spAutoFit/>
          </a:bodyPr>
          <a:lstStyle/>
          <a:p>
            <a:pPr algn="l"/>
            <a:r>
              <a:rPr sz="1100" b="1">
                <a:solidFill>
                  <a:srgbClr val="0E8A78"/>
                </a:solidFill>
                <a:latin typeface="Meiryo UI"/>
              </a:rPr>
              <a:t>🕐 履歴あり</a:t>
            </a:r>
          </a:p>
        </p:txBody>
      </p:sp>
      <p:sp>
        <p:nvSpPr>
          <p:cNvPr id="13" name="Rectangle 12"/>
          <p:cNvSpPr/>
          <p:nvPr/>
        </p:nvSpPr>
        <p:spPr>
          <a:xfrm>
            <a:off x="640080" y="2148840"/>
            <a:ext cx="384048" cy="384048"/>
          </a:xfrm>
          <a:prstGeom prst="rect">
            <a:avLst/>
          </a:prstGeom>
          <a:solidFill>
            <a:srgbClr val="1C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130552"/>
            <a:ext cx="384048" cy="384048"/>
          </a:xfrm>
          <a:prstGeom prst="rect">
            <a:avLst/>
          </a:prstGeom>
          <a:noFill/>
        </p:spPr>
        <p:txBody>
          <a:bodyPr wrap="square" anchor="ctr">
            <a:spAutoFit/>
          </a:bodyPr>
          <a:lstStyle/>
          <a:p>
            <a:pPr algn="ctr"/>
            <a:r>
              <a:rPr sz="1500" b="1">
                <a:solidFill>
                  <a:srgbClr val="FFFFFF"/>
                </a:solidFill>
                <a:latin typeface="Meiryo UI"/>
              </a:rPr>
              <a:t>2</a:t>
            </a:r>
          </a:p>
        </p:txBody>
      </p:sp>
      <p:sp>
        <p:nvSpPr>
          <p:cNvPr id="15" name="TextBox 14"/>
          <p:cNvSpPr txBox="1"/>
          <p:nvPr/>
        </p:nvSpPr>
        <p:spPr>
          <a:xfrm>
            <a:off x="1143000" y="2130552"/>
            <a:ext cx="5943600" cy="457200"/>
          </a:xfrm>
          <a:prstGeom prst="rect">
            <a:avLst/>
          </a:prstGeom>
          <a:noFill/>
        </p:spPr>
        <p:txBody>
          <a:bodyPr wrap="square" anchor="ctr">
            <a:spAutoFit/>
          </a:bodyPr>
          <a:lstStyle/>
          <a:p>
            <a:pPr algn="l"/>
            <a:r>
              <a:rPr sz="1500" b="1">
                <a:solidFill>
                  <a:srgbClr val="1C2B27"/>
                </a:solidFill>
                <a:latin typeface="Meiryo UI"/>
              </a:rPr>
              <a:t>氏名・フリガナ・生年月日・性別</a:t>
            </a:r>
          </a:p>
        </p:txBody>
      </p:sp>
      <p:sp>
        <p:nvSpPr>
          <p:cNvPr id="16" name="TextBox 15"/>
          <p:cNvSpPr txBox="1"/>
          <p:nvPr/>
        </p:nvSpPr>
        <p:spPr>
          <a:xfrm>
            <a:off x="6949440" y="2130552"/>
            <a:ext cx="3657600" cy="457200"/>
          </a:xfrm>
          <a:prstGeom prst="rect">
            <a:avLst/>
          </a:prstGeom>
          <a:noFill/>
        </p:spPr>
        <p:txBody>
          <a:bodyPr wrap="square" anchor="ctr">
            <a:spAutoFit/>
          </a:bodyPr>
          <a:lstStyle/>
          <a:p>
            <a:pPr algn="l"/>
            <a:r>
              <a:rPr sz="1200" b="0">
                <a:solidFill>
                  <a:srgbClr val="5B6E68"/>
                </a:solidFill>
                <a:latin typeface="Meiryo UI"/>
              </a:rPr>
              <a:t>本人のプロフィール</a:t>
            </a:r>
          </a:p>
        </p:txBody>
      </p:sp>
      <p:sp>
        <p:nvSpPr>
          <p:cNvPr id="17" name="Rectangle 16"/>
          <p:cNvSpPr/>
          <p:nvPr/>
        </p:nvSpPr>
        <p:spPr>
          <a:xfrm>
            <a:off x="640080" y="2606040"/>
            <a:ext cx="384048" cy="384048"/>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587752"/>
            <a:ext cx="384048" cy="384048"/>
          </a:xfrm>
          <a:prstGeom prst="rect">
            <a:avLst/>
          </a:prstGeom>
          <a:noFill/>
        </p:spPr>
        <p:txBody>
          <a:bodyPr wrap="square" anchor="ctr">
            <a:spAutoFit/>
          </a:bodyPr>
          <a:lstStyle/>
          <a:p>
            <a:pPr algn="ctr"/>
            <a:r>
              <a:rPr sz="1500" b="1">
                <a:solidFill>
                  <a:srgbClr val="FFFFFF"/>
                </a:solidFill>
                <a:latin typeface="Meiryo UI"/>
              </a:rPr>
              <a:t>3</a:t>
            </a:r>
          </a:p>
        </p:txBody>
      </p:sp>
      <p:sp>
        <p:nvSpPr>
          <p:cNvPr id="19" name="TextBox 18"/>
          <p:cNvSpPr txBox="1"/>
          <p:nvPr/>
        </p:nvSpPr>
        <p:spPr>
          <a:xfrm>
            <a:off x="1143000" y="2587752"/>
            <a:ext cx="5943600" cy="457200"/>
          </a:xfrm>
          <a:prstGeom prst="rect">
            <a:avLst/>
          </a:prstGeom>
          <a:noFill/>
        </p:spPr>
        <p:txBody>
          <a:bodyPr wrap="square" anchor="ctr">
            <a:spAutoFit/>
          </a:bodyPr>
          <a:lstStyle/>
          <a:p>
            <a:pPr algn="l"/>
            <a:r>
              <a:rPr sz="1500" b="1">
                <a:solidFill>
                  <a:srgbClr val="1C2B27"/>
                </a:solidFill>
                <a:latin typeface="Meiryo UI"/>
              </a:rPr>
              <a:t>施設契約情報</a:t>
            </a:r>
          </a:p>
        </p:txBody>
      </p:sp>
      <p:sp>
        <p:nvSpPr>
          <p:cNvPr id="20" name="TextBox 19"/>
          <p:cNvSpPr txBox="1"/>
          <p:nvPr/>
        </p:nvSpPr>
        <p:spPr>
          <a:xfrm>
            <a:off x="6949440" y="2587752"/>
            <a:ext cx="3657600" cy="457200"/>
          </a:xfrm>
          <a:prstGeom prst="rect">
            <a:avLst/>
          </a:prstGeom>
          <a:noFill/>
        </p:spPr>
        <p:txBody>
          <a:bodyPr wrap="square" anchor="ctr">
            <a:spAutoFit/>
          </a:bodyPr>
          <a:lstStyle/>
          <a:p>
            <a:pPr algn="l"/>
            <a:r>
              <a:rPr sz="1200" b="0">
                <a:solidFill>
                  <a:srgbClr val="5B6E68"/>
                </a:solidFill>
                <a:latin typeface="Meiryo UI"/>
              </a:rPr>
              <a:t>施設への入居・退去（Kintone自動連携）</a:t>
            </a:r>
          </a:p>
        </p:txBody>
      </p:sp>
      <p:sp>
        <p:nvSpPr>
          <p:cNvPr id="21" name="Rectangle 20"/>
          <p:cNvSpPr/>
          <p:nvPr/>
        </p:nvSpPr>
        <p:spPr>
          <a:xfrm>
            <a:off x="640080" y="3063240"/>
            <a:ext cx="384048" cy="384048"/>
          </a:xfrm>
          <a:prstGeom prst="rect">
            <a:avLst/>
          </a:prstGeom>
          <a:solidFill>
            <a:srgbClr val="1C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44952"/>
            <a:ext cx="384048" cy="384048"/>
          </a:xfrm>
          <a:prstGeom prst="rect">
            <a:avLst/>
          </a:prstGeom>
          <a:noFill/>
        </p:spPr>
        <p:txBody>
          <a:bodyPr wrap="square" anchor="ctr">
            <a:spAutoFit/>
          </a:bodyPr>
          <a:lstStyle/>
          <a:p>
            <a:pPr algn="ctr"/>
            <a:r>
              <a:rPr sz="1500" b="1">
                <a:solidFill>
                  <a:srgbClr val="FFFFFF"/>
                </a:solidFill>
                <a:latin typeface="Meiryo UI"/>
              </a:rPr>
              <a:t>4</a:t>
            </a:r>
          </a:p>
        </p:txBody>
      </p:sp>
      <p:sp>
        <p:nvSpPr>
          <p:cNvPr id="23" name="TextBox 22"/>
          <p:cNvSpPr txBox="1"/>
          <p:nvPr/>
        </p:nvSpPr>
        <p:spPr>
          <a:xfrm>
            <a:off x="1143000" y="3044952"/>
            <a:ext cx="5943600" cy="457200"/>
          </a:xfrm>
          <a:prstGeom prst="rect">
            <a:avLst/>
          </a:prstGeom>
          <a:noFill/>
        </p:spPr>
        <p:txBody>
          <a:bodyPr wrap="square" anchor="ctr">
            <a:spAutoFit/>
          </a:bodyPr>
          <a:lstStyle/>
          <a:p>
            <a:pPr algn="l"/>
            <a:r>
              <a:rPr sz="1500" b="1">
                <a:solidFill>
                  <a:srgbClr val="1C2B27"/>
                </a:solidFill>
                <a:latin typeface="Meiryo UI"/>
              </a:rPr>
              <a:t>入居施設名・居室番号・在宅区分</a:t>
            </a:r>
          </a:p>
        </p:txBody>
      </p:sp>
      <p:sp>
        <p:nvSpPr>
          <p:cNvPr id="24" name="TextBox 23"/>
          <p:cNvSpPr txBox="1"/>
          <p:nvPr/>
        </p:nvSpPr>
        <p:spPr>
          <a:xfrm>
            <a:off x="6949440" y="3044952"/>
            <a:ext cx="3657600" cy="457200"/>
          </a:xfrm>
          <a:prstGeom prst="rect">
            <a:avLst/>
          </a:prstGeom>
          <a:noFill/>
        </p:spPr>
        <p:txBody>
          <a:bodyPr wrap="square" anchor="ctr">
            <a:spAutoFit/>
          </a:bodyPr>
          <a:lstStyle/>
          <a:p>
            <a:pPr algn="l"/>
            <a:r>
              <a:rPr sz="1200" b="0">
                <a:solidFill>
                  <a:srgbClr val="5B6E68"/>
                </a:solidFill>
                <a:latin typeface="Meiryo UI"/>
              </a:rPr>
              <a:t>住まいの区分</a:t>
            </a:r>
          </a:p>
        </p:txBody>
      </p:sp>
      <p:sp>
        <p:nvSpPr>
          <p:cNvPr id="25" name="TextBox 24"/>
          <p:cNvSpPr txBox="1"/>
          <p:nvPr/>
        </p:nvSpPr>
        <p:spPr>
          <a:xfrm>
            <a:off x="10515600" y="3044952"/>
            <a:ext cx="1280160" cy="457200"/>
          </a:xfrm>
          <a:prstGeom prst="rect">
            <a:avLst/>
          </a:prstGeom>
          <a:noFill/>
        </p:spPr>
        <p:txBody>
          <a:bodyPr wrap="square" anchor="ctr">
            <a:spAutoFit/>
          </a:bodyPr>
          <a:lstStyle/>
          <a:p>
            <a:pPr algn="l"/>
            <a:r>
              <a:rPr sz="1100" b="1">
                <a:solidFill>
                  <a:srgbClr val="0E8A78"/>
                </a:solidFill>
                <a:latin typeface="Meiryo UI"/>
              </a:rPr>
              <a:t>🕐 履歴あり</a:t>
            </a:r>
          </a:p>
        </p:txBody>
      </p:sp>
      <p:sp>
        <p:nvSpPr>
          <p:cNvPr id="26" name="Rectangle 25"/>
          <p:cNvSpPr/>
          <p:nvPr/>
        </p:nvSpPr>
        <p:spPr>
          <a:xfrm>
            <a:off x="640080" y="3520440"/>
            <a:ext cx="384048" cy="384048"/>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502152"/>
            <a:ext cx="384048" cy="384048"/>
          </a:xfrm>
          <a:prstGeom prst="rect">
            <a:avLst/>
          </a:prstGeom>
          <a:noFill/>
        </p:spPr>
        <p:txBody>
          <a:bodyPr wrap="square" anchor="ctr">
            <a:spAutoFit/>
          </a:bodyPr>
          <a:lstStyle/>
          <a:p>
            <a:pPr algn="ctr"/>
            <a:r>
              <a:rPr sz="1500" b="1">
                <a:solidFill>
                  <a:srgbClr val="FFFFFF"/>
                </a:solidFill>
                <a:latin typeface="Meiryo UI"/>
              </a:rPr>
              <a:t>5</a:t>
            </a:r>
          </a:p>
        </p:txBody>
      </p:sp>
      <p:sp>
        <p:nvSpPr>
          <p:cNvPr id="28" name="TextBox 27"/>
          <p:cNvSpPr txBox="1"/>
          <p:nvPr/>
        </p:nvSpPr>
        <p:spPr>
          <a:xfrm>
            <a:off x="1143000" y="3502152"/>
            <a:ext cx="5943600" cy="457200"/>
          </a:xfrm>
          <a:prstGeom prst="rect">
            <a:avLst/>
          </a:prstGeom>
          <a:noFill/>
        </p:spPr>
        <p:txBody>
          <a:bodyPr wrap="square" anchor="ctr">
            <a:spAutoFit/>
          </a:bodyPr>
          <a:lstStyle/>
          <a:p>
            <a:pPr algn="l"/>
            <a:r>
              <a:rPr sz="1500" b="1">
                <a:solidFill>
                  <a:srgbClr val="1C2B27"/>
                </a:solidFill>
                <a:latin typeface="Meiryo UI"/>
              </a:rPr>
              <a:t>福祉用具利用者／レセプト対象／請求区分</a:t>
            </a:r>
          </a:p>
        </p:txBody>
      </p:sp>
      <p:sp>
        <p:nvSpPr>
          <p:cNvPr id="29" name="TextBox 28"/>
          <p:cNvSpPr txBox="1"/>
          <p:nvPr/>
        </p:nvSpPr>
        <p:spPr>
          <a:xfrm>
            <a:off x="6949440" y="3502152"/>
            <a:ext cx="3657600" cy="457200"/>
          </a:xfrm>
          <a:prstGeom prst="rect">
            <a:avLst/>
          </a:prstGeom>
          <a:noFill/>
        </p:spPr>
        <p:txBody>
          <a:bodyPr wrap="square" anchor="ctr">
            <a:spAutoFit/>
          </a:bodyPr>
          <a:lstStyle/>
          <a:p>
            <a:pPr algn="l"/>
            <a:r>
              <a:rPr sz="1200" b="0">
                <a:solidFill>
                  <a:srgbClr val="5B6E68"/>
                </a:solidFill>
                <a:latin typeface="Meiryo UI"/>
              </a:rPr>
              <a:t>福祉用具・請求にかかわる設定</a:t>
            </a:r>
          </a:p>
        </p:txBody>
      </p:sp>
      <p:sp>
        <p:nvSpPr>
          <p:cNvPr id="30" name="TextBox 29"/>
          <p:cNvSpPr txBox="1"/>
          <p:nvPr/>
        </p:nvSpPr>
        <p:spPr>
          <a:xfrm>
            <a:off x="10515600" y="3502152"/>
            <a:ext cx="1280160" cy="457200"/>
          </a:xfrm>
          <a:prstGeom prst="rect">
            <a:avLst/>
          </a:prstGeom>
          <a:noFill/>
        </p:spPr>
        <p:txBody>
          <a:bodyPr wrap="square" anchor="ctr">
            <a:spAutoFit/>
          </a:bodyPr>
          <a:lstStyle/>
          <a:p>
            <a:pPr algn="l"/>
            <a:r>
              <a:rPr sz="1100" b="1">
                <a:solidFill>
                  <a:srgbClr val="0E8A78"/>
                </a:solidFill>
                <a:latin typeface="Meiryo UI"/>
              </a:rPr>
              <a:t>🕐 履歴あり</a:t>
            </a:r>
          </a:p>
        </p:txBody>
      </p:sp>
      <p:sp>
        <p:nvSpPr>
          <p:cNvPr id="31" name="Rectangle 30"/>
          <p:cNvSpPr/>
          <p:nvPr/>
        </p:nvSpPr>
        <p:spPr>
          <a:xfrm>
            <a:off x="640080" y="3977639"/>
            <a:ext cx="384048"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959352"/>
            <a:ext cx="384048" cy="384048"/>
          </a:xfrm>
          <a:prstGeom prst="rect">
            <a:avLst/>
          </a:prstGeom>
          <a:noFill/>
        </p:spPr>
        <p:txBody>
          <a:bodyPr wrap="square" anchor="ctr">
            <a:spAutoFit/>
          </a:bodyPr>
          <a:lstStyle/>
          <a:p>
            <a:pPr algn="ctr"/>
            <a:r>
              <a:rPr sz="1500" b="1">
                <a:solidFill>
                  <a:srgbClr val="FFFFFF"/>
                </a:solidFill>
                <a:latin typeface="Meiryo UI"/>
              </a:rPr>
              <a:t>6</a:t>
            </a:r>
          </a:p>
        </p:txBody>
      </p:sp>
      <p:sp>
        <p:nvSpPr>
          <p:cNvPr id="33" name="TextBox 32"/>
          <p:cNvSpPr txBox="1"/>
          <p:nvPr/>
        </p:nvSpPr>
        <p:spPr>
          <a:xfrm>
            <a:off x="1143000" y="3959352"/>
            <a:ext cx="5943600" cy="457200"/>
          </a:xfrm>
          <a:prstGeom prst="rect">
            <a:avLst/>
          </a:prstGeom>
          <a:noFill/>
        </p:spPr>
        <p:txBody>
          <a:bodyPr wrap="square" anchor="ctr">
            <a:spAutoFit/>
          </a:bodyPr>
          <a:lstStyle/>
          <a:p>
            <a:pPr algn="l"/>
            <a:r>
              <a:rPr sz="1500" b="1">
                <a:solidFill>
                  <a:srgbClr val="1C2B27"/>
                </a:solidFill>
                <a:latin typeface="Meiryo UI"/>
              </a:rPr>
              <a:t>ケアマネージャー情報</a:t>
            </a:r>
          </a:p>
        </p:txBody>
      </p:sp>
      <p:sp>
        <p:nvSpPr>
          <p:cNvPr id="34" name="TextBox 33"/>
          <p:cNvSpPr txBox="1"/>
          <p:nvPr/>
        </p:nvSpPr>
        <p:spPr>
          <a:xfrm>
            <a:off x="6949440" y="3959352"/>
            <a:ext cx="3657600" cy="457200"/>
          </a:xfrm>
          <a:prstGeom prst="rect">
            <a:avLst/>
          </a:prstGeom>
          <a:noFill/>
        </p:spPr>
        <p:txBody>
          <a:bodyPr wrap="square" anchor="ctr">
            <a:spAutoFit/>
          </a:bodyPr>
          <a:lstStyle/>
          <a:p>
            <a:pPr algn="l"/>
            <a:r>
              <a:rPr sz="1200" b="0">
                <a:solidFill>
                  <a:srgbClr val="5B6E68"/>
                </a:solidFill>
                <a:latin typeface="Meiryo UI"/>
              </a:rPr>
              <a:t>居宅介護支援事業所・担当CM</a:t>
            </a:r>
          </a:p>
        </p:txBody>
      </p:sp>
      <p:sp>
        <p:nvSpPr>
          <p:cNvPr id="35" name="TextBox 34"/>
          <p:cNvSpPr txBox="1"/>
          <p:nvPr/>
        </p:nvSpPr>
        <p:spPr>
          <a:xfrm>
            <a:off x="10515600" y="3959352"/>
            <a:ext cx="1280160" cy="457200"/>
          </a:xfrm>
          <a:prstGeom prst="rect">
            <a:avLst/>
          </a:prstGeom>
          <a:noFill/>
        </p:spPr>
        <p:txBody>
          <a:bodyPr wrap="square" anchor="ctr">
            <a:spAutoFit/>
          </a:bodyPr>
          <a:lstStyle/>
          <a:p>
            <a:pPr algn="l"/>
            <a:r>
              <a:rPr sz="1100" b="1">
                <a:solidFill>
                  <a:srgbClr val="0E8A78"/>
                </a:solidFill>
                <a:latin typeface="Meiryo UI"/>
              </a:rPr>
              <a:t>🕐 履歴あり</a:t>
            </a:r>
          </a:p>
        </p:txBody>
      </p:sp>
      <p:sp>
        <p:nvSpPr>
          <p:cNvPr id="36" name="Rectangle 35"/>
          <p:cNvSpPr/>
          <p:nvPr/>
        </p:nvSpPr>
        <p:spPr>
          <a:xfrm>
            <a:off x="640080" y="4434840"/>
            <a:ext cx="384048" cy="384048"/>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416552"/>
            <a:ext cx="384048" cy="384048"/>
          </a:xfrm>
          <a:prstGeom prst="rect">
            <a:avLst/>
          </a:prstGeom>
          <a:noFill/>
        </p:spPr>
        <p:txBody>
          <a:bodyPr wrap="square" anchor="ctr">
            <a:spAutoFit/>
          </a:bodyPr>
          <a:lstStyle/>
          <a:p>
            <a:pPr algn="ctr"/>
            <a:r>
              <a:rPr sz="1500" b="1">
                <a:solidFill>
                  <a:srgbClr val="FFFFFF"/>
                </a:solidFill>
                <a:latin typeface="Meiryo UI"/>
              </a:rPr>
              <a:t>7</a:t>
            </a:r>
          </a:p>
        </p:txBody>
      </p:sp>
      <p:sp>
        <p:nvSpPr>
          <p:cNvPr id="38" name="TextBox 37"/>
          <p:cNvSpPr txBox="1"/>
          <p:nvPr/>
        </p:nvSpPr>
        <p:spPr>
          <a:xfrm>
            <a:off x="1143000" y="4416552"/>
            <a:ext cx="5943600" cy="457200"/>
          </a:xfrm>
          <a:prstGeom prst="rect">
            <a:avLst/>
          </a:prstGeom>
          <a:noFill/>
        </p:spPr>
        <p:txBody>
          <a:bodyPr wrap="square" anchor="ctr">
            <a:spAutoFit/>
          </a:bodyPr>
          <a:lstStyle/>
          <a:p>
            <a:pPr algn="l"/>
            <a:r>
              <a:rPr sz="1500" b="1">
                <a:solidFill>
                  <a:srgbClr val="1C2B27"/>
                </a:solidFill>
                <a:latin typeface="Meiryo UI"/>
              </a:rPr>
              <a:t>介護保険情報</a:t>
            </a:r>
          </a:p>
        </p:txBody>
      </p:sp>
      <p:sp>
        <p:nvSpPr>
          <p:cNvPr id="39" name="TextBox 38"/>
          <p:cNvSpPr txBox="1"/>
          <p:nvPr/>
        </p:nvSpPr>
        <p:spPr>
          <a:xfrm>
            <a:off x="6949440" y="4416552"/>
            <a:ext cx="3657600" cy="457200"/>
          </a:xfrm>
          <a:prstGeom prst="rect">
            <a:avLst/>
          </a:prstGeom>
          <a:noFill/>
        </p:spPr>
        <p:txBody>
          <a:bodyPr wrap="square" anchor="ctr">
            <a:spAutoFit/>
          </a:bodyPr>
          <a:lstStyle/>
          <a:p>
            <a:pPr algn="l"/>
            <a:r>
              <a:rPr sz="1200" b="0">
                <a:solidFill>
                  <a:srgbClr val="5B6E68"/>
                </a:solidFill>
                <a:latin typeface="Meiryo UI"/>
              </a:rPr>
              <a:t>要介護度・負担割合・各種証</a:t>
            </a:r>
          </a:p>
        </p:txBody>
      </p:sp>
      <p:sp>
        <p:nvSpPr>
          <p:cNvPr id="40" name="TextBox 39"/>
          <p:cNvSpPr txBox="1"/>
          <p:nvPr/>
        </p:nvSpPr>
        <p:spPr>
          <a:xfrm>
            <a:off x="10515600" y="4416552"/>
            <a:ext cx="1280160" cy="457200"/>
          </a:xfrm>
          <a:prstGeom prst="rect">
            <a:avLst/>
          </a:prstGeom>
          <a:noFill/>
        </p:spPr>
        <p:txBody>
          <a:bodyPr wrap="square" anchor="ctr">
            <a:spAutoFit/>
          </a:bodyPr>
          <a:lstStyle/>
          <a:p>
            <a:pPr algn="l"/>
            <a:r>
              <a:rPr sz="1100" b="1">
                <a:solidFill>
                  <a:srgbClr val="0E8A78"/>
                </a:solidFill>
                <a:latin typeface="Meiryo UI"/>
              </a:rPr>
              <a:t>🕐 履歴あり</a:t>
            </a:r>
          </a:p>
        </p:txBody>
      </p:sp>
      <p:sp>
        <p:nvSpPr>
          <p:cNvPr id="41" name="Rectangle 40"/>
          <p:cNvSpPr/>
          <p:nvPr/>
        </p:nvSpPr>
        <p:spPr>
          <a:xfrm>
            <a:off x="640080" y="4892040"/>
            <a:ext cx="384048" cy="384048"/>
          </a:xfrm>
          <a:prstGeom prst="rect">
            <a:avLst/>
          </a:prstGeom>
          <a:solidFill>
            <a:srgbClr val="1C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873752"/>
            <a:ext cx="384048" cy="384048"/>
          </a:xfrm>
          <a:prstGeom prst="rect">
            <a:avLst/>
          </a:prstGeom>
          <a:noFill/>
        </p:spPr>
        <p:txBody>
          <a:bodyPr wrap="square" anchor="ctr">
            <a:spAutoFit/>
          </a:bodyPr>
          <a:lstStyle/>
          <a:p>
            <a:pPr algn="ctr"/>
            <a:r>
              <a:rPr sz="1500" b="1">
                <a:solidFill>
                  <a:srgbClr val="FFFFFF"/>
                </a:solidFill>
                <a:latin typeface="Meiryo UI"/>
              </a:rPr>
              <a:t>8</a:t>
            </a:r>
          </a:p>
        </p:txBody>
      </p:sp>
      <p:sp>
        <p:nvSpPr>
          <p:cNvPr id="43" name="TextBox 42"/>
          <p:cNvSpPr txBox="1"/>
          <p:nvPr/>
        </p:nvSpPr>
        <p:spPr>
          <a:xfrm>
            <a:off x="1143000" y="4873752"/>
            <a:ext cx="5943600" cy="457200"/>
          </a:xfrm>
          <a:prstGeom prst="rect">
            <a:avLst/>
          </a:prstGeom>
          <a:noFill/>
        </p:spPr>
        <p:txBody>
          <a:bodyPr wrap="square" anchor="ctr">
            <a:spAutoFit/>
          </a:bodyPr>
          <a:lstStyle/>
          <a:p>
            <a:pPr algn="l"/>
            <a:r>
              <a:rPr sz="1500" b="1">
                <a:solidFill>
                  <a:srgbClr val="1C2B27"/>
                </a:solidFill>
                <a:latin typeface="Meiryo UI"/>
              </a:rPr>
              <a:t>支払い区分</a:t>
            </a:r>
          </a:p>
        </p:txBody>
      </p:sp>
      <p:sp>
        <p:nvSpPr>
          <p:cNvPr id="44" name="TextBox 43"/>
          <p:cNvSpPr txBox="1"/>
          <p:nvPr/>
        </p:nvSpPr>
        <p:spPr>
          <a:xfrm>
            <a:off x="6949440" y="4873752"/>
            <a:ext cx="3657600" cy="457200"/>
          </a:xfrm>
          <a:prstGeom prst="rect">
            <a:avLst/>
          </a:prstGeom>
          <a:noFill/>
        </p:spPr>
        <p:txBody>
          <a:bodyPr wrap="square" anchor="ctr">
            <a:spAutoFit/>
          </a:bodyPr>
          <a:lstStyle/>
          <a:p>
            <a:pPr algn="l"/>
            <a:r>
              <a:rPr sz="1200" b="0">
                <a:solidFill>
                  <a:srgbClr val="5B6E68"/>
                </a:solidFill>
                <a:latin typeface="Meiryo UI"/>
              </a:rPr>
              <a:t>生保・非生保</a:t>
            </a:r>
          </a:p>
        </p:txBody>
      </p:sp>
      <p:sp>
        <p:nvSpPr>
          <p:cNvPr id="45" name="TextBox 44"/>
          <p:cNvSpPr txBox="1"/>
          <p:nvPr/>
        </p:nvSpPr>
        <p:spPr>
          <a:xfrm>
            <a:off x="10515600" y="4873752"/>
            <a:ext cx="1280160" cy="457200"/>
          </a:xfrm>
          <a:prstGeom prst="rect">
            <a:avLst/>
          </a:prstGeom>
          <a:noFill/>
        </p:spPr>
        <p:txBody>
          <a:bodyPr wrap="square" anchor="ctr">
            <a:spAutoFit/>
          </a:bodyPr>
          <a:lstStyle/>
          <a:p>
            <a:pPr algn="l"/>
            <a:r>
              <a:rPr sz="1100" b="1">
                <a:solidFill>
                  <a:srgbClr val="0E8A78"/>
                </a:solidFill>
                <a:latin typeface="Meiryo UI"/>
              </a:rPr>
              <a:t>🕐 履歴あり</a:t>
            </a:r>
          </a:p>
        </p:txBody>
      </p:sp>
      <p:sp>
        <p:nvSpPr>
          <p:cNvPr id="46" name="Rectangle 45"/>
          <p:cNvSpPr/>
          <p:nvPr/>
        </p:nvSpPr>
        <p:spPr>
          <a:xfrm>
            <a:off x="640080" y="5349240"/>
            <a:ext cx="384048" cy="384048"/>
          </a:xfrm>
          <a:prstGeom prst="rect">
            <a:avLst/>
          </a:prstGeom>
          <a:solidFill>
            <a:srgbClr val="1C2B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330952"/>
            <a:ext cx="384048" cy="384048"/>
          </a:xfrm>
          <a:prstGeom prst="rect">
            <a:avLst/>
          </a:prstGeom>
          <a:noFill/>
        </p:spPr>
        <p:txBody>
          <a:bodyPr wrap="square" anchor="ctr">
            <a:spAutoFit/>
          </a:bodyPr>
          <a:lstStyle/>
          <a:p>
            <a:pPr algn="ctr"/>
            <a:r>
              <a:rPr sz="1500" b="1">
                <a:solidFill>
                  <a:srgbClr val="FFFFFF"/>
                </a:solidFill>
                <a:latin typeface="Meiryo UI"/>
              </a:rPr>
              <a:t>9</a:t>
            </a:r>
          </a:p>
        </p:txBody>
      </p:sp>
      <p:sp>
        <p:nvSpPr>
          <p:cNvPr id="48" name="TextBox 47"/>
          <p:cNvSpPr txBox="1"/>
          <p:nvPr/>
        </p:nvSpPr>
        <p:spPr>
          <a:xfrm>
            <a:off x="1143000" y="5330952"/>
            <a:ext cx="5943600" cy="457200"/>
          </a:xfrm>
          <a:prstGeom prst="rect">
            <a:avLst/>
          </a:prstGeom>
          <a:noFill/>
        </p:spPr>
        <p:txBody>
          <a:bodyPr wrap="square" anchor="ctr">
            <a:spAutoFit/>
          </a:bodyPr>
          <a:lstStyle/>
          <a:p>
            <a:pPr algn="l"/>
            <a:r>
              <a:rPr sz="1500" b="1">
                <a:solidFill>
                  <a:srgbClr val="1C2B27"/>
                </a:solidFill>
                <a:latin typeface="Meiryo UI"/>
              </a:rPr>
              <a:t>キーパーソン</a:t>
            </a:r>
          </a:p>
        </p:txBody>
      </p:sp>
      <p:sp>
        <p:nvSpPr>
          <p:cNvPr id="49" name="TextBox 48"/>
          <p:cNvSpPr txBox="1"/>
          <p:nvPr/>
        </p:nvSpPr>
        <p:spPr>
          <a:xfrm>
            <a:off x="6949440" y="5330952"/>
            <a:ext cx="3657600" cy="457200"/>
          </a:xfrm>
          <a:prstGeom prst="rect">
            <a:avLst/>
          </a:prstGeom>
          <a:noFill/>
        </p:spPr>
        <p:txBody>
          <a:bodyPr wrap="square" anchor="ctr">
            <a:spAutoFit/>
          </a:bodyPr>
          <a:lstStyle/>
          <a:p>
            <a:pPr algn="l"/>
            <a:r>
              <a:rPr sz="1200" b="0">
                <a:solidFill>
                  <a:srgbClr val="5B6E68"/>
                </a:solidFill>
                <a:latin typeface="Meiryo UI"/>
              </a:rPr>
              <a:t>ご家族など連絡先</a:t>
            </a:r>
          </a:p>
        </p:txBody>
      </p:sp>
      <p:sp>
        <p:nvSpPr>
          <p:cNvPr id="50" name="Rectangle 49"/>
          <p:cNvSpPr/>
          <p:nvPr/>
        </p:nvSpPr>
        <p:spPr>
          <a:xfrm>
            <a:off x="640080" y="5806440"/>
            <a:ext cx="384048"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5788152"/>
            <a:ext cx="384048" cy="384048"/>
          </a:xfrm>
          <a:prstGeom prst="rect">
            <a:avLst/>
          </a:prstGeom>
          <a:noFill/>
        </p:spPr>
        <p:txBody>
          <a:bodyPr wrap="square" anchor="ctr">
            <a:spAutoFit/>
          </a:bodyPr>
          <a:lstStyle/>
          <a:p>
            <a:pPr algn="ctr"/>
            <a:r>
              <a:rPr sz="1500" b="1">
                <a:solidFill>
                  <a:srgbClr val="FFFFFF"/>
                </a:solidFill>
                <a:latin typeface="Meiryo UI"/>
              </a:rPr>
              <a:t>10</a:t>
            </a:r>
          </a:p>
        </p:txBody>
      </p:sp>
      <p:sp>
        <p:nvSpPr>
          <p:cNvPr id="52" name="TextBox 51"/>
          <p:cNvSpPr txBox="1"/>
          <p:nvPr/>
        </p:nvSpPr>
        <p:spPr>
          <a:xfrm>
            <a:off x="1143000" y="5788152"/>
            <a:ext cx="5943600" cy="457200"/>
          </a:xfrm>
          <a:prstGeom prst="rect">
            <a:avLst/>
          </a:prstGeom>
          <a:noFill/>
        </p:spPr>
        <p:txBody>
          <a:bodyPr wrap="square" anchor="ctr">
            <a:spAutoFit/>
          </a:bodyPr>
          <a:lstStyle/>
          <a:p>
            <a:pPr algn="l"/>
            <a:r>
              <a:rPr sz="1500" b="1">
                <a:solidFill>
                  <a:srgbClr val="1C2B27"/>
                </a:solidFill>
                <a:latin typeface="Meiryo UI"/>
              </a:rPr>
              <a:t>カイポケ登録（基本情報）</a:t>
            </a:r>
          </a:p>
        </p:txBody>
      </p:sp>
      <p:sp>
        <p:nvSpPr>
          <p:cNvPr id="53" name="TextBox 52"/>
          <p:cNvSpPr txBox="1"/>
          <p:nvPr/>
        </p:nvSpPr>
        <p:spPr>
          <a:xfrm>
            <a:off x="6949440" y="5788152"/>
            <a:ext cx="3657600" cy="457200"/>
          </a:xfrm>
          <a:prstGeom prst="rect">
            <a:avLst/>
          </a:prstGeom>
          <a:noFill/>
        </p:spPr>
        <p:txBody>
          <a:bodyPr wrap="square" anchor="ctr">
            <a:spAutoFit/>
          </a:bodyPr>
          <a:lstStyle/>
          <a:p>
            <a:pPr algn="l"/>
            <a:r>
              <a:rPr sz="1200" b="0">
                <a:solidFill>
                  <a:srgbClr val="5B6E68"/>
                </a:solidFill>
                <a:latin typeface="Meiryo UI"/>
              </a:rPr>
              <a:t>カイポケへの登録状況</a:t>
            </a:r>
          </a:p>
        </p:txBody>
      </p:sp>
      <p:sp>
        <p:nvSpPr>
          <p:cNvPr id="54" name="TextBox 53"/>
          <p:cNvSpPr txBox="1"/>
          <p:nvPr/>
        </p:nvSpPr>
        <p:spPr>
          <a:xfrm>
            <a:off x="1143000" y="6309359"/>
            <a:ext cx="10058400" cy="365760"/>
          </a:xfrm>
          <a:prstGeom prst="rect">
            <a:avLst/>
          </a:prstGeom>
          <a:noFill/>
        </p:spPr>
        <p:txBody>
          <a:bodyPr wrap="square" anchor="t">
            <a:spAutoFit/>
          </a:bodyPr>
          <a:lstStyle/>
          <a:p>
            <a:pPr algn="l"/>
            <a:r>
              <a:rPr sz="1200" b="0">
                <a:solidFill>
                  <a:srgbClr val="5B6E68"/>
                </a:solidFill>
                <a:latin typeface="Meiryo UI"/>
              </a:rPr>
              <a:t>※「🕐」がある項目は、いつから変わったかの履歴を残せます（最後の章参照）。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FIELDS</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項目くわしく ①②　基本プロフィール</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TextBox 7"/>
          <p:cNvSpPr txBox="1"/>
          <p:nvPr/>
        </p:nvSpPr>
        <p:spPr>
          <a:xfrm>
            <a:off x="640080" y="1691640"/>
            <a:ext cx="10058400" cy="411480"/>
          </a:xfrm>
          <a:prstGeom prst="rect">
            <a:avLst/>
          </a:prstGeom>
          <a:noFill/>
        </p:spPr>
        <p:txBody>
          <a:bodyPr wrap="square" anchor="t">
            <a:spAutoFit/>
          </a:bodyPr>
          <a:lstStyle/>
          <a:p>
            <a:pPr algn="l"/>
            <a:r>
              <a:rPr sz="1600" b="1">
                <a:solidFill>
                  <a:srgbClr val="0E8A78"/>
                </a:solidFill>
                <a:latin typeface="Meiryo UI"/>
              </a:rPr>
              <a:t>① あおぞらID・事業所</a:t>
            </a:r>
          </a:p>
        </p:txBody>
      </p:sp>
      <p:graphicFrame>
        <p:nvGraphicFramePr>
          <p:cNvPr id="9" name="Table 8"/>
          <p:cNvGraphicFramePr>
            <a:graphicFrameLocks noGrp="1"/>
          </p:cNvGraphicFramePr>
          <p:nvPr/>
        </p:nvGraphicFramePr>
        <p:xfrm>
          <a:off x="640080" y="2103120"/>
          <a:ext cx="10881360" cy="1188720"/>
        </p:xfrm>
        <a:graphic>
          <a:graphicData uri="http://schemas.openxmlformats.org/drawingml/2006/table">
            <a:tbl>
              <a:tblPr>
                <a:tableStyleId>{5C22544A-7EE6-4342-B048-85BDC9FD1C3A}</a:tableStyleId>
              </a:tblPr>
              <a:tblGrid>
                <a:gridCol w="2194560"/>
                <a:gridCol w="5486400"/>
                <a:gridCol w="3200400"/>
              </a:tblGrid>
              <a:tr h="396240">
                <a:tc>
                  <a:txBody>
                    <a:bodyPr wrap="square"/>
                    <a:lstStyle/>
                    <a:p>
                      <a:pPr algn="l"/>
                      <a:r>
                        <a:rPr sz="1300" b="1">
                          <a:solidFill>
                            <a:srgbClr val="FFFFFF"/>
                          </a:solidFill>
                          <a:latin typeface="Meiryo UI"/>
                        </a:rPr>
                        <a:t>項目</a:t>
                      </a:r>
                    </a:p>
                  </a:txBody>
                  <a:tcPr anchor="ctr" marL="91440" marR="73152" marT="36576" marB="36576">
                    <a:solidFill>
                      <a:srgbClr val="0E8A78"/>
                    </a:solidFill>
                  </a:tcPr>
                </a:tc>
                <a:tc>
                  <a:txBody>
                    <a:bodyPr wrap="square"/>
                    <a:lstStyle/>
                    <a:p>
                      <a:pPr algn="l"/>
                      <a:r>
                        <a:rPr sz="1300" b="1">
                          <a:solidFill>
                            <a:srgbClr val="FFFFFF"/>
                          </a:solidFill>
                          <a:latin typeface="Meiryo UI"/>
                        </a:rPr>
                        <a:t>入れる内容</a:t>
                      </a:r>
                    </a:p>
                  </a:txBody>
                  <a:tcPr anchor="ctr" marL="91440" marR="73152" marT="36576" marB="36576">
                    <a:solidFill>
                      <a:srgbClr val="0E8A78"/>
                    </a:solidFill>
                  </a:tcPr>
                </a:tc>
                <a:tc>
                  <a:txBody>
                    <a:bodyPr wrap="square"/>
                    <a:lstStyle/>
                    <a:p>
                      <a:pPr algn="l"/>
                      <a:r>
                        <a:rPr sz="1300" b="1">
                          <a:solidFill>
                            <a:srgbClr val="FFFFFF"/>
                          </a:solidFill>
                          <a:latin typeface="Meiryo UI"/>
                        </a:rPr>
                        <a:t>選べる値／形式</a:t>
                      </a:r>
                    </a:p>
                  </a:txBody>
                  <a:tcPr anchor="ctr" marL="91440" marR="73152" marT="36576" marB="36576">
                    <a:solidFill>
                      <a:srgbClr val="0E8A78"/>
                    </a:solidFill>
                  </a:tcPr>
                </a:tc>
              </a:tr>
              <a:tr h="396240">
                <a:tc>
                  <a:txBody>
                    <a:bodyPr wrap="square"/>
                    <a:lstStyle/>
                    <a:p>
                      <a:pPr algn="l"/>
                      <a:r>
                        <a:rPr sz="1300" b="1">
                          <a:solidFill>
                            <a:srgbClr val="1C2B27"/>
                          </a:solidFill>
                          <a:latin typeface="Meiryo UI"/>
                        </a:rPr>
                        <a:t>あおぞらID</a:t>
                      </a:r>
                    </a:p>
                  </a:txBody>
                  <a:tcPr anchor="ctr" marL="91440" marR="73152" marT="36576" marB="36576">
                    <a:solidFill>
                      <a:srgbClr val="FFFFFF"/>
                    </a:solidFill>
                  </a:tcPr>
                </a:tc>
                <a:tc>
                  <a:txBody>
                    <a:bodyPr wrap="square"/>
                    <a:lstStyle/>
                    <a:p>
                      <a:pPr algn="l"/>
                      <a:r>
                        <a:rPr sz="1300" b="0">
                          <a:solidFill>
                            <a:srgbClr val="1C2B27"/>
                          </a:solidFill>
                          <a:latin typeface="Meiryo UI"/>
                        </a:rPr>
                        <a:t>利用者を見分ける番号。基本は変更しません</a:t>
                      </a:r>
                    </a:p>
                  </a:txBody>
                  <a:tcPr anchor="ctr" marL="91440" marR="73152" marT="36576" marB="36576">
                    <a:solidFill>
                      <a:srgbClr val="FFFFFF"/>
                    </a:solidFill>
                  </a:tcPr>
                </a:tc>
                <a:tc>
                  <a:txBody>
                    <a:bodyPr wrap="square"/>
                    <a:lstStyle/>
                    <a:p>
                      <a:pPr algn="l"/>
                      <a:r>
                        <a:rPr sz="1300" b="0">
                          <a:solidFill>
                            <a:srgbClr val="1C2B27"/>
                          </a:solidFill>
                          <a:latin typeface="Meiryo UI"/>
                        </a:rPr>
                        <a:t>AZ-0001 などの形式</a:t>
                      </a:r>
                    </a:p>
                  </a:txBody>
                  <a:tcPr anchor="ctr" marL="91440" marR="73152" marT="36576" marB="36576">
                    <a:solidFill>
                      <a:srgbClr val="FFFFFF"/>
                    </a:solidFill>
                  </a:tcPr>
                </a:tc>
              </a:tr>
              <a:tr h="396240">
                <a:tc>
                  <a:txBody>
                    <a:bodyPr wrap="square"/>
                    <a:lstStyle/>
                    <a:p>
                      <a:pPr algn="l"/>
                      <a:r>
                        <a:rPr sz="1300" b="1">
                          <a:solidFill>
                            <a:srgbClr val="1C2B27"/>
                          </a:solidFill>
                          <a:latin typeface="Meiryo UI"/>
                        </a:rPr>
                        <a:t>事業所 🕐</a:t>
                      </a:r>
                    </a:p>
                  </a:txBody>
                  <a:tcPr anchor="ctr" marL="91440" marR="73152" marT="36576" marB="36576">
                    <a:solidFill>
                      <a:srgbClr val="E2F0EC"/>
                    </a:solidFill>
                  </a:tcPr>
                </a:tc>
                <a:tc>
                  <a:txBody>
                    <a:bodyPr wrap="square"/>
                    <a:lstStyle/>
                    <a:p>
                      <a:pPr algn="l"/>
                      <a:r>
                        <a:rPr sz="1300" b="0">
                          <a:solidFill>
                            <a:srgbClr val="1C2B27"/>
                          </a:solidFill>
                          <a:latin typeface="Meiryo UI"/>
                        </a:rPr>
                        <a:t>担当事業所。売上・請求はこの事業所で集計</a:t>
                      </a:r>
                    </a:p>
                  </a:txBody>
                  <a:tcPr anchor="ctr" marL="91440" marR="73152" marT="36576" marB="36576">
                    <a:solidFill>
                      <a:srgbClr val="E2F0EC"/>
                    </a:solidFill>
                  </a:tcPr>
                </a:tc>
                <a:tc>
                  <a:txBody>
                    <a:bodyPr wrap="square"/>
                    <a:lstStyle/>
                    <a:p>
                      <a:pPr algn="l"/>
                      <a:r>
                        <a:rPr sz="1300" b="0">
                          <a:solidFill>
                            <a:srgbClr val="1C2B27"/>
                          </a:solidFill>
                          <a:latin typeface="Meiryo UI"/>
                        </a:rPr>
                        <a:t>鹿児島（ACG）／福岡（Lichi）</a:t>
                      </a:r>
                    </a:p>
                  </a:txBody>
                  <a:tcPr anchor="ctr" marL="91440" marR="73152" marT="36576" marB="36576">
                    <a:solidFill>
                      <a:srgbClr val="E2F0EC"/>
                    </a:solidFill>
                  </a:tcPr>
                </a:tc>
              </a:tr>
            </a:tbl>
          </a:graphicData>
        </a:graphic>
      </p:graphicFrame>
      <p:sp>
        <p:nvSpPr>
          <p:cNvPr id="10" name="TextBox 9"/>
          <p:cNvSpPr txBox="1"/>
          <p:nvPr/>
        </p:nvSpPr>
        <p:spPr>
          <a:xfrm>
            <a:off x="640080" y="3611880"/>
            <a:ext cx="10058400" cy="411480"/>
          </a:xfrm>
          <a:prstGeom prst="rect">
            <a:avLst/>
          </a:prstGeom>
          <a:noFill/>
        </p:spPr>
        <p:txBody>
          <a:bodyPr wrap="square" anchor="t">
            <a:spAutoFit/>
          </a:bodyPr>
          <a:lstStyle/>
          <a:p>
            <a:pPr algn="l"/>
            <a:r>
              <a:rPr sz="1600" b="1">
                <a:solidFill>
                  <a:srgbClr val="0E8A78"/>
                </a:solidFill>
                <a:latin typeface="Meiryo UI"/>
              </a:rPr>
              <a:t>② 氏名・フリガナ・生年月日・性別</a:t>
            </a:r>
          </a:p>
        </p:txBody>
      </p:sp>
      <p:graphicFrame>
        <p:nvGraphicFramePr>
          <p:cNvPr id="11" name="Table 10"/>
          <p:cNvGraphicFramePr>
            <a:graphicFrameLocks noGrp="1"/>
          </p:cNvGraphicFramePr>
          <p:nvPr/>
        </p:nvGraphicFramePr>
        <p:xfrm>
          <a:off x="640080" y="4023360"/>
          <a:ext cx="10881360" cy="1920240"/>
        </p:xfrm>
        <a:graphic>
          <a:graphicData uri="http://schemas.openxmlformats.org/drawingml/2006/table">
            <a:tbl>
              <a:tblPr>
                <a:tableStyleId>{5C22544A-7EE6-4342-B048-85BDC9FD1C3A}</a:tableStyleId>
              </a:tblPr>
              <a:tblGrid>
                <a:gridCol w="2194560"/>
                <a:gridCol w="5486400"/>
                <a:gridCol w="3200400"/>
              </a:tblGrid>
              <a:tr h="384048">
                <a:tc>
                  <a:txBody>
                    <a:bodyPr wrap="square"/>
                    <a:lstStyle/>
                    <a:p>
                      <a:pPr algn="l"/>
                      <a:r>
                        <a:rPr sz="1300" b="1">
                          <a:solidFill>
                            <a:srgbClr val="FFFFFF"/>
                          </a:solidFill>
                          <a:latin typeface="Meiryo UI"/>
                        </a:rPr>
                        <a:t>項目</a:t>
                      </a:r>
                    </a:p>
                  </a:txBody>
                  <a:tcPr anchor="ctr" marL="91440" marR="73152" marT="36576" marB="36576">
                    <a:solidFill>
                      <a:srgbClr val="0E8A78"/>
                    </a:solidFill>
                  </a:tcPr>
                </a:tc>
                <a:tc>
                  <a:txBody>
                    <a:bodyPr wrap="square"/>
                    <a:lstStyle/>
                    <a:p>
                      <a:pPr algn="l"/>
                      <a:r>
                        <a:rPr sz="1300" b="1">
                          <a:solidFill>
                            <a:srgbClr val="FFFFFF"/>
                          </a:solidFill>
                          <a:latin typeface="Meiryo UI"/>
                        </a:rPr>
                        <a:t>入れる内容</a:t>
                      </a:r>
                    </a:p>
                  </a:txBody>
                  <a:tcPr anchor="ctr" marL="91440" marR="73152" marT="36576" marB="36576">
                    <a:solidFill>
                      <a:srgbClr val="0E8A78"/>
                    </a:solidFill>
                  </a:tcPr>
                </a:tc>
                <a:tc>
                  <a:txBody>
                    <a:bodyPr wrap="square"/>
                    <a:lstStyle/>
                    <a:p>
                      <a:pPr algn="l"/>
                      <a:r>
                        <a:rPr sz="1300" b="1">
                          <a:solidFill>
                            <a:srgbClr val="FFFFFF"/>
                          </a:solidFill>
                          <a:latin typeface="Meiryo UI"/>
                        </a:rPr>
                        <a:t>選べる値／形式</a:t>
                      </a:r>
                    </a:p>
                  </a:txBody>
                  <a:tcPr anchor="ctr" marL="91440" marR="73152" marT="36576" marB="36576">
                    <a:solidFill>
                      <a:srgbClr val="0E8A78"/>
                    </a:solidFill>
                  </a:tcPr>
                </a:tc>
              </a:tr>
              <a:tr h="384048">
                <a:tc>
                  <a:txBody>
                    <a:bodyPr wrap="square"/>
                    <a:lstStyle/>
                    <a:p>
                      <a:pPr algn="l"/>
                      <a:r>
                        <a:rPr sz="1300" b="1">
                          <a:solidFill>
                            <a:srgbClr val="1C2B27"/>
                          </a:solidFill>
                          <a:latin typeface="Meiryo UI"/>
                        </a:rPr>
                        <a:t>氏名</a:t>
                      </a:r>
                    </a:p>
                  </a:txBody>
                  <a:tcPr anchor="ctr" marL="91440" marR="73152" marT="36576" marB="36576">
                    <a:solidFill>
                      <a:srgbClr val="FFFFFF"/>
                    </a:solidFill>
                  </a:tcPr>
                </a:tc>
                <a:tc>
                  <a:txBody>
                    <a:bodyPr wrap="square"/>
                    <a:lstStyle/>
                    <a:p>
                      <a:pPr algn="l"/>
                      <a:r>
                        <a:rPr sz="1300" b="0">
                          <a:solidFill>
                            <a:srgbClr val="1C2B27"/>
                          </a:solidFill>
                          <a:latin typeface="Meiryo UI"/>
                        </a:rPr>
                        <a:t>利用者のお名前</a:t>
                      </a:r>
                    </a:p>
                  </a:txBody>
                  <a:tcPr anchor="ctr" marL="91440" marR="73152" marT="36576" marB="36576">
                    <a:solidFill>
                      <a:srgbClr val="FFFFFF"/>
                    </a:solidFill>
                  </a:tcPr>
                </a:tc>
                <a:tc>
                  <a:txBody>
                    <a:bodyPr wrap="square"/>
                    <a:lstStyle/>
                    <a:p>
                      <a:pPr algn="l"/>
                      <a:r>
                        <a:rPr sz="1300" b="0">
                          <a:solidFill>
                            <a:srgbClr val="1C2B27"/>
                          </a:solidFill>
                          <a:latin typeface="Meiryo UI"/>
                        </a:rPr>
                        <a:t>文字入力</a:t>
                      </a:r>
                    </a:p>
                  </a:txBody>
                  <a:tcPr anchor="ctr" marL="91440" marR="73152" marT="36576" marB="36576">
                    <a:solidFill>
                      <a:srgbClr val="FFFFFF"/>
                    </a:solidFill>
                  </a:tcPr>
                </a:tc>
              </a:tr>
              <a:tr h="384048">
                <a:tc>
                  <a:txBody>
                    <a:bodyPr wrap="square"/>
                    <a:lstStyle/>
                    <a:p>
                      <a:pPr algn="l"/>
                      <a:r>
                        <a:rPr sz="1300" b="1">
                          <a:solidFill>
                            <a:srgbClr val="1C2B27"/>
                          </a:solidFill>
                          <a:latin typeface="Meiryo UI"/>
                        </a:rPr>
                        <a:t>フリガナ</a:t>
                      </a:r>
                    </a:p>
                  </a:txBody>
                  <a:tcPr anchor="ctr" marL="91440" marR="73152" marT="36576" marB="36576">
                    <a:solidFill>
                      <a:srgbClr val="E2F0EC"/>
                    </a:solidFill>
                  </a:tcPr>
                </a:tc>
                <a:tc>
                  <a:txBody>
                    <a:bodyPr wrap="square"/>
                    <a:lstStyle/>
                    <a:p>
                      <a:pPr algn="l"/>
                      <a:r>
                        <a:rPr sz="1300" b="0">
                          <a:solidFill>
                            <a:srgbClr val="1C2B27"/>
                          </a:solidFill>
                          <a:latin typeface="Meiryo UI"/>
                        </a:rPr>
                        <a:t>検索・あいうえお順の並び替えに使用</a:t>
                      </a:r>
                    </a:p>
                  </a:txBody>
                  <a:tcPr anchor="ctr" marL="91440" marR="73152" marT="36576" marB="36576">
                    <a:solidFill>
                      <a:srgbClr val="E2F0EC"/>
                    </a:solidFill>
                  </a:tcPr>
                </a:tc>
                <a:tc>
                  <a:txBody>
                    <a:bodyPr wrap="square"/>
                    <a:lstStyle/>
                    <a:p>
                      <a:pPr algn="l"/>
                      <a:r>
                        <a:rPr sz="1300" b="0">
                          <a:solidFill>
                            <a:srgbClr val="1C2B27"/>
                          </a:solidFill>
                          <a:latin typeface="Meiryo UI"/>
                        </a:rPr>
                        <a:t>カナ入力</a:t>
                      </a:r>
                    </a:p>
                  </a:txBody>
                  <a:tcPr anchor="ctr" marL="91440" marR="73152" marT="36576" marB="36576">
                    <a:solidFill>
                      <a:srgbClr val="E2F0EC"/>
                    </a:solidFill>
                  </a:tcPr>
                </a:tc>
              </a:tr>
              <a:tr h="384048">
                <a:tc>
                  <a:txBody>
                    <a:bodyPr wrap="square"/>
                    <a:lstStyle/>
                    <a:p>
                      <a:pPr algn="l"/>
                      <a:r>
                        <a:rPr sz="1300" b="1">
                          <a:solidFill>
                            <a:srgbClr val="1C2B27"/>
                          </a:solidFill>
                          <a:latin typeface="Meiryo UI"/>
                        </a:rPr>
                        <a:t>生年月日</a:t>
                      </a:r>
                    </a:p>
                  </a:txBody>
                  <a:tcPr anchor="ctr" marL="91440" marR="73152" marT="36576" marB="36576">
                    <a:solidFill>
                      <a:srgbClr val="FFFFFF"/>
                    </a:solidFill>
                  </a:tcPr>
                </a:tc>
                <a:tc>
                  <a:txBody>
                    <a:bodyPr wrap="square"/>
                    <a:lstStyle/>
                    <a:p>
                      <a:pPr algn="l"/>
                      <a:r>
                        <a:rPr sz="1300" b="0">
                          <a:solidFill>
                            <a:srgbClr val="1C2B27"/>
                          </a:solidFill>
                          <a:latin typeface="Meiryo UI"/>
                        </a:rPr>
                        <a:t>カレンダーから選択</a:t>
                      </a:r>
                    </a:p>
                  </a:txBody>
                  <a:tcPr anchor="ctr" marL="91440" marR="73152" marT="36576" marB="36576">
                    <a:solidFill>
                      <a:srgbClr val="FFFFFF"/>
                    </a:solidFill>
                  </a:tcPr>
                </a:tc>
                <a:tc>
                  <a:txBody>
                    <a:bodyPr wrap="square"/>
                    <a:lstStyle/>
                    <a:p>
                      <a:pPr algn="l"/>
                      <a:r>
                        <a:rPr sz="1300" b="0">
                          <a:solidFill>
                            <a:srgbClr val="1C2B27"/>
                          </a:solidFill>
                          <a:latin typeface="Meiryo UI"/>
                        </a:rPr>
                        <a:t>日付</a:t>
                      </a:r>
                    </a:p>
                  </a:txBody>
                  <a:tcPr anchor="ctr" marL="91440" marR="73152" marT="36576" marB="36576">
                    <a:solidFill>
                      <a:srgbClr val="FFFFFF"/>
                    </a:solidFill>
                  </a:tcPr>
                </a:tc>
              </a:tr>
              <a:tr h="384048">
                <a:tc>
                  <a:txBody>
                    <a:bodyPr wrap="square"/>
                    <a:lstStyle/>
                    <a:p>
                      <a:pPr algn="l"/>
                      <a:r>
                        <a:rPr sz="1300" b="1">
                          <a:solidFill>
                            <a:srgbClr val="1C2B27"/>
                          </a:solidFill>
                          <a:latin typeface="Meiryo UI"/>
                        </a:rPr>
                        <a:t>性別</a:t>
                      </a:r>
                    </a:p>
                  </a:txBody>
                  <a:tcPr anchor="ctr" marL="91440" marR="73152" marT="36576" marB="36576">
                    <a:solidFill>
                      <a:srgbClr val="E2F0EC"/>
                    </a:solidFill>
                  </a:tcPr>
                </a:tc>
                <a:tc>
                  <a:txBody>
                    <a:bodyPr wrap="square"/>
                    <a:lstStyle/>
                    <a:p>
                      <a:pPr algn="l"/>
                      <a:r>
                        <a:rPr sz="1300" b="0">
                          <a:solidFill>
                            <a:srgbClr val="1C2B27"/>
                          </a:solidFill>
                          <a:latin typeface="Meiryo UI"/>
                        </a:rPr>
                        <a:t>選択</a:t>
                      </a:r>
                    </a:p>
                  </a:txBody>
                  <a:tcPr anchor="ctr" marL="91440" marR="73152" marT="36576" marB="36576">
                    <a:solidFill>
                      <a:srgbClr val="E2F0EC"/>
                    </a:solidFill>
                  </a:tcPr>
                </a:tc>
                <a:tc>
                  <a:txBody>
                    <a:bodyPr wrap="square"/>
                    <a:lstStyle/>
                    <a:p>
                      <a:pPr algn="l"/>
                      <a:r>
                        <a:rPr sz="1300" b="0">
                          <a:solidFill>
                            <a:srgbClr val="1C2B27"/>
                          </a:solidFill>
                          <a:latin typeface="Meiryo UI"/>
                        </a:rPr>
                        <a:t>男性／女性</a:t>
                      </a:r>
                    </a:p>
                  </a:txBody>
                  <a:tcPr anchor="ctr" marL="91440" marR="73152" marT="36576" marB="36576">
                    <a:solidFill>
                      <a:srgbClr val="E2F0E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FIELDS</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項目くわしく ③　施設契約情報</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TextBox 7"/>
          <p:cNvSpPr txBox="1"/>
          <p:nvPr/>
        </p:nvSpPr>
        <p:spPr>
          <a:xfrm>
            <a:off x="640080" y="1691640"/>
            <a:ext cx="10881360" cy="822960"/>
          </a:xfrm>
          <a:prstGeom prst="rect">
            <a:avLst/>
          </a:prstGeom>
          <a:noFill/>
        </p:spPr>
        <p:txBody>
          <a:bodyPr wrap="square">
            <a:spAutoFit/>
          </a:bodyPr>
          <a:lstStyle/>
          <a:p>
            <a:pPr algn="l">
              <a:lnSpc>
                <a:spcPct val="125000"/>
              </a:lnSpc>
              <a:spcAft>
                <a:spcPts val="400"/>
              </a:spcAft>
            </a:pPr>
            <a:r>
              <a:rPr sz="1500" b="0">
                <a:solidFill>
                  <a:srgbClr val="1C2B27"/>
                </a:solidFill>
                <a:latin typeface="Meiryo UI"/>
              </a:rPr>
              <a:t>施設への「入居」「退去」の記録です。Kintone から自動で入ってくる情報で、</a:t>
            </a:r>
          </a:p>
          <a:p>
            <a:pPr algn="l">
              <a:lnSpc>
                <a:spcPct val="125000"/>
              </a:lnSpc>
              <a:spcAft>
                <a:spcPts val="400"/>
              </a:spcAft>
            </a:pPr>
            <a:r>
              <a:rPr sz="1500" b="0">
                <a:solidFill>
                  <a:srgbClr val="1C2B27"/>
                </a:solidFill>
                <a:latin typeface="Meiryo UI"/>
              </a:rPr>
              <a:t>入居と退去がペアで表示されます。施設に入っている利用者だけ表示されます。</a:t>
            </a:r>
          </a:p>
        </p:txBody>
      </p:sp>
      <p:graphicFrame>
        <p:nvGraphicFramePr>
          <p:cNvPr id="9" name="Table 8"/>
          <p:cNvGraphicFramePr>
            <a:graphicFrameLocks noGrp="1"/>
          </p:cNvGraphicFramePr>
          <p:nvPr/>
        </p:nvGraphicFramePr>
        <p:xfrm>
          <a:off x="640080" y="2514600"/>
          <a:ext cx="10881360" cy="1554480"/>
        </p:xfrm>
        <a:graphic>
          <a:graphicData uri="http://schemas.openxmlformats.org/drawingml/2006/table">
            <a:tbl>
              <a:tblPr>
                <a:tableStyleId>{5C22544A-7EE6-4342-B048-85BDC9FD1C3A}</a:tableStyleId>
              </a:tblPr>
              <a:tblGrid>
                <a:gridCol w="2377440"/>
                <a:gridCol w="8503920"/>
              </a:tblGrid>
              <a:tr h="388620">
                <a:tc>
                  <a:txBody>
                    <a:bodyPr wrap="square"/>
                    <a:lstStyle/>
                    <a:p>
                      <a:pPr algn="l"/>
                      <a:r>
                        <a:rPr sz="1300" b="1">
                          <a:solidFill>
                            <a:srgbClr val="FFFFFF"/>
                          </a:solidFill>
                          <a:latin typeface="Meiryo UI"/>
                        </a:rPr>
                        <a:t>表示</a:t>
                      </a:r>
                    </a:p>
                  </a:txBody>
                  <a:tcPr anchor="ctr" marL="91440" marR="73152" marT="36576" marB="36576">
                    <a:solidFill>
                      <a:srgbClr val="0E8A78"/>
                    </a:solidFill>
                  </a:tcPr>
                </a:tc>
                <a:tc>
                  <a:txBody>
                    <a:bodyPr wrap="square"/>
                    <a:lstStyle/>
                    <a:p>
                      <a:pPr algn="l"/>
                      <a:r>
                        <a:rPr sz="1300" b="1">
                          <a:solidFill>
                            <a:srgbClr val="FFFFFF"/>
                          </a:solidFill>
                          <a:latin typeface="Meiryo UI"/>
                        </a:rPr>
                        <a:t>意味</a:t>
                      </a:r>
                    </a:p>
                  </a:txBody>
                  <a:tcPr anchor="ctr" marL="91440" marR="73152" marT="36576" marB="36576">
                    <a:solidFill>
                      <a:srgbClr val="0E8A78"/>
                    </a:solidFill>
                  </a:tcPr>
                </a:tc>
              </a:tr>
              <a:tr h="388620">
                <a:tc>
                  <a:txBody>
                    <a:bodyPr wrap="square"/>
                    <a:lstStyle/>
                    <a:p>
                      <a:pPr algn="l"/>
                      <a:r>
                        <a:rPr sz="1300" b="1">
                          <a:solidFill>
                            <a:srgbClr val="1C2B27"/>
                          </a:solidFill>
                          <a:latin typeface="Meiryo UI"/>
                        </a:rPr>
                        <a:t>入居日</a:t>
                      </a:r>
                    </a:p>
                  </a:txBody>
                  <a:tcPr anchor="ctr" marL="91440" marR="73152" marT="36576" marB="36576">
                    <a:solidFill>
                      <a:srgbClr val="FFFFFF"/>
                    </a:solidFill>
                  </a:tcPr>
                </a:tc>
                <a:tc>
                  <a:txBody>
                    <a:bodyPr wrap="square"/>
                    <a:lstStyle/>
                    <a:p>
                      <a:pPr algn="l"/>
                      <a:r>
                        <a:rPr sz="1300" b="0">
                          <a:solidFill>
                            <a:srgbClr val="1C2B27"/>
                          </a:solidFill>
                          <a:latin typeface="Meiryo UI"/>
                        </a:rPr>
                        <a:t>施設に入った日（自動連携）</a:t>
                      </a:r>
                    </a:p>
                  </a:txBody>
                  <a:tcPr anchor="ctr" marL="91440" marR="73152" marT="36576" marB="36576">
                    <a:solidFill>
                      <a:srgbClr val="FFFFFF"/>
                    </a:solidFill>
                  </a:tcPr>
                </a:tc>
              </a:tr>
              <a:tr h="388620">
                <a:tc>
                  <a:txBody>
                    <a:bodyPr wrap="square"/>
                    <a:lstStyle/>
                    <a:p>
                      <a:pPr algn="l"/>
                      <a:r>
                        <a:rPr sz="1300" b="1">
                          <a:solidFill>
                            <a:srgbClr val="1C2B27"/>
                          </a:solidFill>
                          <a:latin typeface="Meiryo UI"/>
                        </a:rPr>
                        <a:t>退去日</a:t>
                      </a:r>
                    </a:p>
                  </a:txBody>
                  <a:tcPr anchor="ctr" marL="91440" marR="73152" marT="36576" marB="36576">
                    <a:solidFill>
                      <a:srgbClr val="E2F0EC"/>
                    </a:solidFill>
                  </a:tcPr>
                </a:tc>
                <a:tc>
                  <a:txBody>
                    <a:bodyPr wrap="square"/>
                    <a:lstStyle/>
                    <a:p>
                      <a:pPr algn="l"/>
                      <a:r>
                        <a:rPr sz="1300" b="0">
                          <a:solidFill>
                            <a:srgbClr val="1C2B27"/>
                          </a:solidFill>
                          <a:latin typeface="Meiryo UI"/>
                        </a:rPr>
                        <a:t>施設を出た日。入居中なら「退去情報なし（入居中）」と表示</a:t>
                      </a:r>
                    </a:p>
                  </a:txBody>
                  <a:tcPr anchor="ctr" marL="91440" marR="73152" marT="36576" marB="36576">
                    <a:solidFill>
                      <a:srgbClr val="E2F0EC"/>
                    </a:solidFill>
                  </a:tcPr>
                </a:tc>
              </a:tr>
              <a:tr h="388620">
                <a:tc>
                  <a:txBody>
                    <a:bodyPr wrap="square"/>
                    <a:lstStyle/>
                    <a:p>
                      <a:pPr algn="l"/>
                      <a:r>
                        <a:rPr sz="1300" b="1">
                          <a:solidFill>
                            <a:srgbClr val="1C2B27"/>
                          </a:solidFill>
                          <a:latin typeface="Meiryo UI"/>
                        </a:rPr>
                        <a:t>記録者・特記</a:t>
                      </a:r>
                    </a:p>
                  </a:txBody>
                  <a:tcPr anchor="ctr" marL="91440" marR="73152" marT="36576" marB="36576">
                    <a:solidFill>
                      <a:srgbClr val="FFFFFF"/>
                    </a:solidFill>
                  </a:tcPr>
                </a:tc>
                <a:tc>
                  <a:txBody>
                    <a:bodyPr wrap="square"/>
                    <a:lstStyle/>
                    <a:p>
                      <a:pPr algn="l"/>
                      <a:r>
                        <a:rPr sz="1300" b="0">
                          <a:solidFill>
                            <a:srgbClr val="1C2B27"/>
                          </a:solidFill>
                          <a:latin typeface="Meiryo UI"/>
                        </a:rPr>
                        <a:t>連携元の記録者名と補足メモ</a:t>
                      </a:r>
                    </a:p>
                  </a:txBody>
                  <a:tcPr anchor="ctr" marL="91440" marR="73152" marT="36576" marB="36576">
                    <a:solidFill>
                      <a:srgbClr val="FFFFFF"/>
                    </a:solidFill>
                  </a:tcPr>
                </a:tc>
              </a:tr>
            </a:tbl>
          </a:graphicData>
        </a:graphic>
      </p:graphicFrame>
      <p:sp>
        <p:nvSpPr>
          <p:cNvPr id="10" name="Rectangle 9"/>
          <p:cNvSpPr/>
          <p:nvPr/>
        </p:nvSpPr>
        <p:spPr>
          <a:xfrm>
            <a:off x="640080" y="4297680"/>
            <a:ext cx="10881360" cy="1737360"/>
          </a:xfrm>
          <a:prstGeom prst="rect">
            <a:avLst/>
          </a:prstGeom>
          <a:solidFill>
            <a:srgbClr val="FBEA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297680"/>
            <a:ext cx="73152" cy="1737360"/>
          </a:xfrm>
          <a:prstGeom prst="rect">
            <a:avLst/>
          </a:prstGeom>
          <a:solidFill>
            <a:srgbClr val="E27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407408"/>
            <a:ext cx="10515600" cy="1554480"/>
          </a:xfrm>
          <a:prstGeom prst="rect">
            <a:avLst/>
          </a:prstGeom>
          <a:noFill/>
        </p:spPr>
        <p:txBody>
          <a:bodyPr wrap="square">
            <a:spAutoFit/>
          </a:bodyPr>
          <a:lstStyle/>
          <a:p>
            <a:pPr algn="l">
              <a:lnSpc>
                <a:spcPct val="125000"/>
              </a:lnSpc>
              <a:spcAft>
                <a:spcPts val="400"/>
              </a:spcAft>
            </a:pPr>
            <a:r>
              <a:rPr sz="1300" b="1">
                <a:solidFill>
                  <a:srgbClr val="E2714A"/>
                </a:solidFill>
                <a:latin typeface="Meiryo UI"/>
              </a:rPr>
              <a:t>⚠️ ここはレンタル契約とは別物です</a:t>
            </a:r>
          </a:p>
          <a:p>
            <a:pPr algn="l">
              <a:lnSpc>
                <a:spcPct val="125000"/>
              </a:lnSpc>
              <a:spcAft>
                <a:spcPts val="400"/>
              </a:spcAft>
            </a:pPr>
            <a:r>
              <a:rPr sz="1300" b="0">
                <a:solidFill>
                  <a:srgbClr val="1C2B27"/>
                </a:solidFill>
                <a:latin typeface="Meiryo UI"/>
              </a:rPr>
              <a:t>福祉用具レンタルの「新規・解約」は、別タブ（利用者新規・変更情報入力）の「レンタル契約情報」にあります。混同にご注意ください。
Kintone由来のため、この欄を手で書き換えても翌日の自動連携で元に戻ります。直したいときは Kintone 側を修正してください。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16A34A"/>
                </a:solidFill>
                <a:latin typeface="Meiryo UI"/>
              </a:rPr>
              <a:t>FIELDS</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項目くわしく ④⑤　住まい・福祉用具・請求</a:t>
            </a:r>
          </a:p>
        </p:txBody>
      </p:sp>
      <p:sp>
        <p:nvSpPr>
          <p:cNvPr id="6" name="Rectangle 5"/>
          <p:cNvSpPr/>
          <p:nvPr/>
        </p:nvSpPr>
        <p:spPr>
          <a:xfrm>
            <a:off x="640080" y="1481328"/>
            <a:ext cx="1280160" cy="54864"/>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TextBox 7"/>
          <p:cNvSpPr txBox="1"/>
          <p:nvPr/>
        </p:nvSpPr>
        <p:spPr>
          <a:xfrm>
            <a:off x="640080" y="1645920"/>
            <a:ext cx="10058400" cy="365760"/>
          </a:xfrm>
          <a:prstGeom prst="rect">
            <a:avLst/>
          </a:prstGeom>
          <a:noFill/>
        </p:spPr>
        <p:txBody>
          <a:bodyPr wrap="square" anchor="t">
            <a:spAutoFit/>
          </a:bodyPr>
          <a:lstStyle/>
          <a:p>
            <a:pPr algn="l"/>
            <a:r>
              <a:rPr sz="1500" b="1">
                <a:solidFill>
                  <a:srgbClr val="16A34A"/>
                </a:solidFill>
                <a:latin typeface="Meiryo UI"/>
              </a:rPr>
              <a:t>④ 入居施設名・居室番号・在宅区分</a:t>
            </a:r>
          </a:p>
        </p:txBody>
      </p:sp>
      <p:graphicFrame>
        <p:nvGraphicFramePr>
          <p:cNvPr id="9" name="Table 8"/>
          <p:cNvGraphicFramePr>
            <a:graphicFrameLocks noGrp="1"/>
          </p:cNvGraphicFramePr>
          <p:nvPr/>
        </p:nvGraphicFramePr>
        <p:xfrm>
          <a:off x="640080" y="2011680"/>
          <a:ext cx="10881360" cy="1371600"/>
        </p:xfrm>
        <a:graphic>
          <a:graphicData uri="http://schemas.openxmlformats.org/drawingml/2006/table">
            <a:tbl>
              <a:tblPr>
                <a:tableStyleId>{5C22544A-7EE6-4342-B048-85BDC9FD1C3A}</a:tableStyleId>
              </a:tblPr>
              <a:tblGrid>
                <a:gridCol w="2468880"/>
                <a:gridCol w="5303520"/>
                <a:gridCol w="3108960"/>
              </a:tblGrid>
              <a:tr h="342900">
                <a:tc>
                  <a:txBody>
                    <a:bodyPr wrap="square"/>
                    <a:lstStyle/>
                    <a:p>
                      <a:pPr algn="l"/>
                      <a:r>
                        <a:rPr sz="1300" b="1">
                          <a:solidFill>
                            <a:srgbClr val="FFFFFF"/>
                          </a:solidFill>
                          <a:latin typeface="Meiryo UI"/>
                        </a:rPr>
                        <a:t>項目</a:t>
                      </a:r>
                    </a:p>
                  </a:txBody>
                  <a:tcPr anchor="ctr" marL="91440" marR="73152" marT="36576" marB="36576">
                    <a:solidFill>
                      <a:srgbClr val="16A34A"/>
                    </a:solidFill>
                  </a:tcPr>
                </a:tc>
                <a:tc>
                  <a:txBody>
                    <a:bodyPr wrap="square"/>
                    <a:lstStyle/>
                    <a:p>
                      <a:pPr algn="l"/>
                      <a:r>
                        <a:rPr sz="1300" b="1">
                          <a:solidFill>
                            <a:srgbClr val="FFFFFF"/>
                          </a:solidFill>
                          <a:latin typeface="Meiryo UI"/>
                        </a:rPr>
                        <a:t>入れる内容</a:t>
                      </a:r>
                    </a:p>
                  </a:txBody>
                  <a:tcPr anchor="ctr" marL="91440" marR="73152" marT="36576" marB="36576">
                    <a:solidFill>
                      <a:srgbClr val="16A34A"/>
                    </a:solidFill>
                  </a:tcPr>
                </a:tc>
                <a:tc>
                  <a:txBody>
                    <a:bodyPr wrap="square"/>
                    <a:lstStyle/>
                    <a:p>
                      <a:pPr algn="l"/>
                      <a:r>
                        <a:rPr sz="1300" b="1">
                          <a:solidFill>
                            <a:srgbClr val="FFFFFF"/>
                          </a:solidFill>
                          <a:latin typeface="Meiryo UI"/>
                        </a:rPr>
                        <a:t>選べる値</a:t>
                      </a:r>
                    </a:p>
                  </a:txBody>
                  <a:tcPr anchor="ctr" marL="91440" marR="73152" marT="36576" marB="36576">
                    <a:solidFill>
                      <a:srgbClr val="16A34A"/>
                    </a:solidFill>
                  </a:tcPr>
                </a:tc>
              </a:tr>
              <a:tr h="342900">
                <a:tc>
                  <a:txBody>
                    <a:bodyPr wrap="square"/>
                    <a:lstStyle/>
                    <a:p>
                      <a:pPr algn="l"/>
                      <a:r>
                        <a:rPr sz="1300" b="1">
                          <a:solidFill>
                            <a:srgbClr val="1C2B27"/>
                          </a:solidFill>
                          <a:latin typeface="Meiryo UI"/>
                        </a:rPr>
                        <a:t>入居施設名 🕐</a:t>
                      </a:r>
                    </a:p>
                  </a:txBody>
                  <a:tcPr anchor="ctr" marL="91440" marR="73152" marT="36576" marB="36576">
                    <a:solidFill>
                      <a:srgbClr val="FFFFFF"/>
                    </a:solidFill>
                  </a:tcPr>
                </a:tc>
                <a:tc>
                  <a:txBody>
                    <a:bodyPr wrap="square"/>
                    <a:lstStyle/>
                    <a:p>
                      <a:pPr algn="l"/>
                      <a:r>
                        <a:rPr sz="1300" b="0">
                          <a:solidFill>
                            <a:srgbClr val="1C2B27"/>
                          </a:solidFill>
                          <a:latin typeface="Meiryo UI"/>
                        </a:rPr>
                        <a:t>入居先の施設名（在宅は空欄でOK）</a:t>
                      </a:r>
                    </a:p>
                  </a:txBody>
                  <a:tcPr anchor="ctr" marL="91440" marR="73152" marT="36576" marB="36576">
                    <a:solidFill>
                      <a:srgbClr val="FFFFFF"/>
                    </a:solidFill>
                  </a:tcPr>
                </a:tc>
                <a:tc>
                  <a:txBody>
                    <a:bodyPr wrap="square"/>
                    <a:lstStyle/>
                    <a:p>
                      <a:pPr algn="l"/>
                      <a:r>
                        <a:rPr sz="1300" b="0">
                          <a:solidFill>
                            <a:srgbClr val="1C2B27"/>
                          </a:solidFill>
                          <a:latin typeface="Meiryo UI"/>
                        </a:rPr>
                        <a:t>文字入力</a:t>
                      </a:r>
                    </a:p>
                  </a:txBody>
                  <a:tcPr anchor="ctr" marL="91440" marR="73152" marT="36576" marB="36576">
                    <a:solidFill>
                      <a:srgbClr val="FFFFFF"/>
                    </a:solidFill>
                  </a:tcPr>
                </a:tc>
              </a:tr>
              <a:tr h="342900">
                <a:tc>
                  <a:txBody>
                    <a:bodyPr wrap="square"/>
                    <a:lstStyle/>
                    <a:p>
                      <a:pPr algn="l"/>
                      <a:r>
                        <a:rPr sz="1300" b="1">
                          <a:solidFill>
                            <a:srgbClr val="1C2B27"/>
                          </a:solidFill>
                          <a:latin typeface="Meiryo UI"/>
                        </a:rPr>
                        <a:t>居室番号 🕐</a:t>
                      </a:r>
                    </a:p>
                  </a:txBody>
                  <a:tcPr anchor="ctr" marL="91440" marR="73152" marT="36576" marB="36576">
                    <a:solidFill>
                      <a:srgbClr val="E2F0EC"/>
                    </a:solidFill>
                  </a:tcPr>
                </a:tc>
                <a:tc>
                  <a:txBody>
                    <a:bodyPr wrap="square"/>
                    <a:lstStyle/>
                    <a:p>
                      <a:pPr algn="l"/>
                      <a:r>
                        <a:rPr sz="1300" b="0">
                          <a:solidFill>
                            <a:srgbClr val="1C2B27"/>
                          </a:solidFill>
                          <a:latin typeface="Meiryo UI"/>
                        </a:rPr>
                        <a:t>施設の部屋番号</a:t>
                      </a:r>
                    </a:p>
                  </a:txBody>
                  <a:tcPr anchor="ctr" marL="91440" marR="73152" marT="36576" marB="36576">
                    <a:solidFill>
                      <a:srgbClr val="E2F0EC"/>
                    </a:solidFill>
                  </a:tcPr>
                </a:tc>
                <a:tc>
                  <a:txBody>
                    <a:bodyPr wrap="square"/>
                    <a:lstStyle/>
                    <a:p>
                      <a:pPr algn="l"/>
                      <a:r>
                        <a:rPr sz="1300" b="0">
                          <a:solidFill>
                            <a:srgbClr val="1C2B27"/>
                          </a:solidFill>
                          <a:latin typeface="Meiryo UI"/>
                        </a:rPr>
                        <a:t>例：101</a:t>
                      </a:r>
                    </a:p>
                  </a:txBody>
                  <a:tcPr anchor="ctr" marL="91440" marR="73152" marT="36576" marB="36576">
                    <a:solidFill>
                      <a:srgbClr val="E2F0EC"/>
                    </a:solidFill>
                  </a:tcPr>
                </a:tc>
              </a:tr>
              <a:tr h="342900">
                <a:tc>
                  <a:txBody>
                    <a:bodyPr wrap="square"/>
                    <a:lstStyle/>
                    <a:p>
                      <a:pPr algn="l"/>
                      <a:r>
                        <a:rPr sz="1300" b="1">
                          <a:solidFill>
                            <a:srgbClr val="1C2B27"/>
                          </a:solidFill>
                          <a:latin typeface="Meiryo UI"/>
                        </a:rPr>
                        <a:t>在宅区分 🕐</a:t>
                      </a:r>
                    </a:p>
                  </a:txBody>
                  <a:tcPr anchor="ctr" marL="91440" marR="73152" marT="36576" marB="36576">
                    <a:solidFill>
                      <a:srgbClr val="FFFFFF"/>
                    </a:solidFill>
                  </a:tcPr>
                </a:tc>
                <a:tc>
                  <a:txBody>
                    <a:bodyPr wrap="square"/>
                    <a:lstStyle/>
                    <a:p>
                      <a:pPr algn="l"/>
                      <a:r>
                        <a:rPr sz="1300" b="0">
                          <a:solidFill>
                            <a:srgbClr val="1C2B27"/>
                          </a:solidFill>
                          <a:latin typeface="Meiryo UI"/>
                        </a:rPr>
                        <a:t>住まいの種類</a:t>
                      </a:r>
                    </a:p>
                  </a:txBody>
                  <a:tcPr anchor="ctr" marL="91440" marR="73152" marT="36576" marB="36576">
                    <a:solidFill>
                      <a:srgbClr val="FFFFFF"/>
                    </a:solidFill>
                  </a:tcPr>
                </a:tc>
                <a:tc>
                  <a:txBody>
                    <a:bodyPr wrap="square"/>
                    <a:lstStyle/>
                    <a:p>
                      <a:pPr algn="l"/>
                      <a:r>
                        <a:rPr sz="1300" b="0">
                          <a:solidFill>
                            <a:srgbClr val="1C2B27"/>
                          </a:solidFill>
                          <a:latin typeface="Meiryo UI"/>
                        </a:rPr>
                        <a:t>ー／自宅／外部施設／その他</a:t>
                      </a:r>
                    </a:p>
                  </a:txBody>
                  <a:tcPr anchor="ctr" marL="91440" marR="73152" marT="36576" marB="36576">
                    <a:solidFill>
                      <a:srgbClr val="FFFFFF"/>
                    </a:solidFill>
                  </a:tcPr>
                </a:tc>
              </a:tr>
            </a:tbl>
          </a:graphicData>
        </a:graphic>
      </p:graphicFrame>
      <p:sp>
        <p:nvSpPr>
          <p:cNvPr id="10" name="TextBox 9"/>
          <p:cNvSpPr txBox="1"/>
          <p:nvPr/>
        </p:nvSpPr>
        <p:spPr>
          <a:xfrm>
            <a:off x="640080" y="3611880"/>
            <a:ext cx="10058400" cy="365760"/>
          </a:xfrm>
          <a:prstGeom prst="rect">
            <a:avLst/>
          </a:prstGeom>
          <a:noFill/>
        </p:spPr>
        <p:txBody>
          <a:bodyPr wrap="square" anchor="t">
            <a:spAutoFit/>
          </a:bodyPr>
          <a:lstStyle/>
          <a:p>
            <a:pPr algn="l"/>
            <a:r>
              <a:rPr sz="1500" b="1">
                <a:solidFill>
                  <a:srgbClr val="16A34A"/>
                </a:solidFill>
                <a:latin typeface="Meiryo UI"/>
              </a:rPr>
              <a:t>⑤ 福祉用具利用者・レセプトチェック対象・請求区分</a:t>
            </a:r>
          </a:p>
        </p:txBody>
      </p:sp>
      <p:graphicFrame>
        <p:nvGraphicFramePr>
          <p:cNvPr id="11" name="Table 10"/>
          <p:cNvGraphicFramePr>
            <a:graphicFrameLocks noGrp="1"/>
          </p:cNvGraphicFramePr>
          <p:nvPr/>
        </p:nvGraphicFramePr>
        <p:xfrm>
          <a:off x="640080" y="3977639"/>
          <a:ext cx="10881360" cy="1828800"/>
        </p:xfrm>
        <a:graphic>
          <a:graphicData uri="http://schemas.openxmlformats.org/drawingml/2006/table">
            <a:tbl>
              <a:tblPr>
                <a:tableStyleId>{5C22544A-7EE6-4342-B048-85BDC9FD1C3A}</a:tableStyleId>
              </a:tblPr>
              <a:tblGrid>
                <a:gridCol w="2468880"/>
                <a:gridCol w="5303520"/>
                <a:gridCol w="3108960"/>
              </a:tblGrid>
              <a:tr h="457200">
                <a:tc>
                  <a:txBody>
                    <a:bodyPr wrap="square"/>
                    <a:lstStyle/>
                    <a:p>
                      <a:pPr algn="l"/>
                      <a:r>
                        <a:rPr sz="1300" b="1">
                          <a:solidFill>
                            <a:srgbClr val="FFFFFF"/>
                          </a:solidFill>
                          <a:latin typeface="Meiryo UI"/>
                        </a:rPr>
                        <a:t>項目</a:t>
                      </a:r>
                    </a:p>
                  </a:txBody>
                  <a:tcPr anchor="ctr" marL="91440" marR="73152" marT="36576" marB="36576">
                    <a:solidFill>
                      <a:srgbClr val="16A34A"/>
                    </a:solidFill>
                  </a:tcPr>
                </a:tc>
                <a:tc>
                  <a:txBody>
                    <a:bodyPr wrap="square"/>
                    <a:lstStyle/>
                    <a:p>
                      <a:pPr algn="l"/>
                      <a:r>
                        <a:rPr sz="1300" b="1">
                          <a:solidFill>
                            <a:srgbClr val="FFFFFF"/>
                          </a:solidFill>
                          <a:latin typeface="Meiryo UI"/>
                        </a:rPr>
                        <a:t>入れる内容</a:t>
                      </a:r>
                    </a:p>
                  </a:txBody>
                  <a:tcPr anchor="ctr" marL="91440" marR="73152" marT="36576" marB="36576">
                    <a:solidFill>
                      <a:srgbClr val="16A34A"/>
                    </a:solidFill>
                  </a:tcPr>
                </a:tc>
                <a:tc>
                  <a:txBody>
                    <a:bodyPr wrap="square"/>
                    <a:lstStyle/>
                    <a:p>
                      <a:pPr algn="l"/>
                      <a:r>
                        <a:rPr sz="1300" b="1">
                          <a:solidFill>
                            <a:srgbClr val="FFFFFF"/>
                          </a:solidFill>
                          <a:latin typeface="Meiryo UI"/>
                        </a:rPr>
                        <a:t>選べる値</a:t>
                      </a:r>
                    </a:p>
                  </a:txBody>
                  <a:tcPr anchor="ctr" marL="91440" marR="73152" marT="36576" marB="36576">
                    <a:solidFill>
                      <a:srgbClr val="16A34A"/>
                    </a:solidFill>
                  </a:tcPr>
                </a:tc>
              </a:tr>
              <a:tr h="457200">
                <a:tc>
                  <a:txBody>
                    <a:bodyPr wrap="square"/>
                    <a:lstStyle/>
                    <a:p>
                      <a:pPr algn="l"/>
                      <a:r>
                        <a:rPr sz="1300" b="1">
                          <a:solidFill>
                            <a:srgbClr val="1C2B27"/>
                          </a:solidFill>
                          <a:latin typeface="Meiryo UI"/>
                        </a:rPr>
                        <a:t>福祉用具利用者 🕐</a:t>
                      </a:r>
                    </a:p>
                  </a:txBody>
                  <a:tcPr anchor="ctr" marL="91440" marR="73152" marT="36576" marB="36576">
                    <a:solidFill>
                      <a:srgbClr val="FFFFFF"/>
                    </a:solidFill>
                  </a:tcPr>
                </a:tc>
                <a:tc>
                  <a:txBody>
                    <a:bodyPr wrap="square"/>
                    <a:lstStyle/>
                    <a:p>
                      <a:pPr algn="l"/>
                      <a:r>
                        <a:rPr sz="1300" b="0">
                          <a:solidFill>
                            <a:srgbClr val="1C2B27"/>
                          </a:solidFill>
                          <a:latin typeface="Meiryo UI"/>
                        </a:rPr>
                        <a:t>福祉用具を使う方はチェック（介護保険・自費・販売すべて含む）</a:t>
                      </a:r>
                    </a:p>
                  </a:txBody>
                  <a:tcPr anchor="ctr" marL="91440" marR="73152" marT="36576" marB="36576">
                    <a:solidFill>
                      <a:srgbClr val="FFFFFF"/>
                    </a:solidFill>
                  </a:tcPr>
                </a:tc>
                <a:tc>
                  <a:txBody>
                    <a:bodyPr wrap="square"/>
                    <a:lstStyle/>
                    <a:p>
                      <a:pPr algn="l"/>
                      <a:r>
                        <a:rPr sz="1300" b="0">
                          <a:solidFill>
                            <a:srgbClr val="1C2B27"/>
                          </a:solidFill>
                          <a:latin typeface="Meiryo UI"/>
                        </a:rPr>
                        <a:t>チェック ✓</a:t>
                      </a:r>
                    </a:p>
                  </a:txBody>
                  <a:tcPr anchor="ctr" marL="91440" marR="73152" marT="36576" marB="36576">
                    <a:solidFill>
                      <a:srgbClr val="FFFFFF"/>
                    </a:solidFill>
                  </a:tcPr>
                </a:tc>
              </a:tr>
              <a:tr h="457200">
                <a:tc>
                  <a:txBody>
                    <a:bodyPr wrap="square"/>
                    <a:lstStyle/>
                    <a:p>
                      <a:pPr algn="l"/>
                      <a:r>
                        <a:rPr sz="1300" b="1">
                          <a:solidFill>
                            <a:srgbClr val="1C2B27"/>
                          </a:solidFill>
                          <a:latin typeface="Meiryo UI"/>
                        </a:rPr>
                        <a:t>レセプトチェック対象 🕐</a:t>
                      </a:r>
                    </a:p>
                  </a:txBody>
                  <a:tcPr anchor="ctr" marL="91440" marR="73152" marT="36576" marB="36576">
                    <a:solidFill>
                      <a:srgbClr val="E2F0EC"/>
                    </a:solidFill>
                  </a:tcPr>
                </a:tc>
                <a:tc>
                  <a:txBody>
                    <a:bodyPr wrap="square"/>
                    <a:lstStyle/>
                    <a:p>
                      <a:pPr algn="l"/>
                      <a:r>
                        <a:rPr sz="1300" b="0">
                          <a:solidFill>
                            <a:srgbClr val="1C2B27"/>
                          </a:solidFill>
                          <a:latin typeface="Meiryo UI"/>
                        </a:rPr>
                        <a:t>ふだんは未設定（自動判定）でOK</a:t>
                      </a:r>
                    </a:p>
                  </a:txBody>
                  <a:tcPr anchor="ctr" marL="91440" marR="73152" marT="36576" marB="36576">
                    <a:solidFill>
                      <a:srgbClr val="E2F0EC"/>
                    </a:solidFill>
                  </a:tcPr>
                </a:tc>
                <a:tc>
                  <a:txBody>
                    <a:bodyPr wrap="square"/>
                    <a:lstStyle/>
                    <a:p>
                      <a:pPr algn="l"/>
                      <a:r>
                        <a:rPr sz="1300" b="0">
                          <a:solidFill>
                            <a:srgbClr val="1C2B27"/>
                          </a:solidFill>
                          <a:latin typeface="Meiryo UI"/>
                        </a:rPr>
                        <a:t>✓オン=強制追加／□オフ=強制除外／未設定=自動</a:t>
                      </a:r>
                    </a:p>
                  </a:txBody>
                  <a:tcPr anchor="ctr" marL="91440" marR="73152" marT="36576" marB="36576">
                    <a:solidFill>
                      <a:srgbClr val="E2F0EC"/>
                    </a:solidFill>
                  </a:tcPr>
                </a:tc>
              </a:tr>
              <a:tr h="457200">
                <a:tc>
                  <a:txBody>
                    <a:bodyPr wrap="square"/>
                    <a:lstStyle/>
                    <a:p>
                      <a:pPr algn="l"/>
                      <a:r>
                        <a:rPr sz="1300" b="1">
                          <a:solidFill>
                            <a:srgbClr val="1C2B27"/>
                          </a:solidFill>
                          <a:latin typeface="Meiryo UI"/>
                        </a:rPr>
                        <a:t>請求区分 🕐</a:t>
                      </a:r>
                    </a:p>
                  </a:txBody>
                  <a:tcPr anchor="ctr" marL="91440" marR="73152" marT="36576" marB="36576">
                    <a:solidFill>
                      <a:srgbClr val="FFFFFF"/>
                    </a:solidFill>
                  </a:tcPr>
                </a:tc>
                <a:tc>
                  <a:txBody>
                    <a:bodyPr wrap="square"/>
                    <a:lstStyle/>
                    <a:p>
                      <a:pPr algn="l"/>
                      <a:r>
                        <a:rPr sz="1300" b="0">
                          <a:solidFill>
                            <a:srgbClr val="1C2B27"/>
                          </a:solidFill>
                          <a:latin typeface="Meiryo UI"/>
                        </a:rPr>
                        <a:t>請求の種類を選択</a:t>
                      </a:r>
                    </a:p>
                  </a:txBody>
                  <a:tcPr anchor="ctr" marL="91440" marR="73152" marT="36576" marB="36576">
                    <a:solidFill>
                      <a:srgbClr val="FFFFFF"/>
                    </a:solidFill>
                  </a:tcPr>
                </a:tc>
                <a:tc>
                  <a:txBody>
                    <a:bodyPr wrap="square"/>
                    <a:lstStyle/>
                    <a:p>
                      <a:pPr algn="l"/>
                      <a:r>
                        <a:rPr sz="1300" b="0">
                          <a:solidFill>
                            <a:srgbClr val="1C2B27"/>
                          </a:solidFill>
                          <a:latin typeface="Meiryo UI"/>
                        </a:rPr>
                        <a:t>ー／自費レンタル／介護保険レンタル／併用</a:t>
                      </a:r>
                    </a:p>
                  </a:txBody>
                  <a:tcPr anchor="ctr" marL="91440" marR="73152"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2563EB"/>
                </a:solidFill>
                <a:latin typeface="Meiryo UI"/>
              </a:rPr>
              <a:t>FIELDS</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項目くわしく ⑥⑦　ケアマネ・介護保険</a:t>
            </a:r>
          </a:p>
        </p:txBody>
      </p:sp>
      <p:sp>
        <p:nvSpPr>
          <p:cNvPr id="6" name="Rectangle 5"/>
          <p:cNvSpPr/>
          <p:nvPr/>
        </p:nvSpPr>
        <p:spPr>
          <a:xfrm>
            <a:off x="640080" y="1481328"/>
            <a:ext cx="1280160" cy="5486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TextBox 7"/>
          <p:cNvSpPr txBox="1"/>
          <p:nvPr/>
        </p:nvSpPr>
        <p:spPr>
          <a:xfrm>
            <a:off x="640080" y="1645920"/>
            <a:ext cx="10058400" cy="365760"/>
          </a:xfrm>
          <a:prstGeom prst="rect">
            <a:avLst/>
          </a:prstGeom>
          <a:noFill/>
        </p:spPr>
        <p:txBody>
          <a:bodyPr wrap="square" anchor="t">
            <a:spAutoFit/>
          </a:bodyPr>
          <a:lstStyle/>
          <a:p>
            <a:pPr algn="l"/>
            <a:r>
              <a:rPr sz="1500" b="1">
                <a:solidFill>
                  <a:srgbClr val="2563EB"/>
                </a:solidFill>
                <a:latin typeface="Meiryo UI"/>
              </a:rPr>
              <a:t>⑥ ケアマネージャー情報</a:t>
            </a:r>
          </a:p>
        </p:txBody>
      </p:sp>
      <p:graphicFrame>
        <p:nvGraphicFramePr>
          <p:cNvPr id="9" name="Table 8"/>
          <p:cNvGraphicFramePr>
            <a:graphicFrameLocks noGrp="1"/>
          </p:cNvGraphicFramePr>
          <p:nvPr/>
        </p:nvGraphicFramePr>
        <p:xfrm>
          <a:off x="640080" y="2011680"/>
          <a:ext cx="10881360" cy="1097280"/>
        </p:xfrm>
        <a:graphic>
          <a:graphicData uri="http://schemas.openxmlformats.org/drawingml/2006/table">
            <a:tbl>
              <a:tblPr>
                <a:tableStyleId>{5C22544A-7EE6-4342-B048-85BDC9FD1C3A}</a:tableStyleId>
              </a:tblPr>
              <a:tblGrid>
                <a:gridCol w="3291840"/>
                <a:gridCol w="7589520"/>
              </a:tblGrid>
              <a:tr h="365760">
                <a:tc>
                  <a:txBody>
                    <a:bodyPr wrap="square"/>
                    <a:lstStyle/>
                    <a:p>
                      <a:pPr algn="l"/>
                      <a:r>
                        <a:rPr sz="1300" b="1">
                          <a:solidFill>
                            <a:srgbClr val="FFFFFF"/>
                          </a:solidFill>
                          <a:latin typeface="Meiryo UI"/>
                        </a:rPr>
                        <a:t>項目</a:t>
                      </a:r>
                    </a:p>
                  </a:txBody>
                  <a:tcPr anchor="ctr" marL="91440" marR="73152" marT="36576" marB="36576">
                    <a:solidFill>
                      <a:srgbClr val="2563EB"/>
                    </a:solidFill>
                  </a:tcPr>
                </a:tc>
                <a:tc>
                  <a:txBody>
                    <a:bodyPr wrap="square"/>
                    <a:lstStyle/>
                    <a:p>
                      <a:pPr algn="l"/>
                      <a:r>
                        <a:rPr sz="1300" b="1">
                          <a:solidFill>
                            <a:srgbClr val="FFFFFF"/>
                          </a:solidFill>
                          <a:latin typeface="Meiryo UI"/>
                        </a:rPr>
                        <a:t>入れる内容</a:t>
                      </a:r>
                    </a:p>
                  </a:txBody>
                  <a:tcPr anchor="ctr" marL="91440" marR="73152" marT="36576" marB="36576">
                    <a:solidFill>
                      <a:srgbClr val="2563EB"/>
                    </a:solidFill>
                  </a:tcPr>
                </a:tc>
              </a:tr>
              <a:tr h="365760">
                <a:tc>
                  <a:txBody>
                    <a:bodyPr wrap="square"/>
                    <a:lstStyle/>
                    <a:p>
                      <a:pPr algn="l"/>
                      <a:r>
                        <a:rPr sz="1300" b="1">
                          <a:solidFill>
                            <a:srgbClr val="1C2B27"/>
                          </a:solidFill>
                          <a:latin typeface="Meiryo UI"/>
                        </a:rPr>
                        <a:t>居宅介護支援事業所 🕐</a:t>
                      </a:r>
                    </a:p>
                  </a:txBody>
                  <a:tcPr anchor="ctr" marL="91440" marR="73152" marT="36576" marB="36576">
                    <a:solidFill>
                      <a:srgbClr val="FFFFFF"/>
                    </a:solidFill>
                  </a:tcPr>
                </a:tc>
                <a:tc>
                  <a:txBody>
                    <a:bodyPr wrap="square"/>
                    <a:lstStyle/>
                    <a:p>
                      <a:pPr algn="l"/>
                      <a:r>
                        <a:rPr sz="1300" b="0">
                          <a:solidFill>
                            <a:srgbClr val="1C2B27"/>
                          </a:solidFill>
                          <a:latin typeface="Meiryo UI"/>
                        </a:rPr>
                        <a:t>担当ケアマネの所属事業所名</a:t>
                      </a:r>
                    </a:p>
                  </a:txBody>
                  <a:tcPr anchor="ctr" marL="91440" marR="73152" marT="36576" marB="36576">
                    <a:solidFill>
                      <a:srgbClr val="FFFFFF"/>
                    </a:solidFill>
                  </a:tcPr>
                </a:tc>
              </a:tr>
              <a:tr h="365760">
                <a:tc>
                  <a:txBody>
                    <a:bodyPr wrap="square"/>
                    <a:lstStyle/>
                    <a:p>
                      <a:pPr algn="l"/>
                      <a:r>
                        <a:rPr sz="1300" b="1">
                          <a:solidFill>
                            <a:srgbClr val="1C2B27"/>
                          </a:solidFill>
                          <a:latin typeface="Meiryo UI"/>
                        </a:rPr>
                        <a:t>担当CM 🕐</a:t>
                      </a:r>
                    </a:p>
                  </a:txBody>
                  <a:tcPr anchor="ctr" marL="91440" marR="73152" marT="36576" marB="36576">
                    <a:solidFill>
                      <a:srgbClr val="E2F0EC"/>
                    </a:solidFill>
                  </a:tcPr>
                </a:tc>
                <a:tc>
                  <a:txBody>
                    <a:bodyPr wrap="square"/>
                    <a:lstStyle/>
                    <a:p>
                      <a:pPr algn="l"/>
                      <a:r>
                        <a:rPr sz="1300" b="0">
                          <a:solidFill>
                            <a:srgbClr val="1C2B27"/>
                          </a:solidFill>
                          <a:latin typeface="Meiryo UI"/>
                        </a:rPr>
                        <a:t>担当ケアマネジャーのお名前</a:t>
                      </a:r>
                    </a:p>
                  </a:txBody>
                  <a:tcPr anchor="ctr" marL="91440" marR="73152" marT="36576" marB="36576">
                    <a:solidFill>
                      <a:srgbClr val="E2F0EC"/>
                    </a:solidFill>
                  </a:tcPr>
                </a:tc>
              </a:tr>
            </a:tbl>
          </a:graphicData>
        </a:graphic>
      </p:graphicFrame>
      <p:sp>
        <p:nvSpPr>
          <p:cNvPr id="10" name="TextBox 9"/>
          <p:cNvSpPr txBox="1"/>
          <p:nvPr/>
        </p:nvSpPr>
        <p:spPr>
          <a:xfrm>
            <a:off x="640080" y="3291840"/>
            <a:ext cx="10058400" cy="365760"/>
          </a:xfrm>
          <a:prstGeom prst="rect">
            <a:avLst/>
          </a:prstGeom>
          <a:noFill/>
        </p:spPr>
        <p:txBody>
          <a:bodyPr wrap="square" anchor="t">
            <a:spAutoFit/>
          </a:bodyPr>
          <a:lstStyle/>
          <a:p>
            <a:pPr algn="l"/>
            <a:r>
              <a:rPr sz="1500" b="1">
                <a:solidFill>
                  <a:srgbClr val="0E8A78"/>
                </a:solidFill>
                <a:latin typeface="Meiryo UI"/>
              </a:rPr>
              <a:t>⑦ 介護保険情報</a:t>
            </a:r>
          </a:p>
        </p:txBody>
      </p:sp>
      <p:graphicFrame>
        <p:nvGraphicFramePr>
          <p:cNvPr id="11" name="Table 10"/>
          <p:cNvGraphicFramePr>
            <a:graphicFrameLocks noGrp="1"/>
          </p:cNvGraphicFramePr>
          <p:nvPr/>
        </p:nvGraphicFramePr>
        <p:xfrm>
          <a:off x="640080" y="3657600"/>
          <a:ext cx="10881360" cy="1828800"/>
        </p:xfrm>
        <a:graphic>
          <a:graphicData uri="http://schemas.openxmlformats.org/drawingml/2006/table">
            <a:tbl>
              <a:tblPr>
                <a:tableStyleId>{5C22544A-7EE6-4342-B048-85BDC9FD1C3A}</a:tableStyleId>
              </a:tblPr>
              <a:tblGrid>
                <a:gridCol w="2743200"/>
                <a:gridCol w="4206240"/>
                <a:gridCol w="3931920"/>
              </a:tblGrid>
              <a:tr h="365760">
                <a:tc>
                  <a:txBody>
                    <a:bodyPr wrap="square"/>
                    <a:lstStyle/>
                    <a:p>
                      <a:pPr algn="l"/>
                      <a:r>
                        <a:rPr sz="1300" b="1">
                          <a:solidFill>
                            <a:srgbClr val="FFFFFF"/>
                          </a:solidFill>
                          <a:latin typeface="Meiryo UI"/>
                        </a:rPr>
                        <a:t>項目</a:t>
                      </a:r>
                    </a:p>
                  </a:txBody>
                  <a:tcPr anchor="ctr" marL="91440" marR="73152" marT="36576" marB="36576">
                    <a:solidFill>
                      <a:srgbClr val="0E8A78"/>
                    </a:solidFill>
                  </a:tcPr>
                </a:tc>
                <a:tc>
                  <a:txBody>
                    <a:bodyPr wrap="square"/>
                    <a:lstStyle/>
                    <a:p>
                      <a:pPr algn="l"/>
                      <a:r>
                        <a:rPr sz="1300" b="1">
                          <a:solidFill>
                            <a:srgbClr val="FFFFFF"/>
                          </a:solidFill>
                          <a:latin typeface="Meiryo UI"/>
                        </a:rPr>
                        <a:t>入れる内容</a:t>
                      </a:r>
                    </a:p>
                  </a:txBody>
                  <a:tcPr anchor="ctr" marL="91440" marR="73152" marT="36576" marB="36576">
                    <a:solidFill>
                      <a:srgbClr val="0E8A78"/>
                    </a:solidFill>
                  </a:tcPr>
                </a:tc>
                <a:tc>
                  <a:txBody>
                    <a:bodyPr wrap="square"/>
                    <a:lstStyle/>
                    <a:p>
                      <a:pPr algn="l"/>
                      <a:r>
                        <a:rPr sz="1300" b="1">
                          <a:solidFill>
                            <a:srgbClr val="FFFFFF"/>
                          </a:solidFill>
                          <a:latin typeface="Meiryo UI"/>
                        </a:rPr>
                        <a:t>選べる値</a:t>
                      </a:r>
                    </a:p>
                  </a:txBody>
                  <a:tcPr anchor="ctr" marL="91440" marR="73152" marT="36576" marB="36576">
                    <a:solidFill>
                      <a:srgbClr val="0E8A78"/>
                    </a:solidFill>
                  </a:tcPr>
                </a:tc>
              </a:tr>
              <a:tr h="365760">
                <a:tc>
                  <a:txBody>
                    <a:bodyPr wrap="square"/>
                    <a:lstStyle/>
                    <a:p>
                      <a:pPr algn="l"/>
                      <a:r>
                        <a:rPr sz="1300" b="1">
                          <a:solidFill>
                            <a:srgbClr val="1C2B27"/>
                          </a:solidFill>
                          <a:latin typeface="Meiryo UI"/>
                        </a:rPr>
                        <a:t>要介護度 🕐</a:t>
                      </a:r>
                    </a:p>
                  </a:txBody>
                  <a:tcPr anchor="ctr" marL="91440" marR="73152" marT="36576" marB="36576">
                    <a:solidFill>
                      <a:srgbClr val="FFFFFF"/>
                    </a:solidFill>
                  </a:tcPr>
                </a:tc>
                <a:tc>
                  <a:txBody>
                    <a:bodyPr wrap="square"/>
                    <a:lstStyle/>
                    <a:p>
                      <a:pPr algn="l"/>
                      <a:r>
                        <a:rPr sz="1300" b="0">
                          <a:solidFill>
                            <a:srgbClr val="1C2B27"/>
                          </a:solidFill>
                          <a:latin typeface="Meiryo UI"/>
                        </a:rPr>
                        <a:t>認定区分</a:t>
                      </a:r>
                    </a:p>
                  </a:txBody>
                  <a:tcPr anchor="ctr" marL="91440" marR="73152" marT="36576" marB="36576">
                    <a:solidFill>
                      <a:srgbClr val="FFFFFF"/>
                    </a:solidFill>
                  </a:tcPr>
                </a:tc>
                <a:tc>
                  <a:txBody>
                    <a:bodyPr wrap="square"/>
                    <a:lstStyle/>
                    <a:p>
                      <a:pPr algn="l"/>
                      <a:r>
                        <a:rPr sz="1300" b="0">
                          <a:solidFill>
                            <a:srgbClr val="1C2B27"/>
                          </a:solidFill>
                          <a:latin typeface="Meiryo UI"/>
                        </a:rPr>
                        <a:t>ー／申請中／要支援1・2／要介護1〜5</a:t>
                      </a:r>
                    </a:p>
                  </a:txBody>
                  <a:tcPr anchor="ctr" marL="91440" marR="73152" marT="36576" marB="36576">
                    <a:solidFill>
                      <a:srgbClr val="FFFFFF"/>
                    </a:solidFill>
                  </a:tcPr>
                </a:tc>
              </a:tr>
              <a:tr h="365760">
                <a:tc>
                  <a:txBody>
                    <a:bodyPr wrap="square"/>
                    <a:lstStyle/>
                    <a:p>
                      <a:pPr algn="l"/>
                      <a:r>
                        <a:rPr sz="1300" b="1">
                          <a:solidFill>
                            <a:srgbClr val="1C2B27"/>
                          </a:solidFill>
                          <a:latin typeface="Meiryo UI"/>
                        </a:rPr>
                        <a:t>負担割合 🕐</a:t>
                      </a:r>
                    </a:p>
                  </a:txBody>
                  <a:tcPr anchor="ctr" marL="91440" marR="73152" marT="36576" marB="36576">
                    <a:solidFill>
                      <a:srgbClr val="E2F0EC"/>
                    </a:solidFill>
                  </a:tcPr>
                </a:tc>
                <a:tc>
                  <a:txBody>
                    <a:bodyPr wrap="square"/>
                    <a:lstStyle/>
                    <a:p>
                      <a:pPr algn="l"/>
                      <a:r>
                        <a:rPr sz="1300" b="0">
                          <a:solidFill>
                            <a:srgbClr val="1C2B27"/>
                          </a:solidFill>
                          <a:latin typeface="Meiryo UI"/>
                        </a:rPr>
                        <a:t>利用者の自己負担割合</a:t>
                      </a:r>
                    </a:p>
                  </a:txBody>
                  <a:tcPr anchor="ctr" marL="91440" marR="73152" marT="36576" marB="36576">
                    <a:solidFill>
                      <a:srgbClr val="E2F0EC"/>
                    </a:solidFill>
                  </a:tcPr>
                </a:tc>
                <a:tc>
                  <a:txBody>
                    <a:bodyPr wrap="square"/>
                    <a:lstStyle/>
                    <a:p>
                      <a:pPr algn="l"/>
                      <a:r>
                        <a:rPr sz="1300" b="0">
                          <a:solidFill>
                            <a:srgbClr val="1C2B27"/>
                          </a:solidFill>
                          <a:latin typeface="Meiryo UI"/>
                        </a:rPr>
                        <a:t>ー／1割／2割／3割</a:t>
                      </a:r>
                    </a:p>
                  </a:txBody>
                  <a:tcPr anchor="ctr" marL="91440" marR="73152" marT="36576" marB="36576">
                    <a:solidFill>
                      <a:srgbClr val="E2F0EC"/>
                    </a:solidFill>
                  </a:tcPr>
                </a:tc>
              </a:tr>
              <a:tr h="365760">
                <a:tc>
                  <a:txBody>
                    <a:bodyPr wrap="square"/>
                    <a:lstStyle/>
                    <a:p>
                      <a:pPr algn="l"/>
                      <a:r>
                        <a:rPr sz="1300" b="1">
                          <a:solidFill>
                            <a:srgbClr val="1C2B27"/>
                          </a:solidFill>
                          <a:latin typeface="Meiryo UI"/>
                        </a:rPr>
                        <a:t>介護保険被保険者証 🕐</a:t>
                      </a:r>
                    </a:p>
                  </a:txBody>
                  <a:tcPr anchor="ctr" marL="91440" marR="73152" marT="36576" marB="36576">
                    <a:solidFill>
                      <a:srgbClr val="FFFFFF"/>
                    </a:solidFill>
                  </a:tcPr>
                </a:tc>
                <a:tc>
                  <a:txBody>
                    <a:bodyPr wrap="square"/>
                    <a:lstStyle/>
                    <a:p>
                      <a:pPr algn="l"/>
                      <a:r>
                        <a:rPr sz="1300" b="0">
                          <a:solidFill>
                            <a:srgbClr val="1C2B27"/>
                          </a:solidFill>
                          <a:latin typeface="Meiryo UI"/>
                        </a:rPr>
                        <a:t>確認できているか</a:t>
                      </a:r>
                    </a:p>
                  </a:txBody>
                  <a:tcPr anchor="ctr" marL="91440" marR="73152" marT="36576" marB="36576">
                    <a:solidFill>
                      <a:srgbClr val="FFFFFF"/>
                    </a:solidFill>
                  </a:tcPr>
                </a:tc>
                <a:tc>
                  <a:txBody>
                    <a:bodyPr wrap="square"/>
                    <a:lstStyle/>
                    <a:p>
                      <a:pPr algn="l"/>
                      <a:r>
                        <a:rPr sz="1300" b="0">
                          <a:solidFill>
                            <a:srgbClr val="1C2B27"/>
                          </a:solidFill>
                          <a:latin typeface="Meiryo UI"/>
                        </a:rPr>
                        <a:t>ー／確認済／未確認</a:t>
                      </a:r>
                    </a:p>
                  </a:txBody>
                  <a:tcPr anchor="ctr" marL="91440" marR="73152" marT="36576" marB="36576">
                    <a:solidFill>
                      <a:srgbClr val="FFFFFF"/>
                    </a:solidFill>
                  </a:tcPr>
                </a:tc>
              </a:tr>
              <a:tr h="365760">
                <a:tc>
                  <a:txBody>
                    <a:bodyPr wrap="square"/>
                    <a:lstStyle/>
                    <a:p>
                      <a:pPr algn="l"/>
                      <a:r>
                        <a:rPr sz="1300" b="1">
                          <a:solidFill>
                            <a:srgbClr val="1C2B27"/>
                          </a:solidFill>
                          <a:latin typeface="Meiryo UI"/>
                        </a:rPr>
                        <a:t>介護保険負担割合証 🕐</a:t>
                      </a:r>
                    </a:p>
                  </a:txBody>
                  <a:tcPr anchor="ctr" marL="91440" marR="73152" marT="36576" marB="36576">
                    <a:solidFill>
                      <a:srgbClr val="E2F0EC"/>
                    </a:solidFill>
                  </a:tcPr>
                </a:tc>
                <a:tc>
                  <a:txBody>
                    <a:bodyPr wrap="square"/>
                    <a:lstStyle/>
                    <a:p>
                      <a:pPr algn="l"/>
                      <a:r>
                        <a:rPr sz="1300" b="0">
                          <a:solidFill>
                            <a:srgbClr val="1C2B27"/>
                          </a:solidFill>
                          <a:latin typeface="Meiryo UI"/>
                        </a:rPr>
                        <a:t>確認できているか</a:t>
                      </a:r>
                    </a:p>
                  </a:txBody>
                  <a:tcPr anchor="ctr" marL="91440" marR="73152" marT="36576" marB="36576">
                    <a:solidFill>
                      <a:srgbClr val="E2F0EC"/>
                    </a:solidFill>
                  </a:tcPr>
                </a:tc>
                <a:tc>
                  <a:txBody>
                    <a:bodyPr wrap="square"/>
                    <a:lstStyle/>
                    <a:p>
                      <a:pPr algn="l"/>
                      <a:r>
                        <a:rPr sz="1300" b="0">
                          <a:solidFill>
                            <a:srgbClr val="1C2B27"/>
                          </a:solidFill>
                          <a:latin typeface="Meiryo UI"/>
                        </a:rPr>
                        <a:t>ー／確認済／未確認</a:t>
                      </a:r>
                    </a:p>
                  </a:txBody>
                  <a:tcPr anchor="ctr" marL="91440" marR="73152" marT="36576" marB="36576">
                    <a:solidFill>
                      <a:srgbClr val="E2F0EC"/>
                    </a:solidFill>
                  </a:tcPr>
                </a:tc>
              </a:tr>
            </a:tbl>
          </a:graphicData>
        </a:graphic>
      </p:graphicFrame>
      <p:sp>
        <p:nvSpPr>
          <p:cNvPr id="12" name="TextBox 11"/>
          <p:cNvSpPr txBox="1"/>
          <p:nvPr/>
        </p:nvSpPr>
        <p:spPr>
          <a:xfrm>
            <a:off x="640080" y="5623560"/>
            <a:ext cx="10515600" cy="365760"/>
          </a:xfrm>
          <a:prstGeom prst="rect">
            <a:avLst/>
          </a:prstGeom>
          <a:noFill/>
        </p:spPr>
        <p:txBody>
          <a:bodyPr wrap="square" anchor="t">
            <a:spAutoFit/>
          </a:bodyPr>
          <a:lstStyle/>
          <a:p>
            <a:pPr algn="l"/>
            <a:r>
              <a:rPr sz="1200" b="0">
                <a:solidFill>
                  <a:srgbClr val="5B6E68"/>
                </a:solidFill>
                <a:latin typeface="Meiryo UI"/>
              </a:rPr>
              <a:t>※「ー」は「まだ未設定」の意味。わかった時点で選び直してください。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FIELDS</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項目くわしく ⑧⑨⑩　支払い・連絡先・カイポケ</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graphicFrame>
        <p:nvGraphicFramePr>
          <p:cNvPr id="8" name="Table 7"/>
          <p:cNvGraphicFramePr>
            <a:graphicFrameLocks noGrp="1"/>
          </p:cNvGraphicFramePr>
          <p:nvPr/>
        </p:nvGraphicFramePr>
        <p:xfrm>
          <a:off x="640080" y="1920240"/>
          <a:ext cx="10881360" cy="2743200"/>
        </p:xfrm>
        <a:graphic>
          <a:graphicData uri="http://schemas.openxmlformats.org/drawingml/2006/table">
            <a:tbl>
              <a:tblPr>
                <a:tableStyleId>{5C22544A-7EE6-4342-B048-85BDC9FD1C3A}</a:tableStyleId>
              </a:tblPr>
              <a:tblGrid>
                <a:gridCol w="3108960"/>
                <a:gridCol w="5029200"/>
                <a:gridCol w="2743200"/>
              </a:tblGrid>
              <a:tr h="457200">
                <a:tc>
                  <a:txBody>
                    <a:bodyPr wrap="square"/>
                    <a:lstStyle/>
                    <a:p>
                      <a:pPr algn="l"/>
                      <a:r>
                        <a:rPr sz="1300" b="1">
                          <a:solidFill>
                            <a:srgbClr val="FFFFFF"/>
                          </a:solidFill>
                          <a:latin typeface="Meiryo UI"/>
                        </a:rPr>
                        <a:t>項目</a:t>
                      </a:r>
                    </a:p>
                  </a:txBody>
                  <a:tcPr anchor="ctr" marL="91440" marR="73152" marT="36576" marB="36576">
                    <a:solidFill>
                      <a:srgbClr val="0E8A78"/>
                    </a:solidFill>
                  </a:tcPr>
                </a:tc>
                <a:tc>
                  <a:txBody>
                    <a:bodyPr wrap="square"/>
                    <a:lstStyle/>
                    <a:p>
                      <a:pPr algn="l"/>
                      <a:r>
                        <a:rPr sz="1300" b="1">
                          <a:solidFill>
                            <a:srgbClr val="FFFFFF"/>
                          </a:solidFill>
                          <a:latin typeface="Meiryo UI"/>
                        </a:rPr>
                        <a:t>入れる内容</a:t>
                      </a:r>
                    </a:p>
                  </a:txBody>
                  <a:tcPr anchor="ctr" marL="91440" marR="73152" marT="36576" marB="36576">
                    <a:solidFill>
                      <a:srgbClr val="0E8A78"/>
                    </a:solidFill>
                  </a:tcPr>
                </a:tc>
                <a:tc>
                  <a:txBody>
                    <a:bodyPr wrap="square"/>
                    <a:lstStyle/>
                    <a:p>
                      <a:pPr algn="l"/>
                      <a:r>
                        <a:rPr sz="1300" b="1">
                          <a:solidFill>
                            <a:srgbClr val="FFFFFF"/>
                          </a:solidFill>
                          <a:latin typeface="Meiryo UI"/>
                        </a:rPr>
                        <a:t>選べる値</a:t>
                      </a:r>
                    </a:p>
                  </a:txBody>
                  <a:tcPr anchor="ctr" marL="91440" marR="73152" marT="36576" marB="36576">
                    <a:solidFill>
                      <a:srgbClr val="0E8A78"/>
                    </a:solidFill>
                  </a:tcPr>
                </a:tc>
              </a:tr>
              <a:tr h="457200">
                <a:tc>
                  <a:txBody>
                    <a:bodyPr wrap="square"/>
                    <a:lstStyle/>
                    <a:p>
                      <a:pPr algn="l"/>
                      <a:r>
                        <a:rPr sz="1300" b="1">
                          <a:solidFill>
                            <a:srgbClr val="1C2B27"/>
                          </a:solidFill>
                          <a:latin typeface="Meiryo UI"/>
                        </a:rPr>
                        <a:t>⑧ 支払い区分 🕐</a:t>
                      </a:r>
                    </a:p>
                  </a:txBody>
                  <a:tcPr anchor="ctr" marL="91440" marR="73152" marT="36576" marB="36576">
                    <a:solidFill>
                      <a:srgbClr val="FFFFFF"/>
                    </a:solidFill>
                  </a:tcPr>
                </a:tc>
                <a:tc>
                  <a:txBody>
                    <a:bodyPr wrap="square"/>
                    <a:lstStyle/>
                    <a:p>
                      <a:pPr algn="l"/>
                      <a:r>
                        <a:rPr sz="1300" b="0">
                          <a:solidFill>
                            <a:srgbClr val="1C2B27"/>
                          </a:solidFill>
                          <a:latin typeface="Meiryo UI"/>
                        </a:rPr>
                        <a:t>生活保護受給かどうか（レセプトの生保判定に使用）</a:t>
                      </a:r>
                    </a:p>
                  </a:txBody>
                  <a:tcPr anchor="ctr" marL="91440" marR="73152" marT="36576" marB="36576">
                    <a:solidFill>
                      <a:srgbClr val="FFFFFF"/>
                    </a:solidFill>
                  </a:tcPr>
                </a:tc>
                <a:tc>
                  <a:txBody>
                    <a:bodyPr wrap="square"/>
                    <a:lstStyle/>
                    <a:p>
                      <a:pPr algn="l"/>
                      <a:r>
                        <a:rPr sz="1300" b="0">
                          <a:solidFill>
                            <a:srgbClr val="1C2B27"/>
                          </a:solidFill>
                          <a:latin typeface="Meiryo UI"/>
                        </a:rPr>
                        <a:t>ー／非生保／生保</a:t>
                      </a:r>
                    </a:p>
                  </a:txBody>
                  <a:tcPr anchor="ctr" marL="91440" marR="73152" marT="36576" marB="36576">
                    <a:solidFill>
                      <a:srgbClr val="FFFFFF"/>
                    </a:solidFill>
                  </a:tcPr>
                </a:tc>
              </a:tr>
              <a:tr h="457200">
                <a:tc>
                  <a:txBody>
                    <a:bodyPr wrap="square"/>
                    <a:lstStyle/>
                    <a:p>
                      <a:pPr algn="l"/>
                      <a:r>
                        <a:rPr sz="1300" b="1">
                          <a:solidFill>
                            <a:srgbClr val="1C2B27"/>
                          </a:solidFill>
                          <a:latin typeface="Meiryo UI"/>
                        </a:rPr>
                        <a:t>⑨ キーパーソン：氏名</a:t>
                      </a:r>
                    </a:p>
                  </a:txBody>
                  <a:tcPr anchor="ctr" marL="91440" marR="73152" marT="36576" marB="36576">
                    <a:solidFill>
                      <a:srgbClr val="E2F0EC"/>
                    </a:solidFill>
                  </a:tcPr>
                </a:tc>
                <a:tc>
                  <a:txBody>
                    <a:bodyPr wrap="square"/>
                    <a:lstStyle/>
                    <a:p>
                      <a:pPr algn="l"/>
                      <a:r>
                        <a:rPr sz="1300" b="0">
                          <a:solidFill>
                            <a:srgbClr val="1C2B27"/>
                          </a:solidFill>
                          <a:latin typeface="Meiryo UI"/>
                        </a:rPr>
                        <a:t>ご家族など連絡先になる方の氏名</a:t>
                      </a:r>
                    </a:p>
                  </a:txBody>
                  <a:tcPr anchor="ctr" marL="91440" marR="73152" marT="36576" marB="36576">
                    <a:solidFill>
                      <a:srgbClr val="E2F0EC"/>
                    </a:solidFill>
                  </a:tcPr>
                </a:tc>
                <a:tc>
                  <a:txBody>
                    <a:bodyPr wrap="square"/>
                    <a:lstStyle/>
                    <a:p>
                      <a:pPr algn="l"/>
                      <a:r>
                        <a:rPr sz="1300" b="0">
                          <a:solidFill>
                            <a:srgbClr val="1C2B27"/>
                          </a:solidFill>
                          <a:latin typeface="Meiryo UI"/>
                        </a:rPr>
                        <a:t>文字入力</a:t>
                      </a:r>
                    </a:p>
                  </a:txBody>
                  <a:tcPr anchor="ctr" marL="91440" marR="73152" marT="36576" marB="36576">
                    <a:solidFill>
                      <a:srgbClr val="E2F0EC"/>
                    </a:solidFill>
                  </a:tcPr>
                </a:tc>
              </a:tr>
              <a:tr h="457200">
                <a:tc>
                  <a:txBody>
                    <a:bodyPr wrap="square"/>
                    <a:lstStyle/>
                    <a:p>
                      <a:pPr algn="l"/>
                      <a:r>
                        <a:rPr sz="1300" b="1">
                          <a:solidFill>
                            <a:srgbClr val="1C2B27"/>
                          </a:solidFill>
                          <a:latin typeface="Meiryo UI"/>
                        </a:rPr>
                        <a:t>⑨ キーパーソン：続柄</a:t>
                      </a:r>
                    </a:p>
                  </a:txBody>
                  <a:tcPr anchor="ctr" marL="91440" marR="73152" marT="36576" marB="36576">
                    <a:solidFill>
                      <a:srgbClr val="FFFFFF"/>
                    </a:solidFill>
                  </a:tcPr>
                </a:tc>
                <a:tc>
                  <a:txBody>
                    <a:bodyPr wrap="square"/>
                    <a:lstStyle/>
                    <a:p>
                      <a:pPr algn="l"/>
                      <a:r>
                        <a:rPr sz="1300" b="0">
                          <a:solidFill>
                            <a:srgbClr val="1C2B27"/>
                          </a:solidFill>
                          <a:latin typeface="Meiryo UI"/>
                        </a:rPr>
                        <a:t>本人との関係（長男・妻 など）</a:t>
                      </a:r>
                    </a:p>
                  </a:txBody>
                  <a:tcPr anchor="ctr" marL="91440" marR="73152" marT="36576" marB="36576">
                    <a:solidFill>
                      <a:srgbClr val="FFFFFF"/>
                    </a:solidFill>
                  </a:tcPr>
                </a:tc>
                <a:tc>
                  <a:txBody>
                    <a:bodyPr wrap="square"/>
                    <a:lstStyle/>
                    <a:p>
                      <a:pPr algn="l"/>
                      <a:r>
                        <a:rPr sz="1300" b="0">
                          <a:solidFill>
                            <a:srgbClr val="1C2B27"/>
                          </a:solidFill>
                          <a:latin typeface="Meiryo UI"/>
                        </a:rPr>
                        <a:t>文字入力</a:t>
                      </a:r>
                    </a:p>
                  </a:txBody>
                  <a:tcPr anchor="ctr" marL="91440" marR="73152" marT="36576" marB="36576">
                    <a:solidFill>
                      <a:srgbClr val="FFFFFF"/>
                    </a:solidFill>
                  </a:tcPr>
                </a:tc>
              </a:tr>
              <a:tr h="457200">
                <a:tc>
                  <a:txBody>
                    <a:bodyPr wrap="square"/>
                    <a:lstStyle/>
                    <a:p>
                      <a:pPr algn="l"/>
                      <a:r>
                        <a:rPr sz="1300" b="1">
                          <a:solidFill>
                            <a:srgbClr val="1C2B27"/>
                          </a:solidFill>
                          <a:latin typeface="Meiryo UI"/>
                        </a:rPr>
                        <a:t>⑨ キーパーソン：連絡先</a:t>
                      </a:r>
                    </a:p>
                  </a:txBody>
                  <a:tcPr anchor="ctr" marL="91440" marR="73152" marT="36576" marB="36576">
                    <a:solidFill>
                      <a:srgbClr val="E2F0EC"/>
                    </a:solidFill>
                  </a:tcPr>
                </a:tc>
                <a:tc>
                  <a:txBody>
                    <a:bodyPr wrap="square"/>
                    <a:lstStyle/>
                    <a:p>
                      <a:pPr algn="l"/>
                      <a:r>
                        <a:rPr sz="1300" b="0">
                          <a:solidFill>
                            <a:srgbClr val="1C2B27"/>
                          </a:solidFill>
                          <a:latin typeface="Meiryo UI"/>
                        </a:rPr>
                        <a:t>電話番号など</a:t>
                      </a:r>
                    </a:p>
                  </a:txBody>
                  <a:tcPr anchor="ctr" marL="91440" marR="73152" marT="36576" marB="36576">
                    <a:solidFill>
                      <a:srgbClr val="E2F0EC"/>
                    </a:solidFill>
                  </a:tcPr>
                </a:tc>
                <a:tc>
                  <a:txBody>
                    <a:bodyPr wrap="square"/>
                    <a:lstStyle/>
                    <a:p>
                      <a:pPr algn="l"/>
                      <a:r>
                        <a:rPr sz="1300" b="0">
                          <a:solidFill>
                            <a:srgbClr val="1C2B27"/>
                          </a:solidFill>
                          <a:latin typeface="Meiryo UI"/>
                        </a:rPr>
                        <a:t>文字入力</a:t>
                      </a:r>
                    </a:p>
                  </a:txBody>
                  <a:tcPr anchor="ctr" marL="91440" marR="73152" marT="36576" marB="36576">
                    <a:solidFill>
                      <a:srgbClr val="E2F0EC"/>
                    </a:solidFill>
                  </a:tcPr>
                </a:tc>
              </a:tr>
              <a:tr h="457200">
                <a:tc>
                  <a:txBody>
                    <a:bodyPr wrap="square"/>
                    <a:lstStyle/>
                    <a:p>
                      <a:pPr algn="l"/>
                      <a:r>
                        <a:rPr sz="1300" b="1">
                          <a:solidFill>
                            <a:srgbClr val="1C2B27"/>
                          </a:solidFill>
                          <a:latin typeface="Meiryo UI"/>
                        </a:rPr>
                        <a:t>⑩ カイポケ登録（基本情報）</a:t>
                      </a:r>
                    </a:p>
                  </a:txBody>
                  <a:tcPr anchor="ctr" marL="91440" marR="73152" marT="36576" marB="36576">
                    <a:solidFill>
                      <a:srgbClr val="FFFFFF"/>
                    </a:solidFill>
                  </a:tcPr>
                </a:tc>
                <a:tc>
                  <a:txBody>
                    <a:bodyPr wrap="square"/>
                    <a:lstStyle/>
                    <a:p>
                      <a:pPr algn="l"/>
                      <a:r>
                        <a:rPr sz="1300" b="0">
                          <a:solidFill>
                            <a:srgbClr val="1C2B27"/>
                          </a:solidFill>
                          <a:latin typeface="Meiryo UI"/>
                        </a:rPr>
                        <a:t>カイポケに基本情報を登録済みか</a:t>
                      </a:r>
                    </a:p>
                  </a:txBody>
                  <a:tcPr anchor="ctr" marL="91440" marR="73152" marT="36576" marB="36576">
                    <a:solidFill>
                      <a:srgbClr val="FFFFFF"/>
                    </a:solidFill>
                  </a:tcPr>
                </a:tc>
                <a:tc>
                  <a:txBody>
                    <a:bodyPr wrap="square"/>
                    <a:lstStyle/>
                    <a:p>
                      <a:pPr algn="l"/>
                      <a:r>
                        <a:rPr sz="1300" b="0">
                          <a:solidFill>
                            <a:srgbClr val="1C2B27"/>
                          </a:solidFill>
                          <a:latin typeface="Meiryo UI"/>
                        </a:rPr>
                        <a:t>未登録／登録済</a:t>
                      </a:r>
                    </a:p>
                  </a:txBody>
                  <a:tcPr anchor="ctr" marL="91440"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HISTORY</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 変更履歴の使い方</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TextBox 7"/>
          <p:cNvSpPr txBox="1"/>
          <p:nvPr/>
        </p:nvSpPr>
        <p:spPr>
          <a:xfrm>
            <a:off x="640080" y="1645920"/>
            <a:ext cx="10881360" cy="822960"/>
          </a:xfrm>
          <a:prstGeom prst="rect">
            <a:avLst/>
          </a:prstGeom>
          <a:noFill/>
        </p:spPr>
        <p:txBody>
          <a:bodyPr wrap="square">
            <a:spAutoFit/>
          </a:bodyPr>
          <a:lstStyle/>
          <a:p>
            <a:pPr algn="l">
              <a:lnSpc>
                <a:spcPct val="125000"/>
              </a:lnSpc>
              <a:spcAft>
                <a:spcPts val="400"/>
              </a:spcAft>
            </a:pPr>
            <a:r>
              <a:rPr sz="1500" b="0">
                <a:solidFill>
                  <a:srgbClr val="1C2B27"/>
                </a:solidFill>
                <a:latin typeface="Meiryo UI"/>
              </a:rPr>
              <a:t>「いつから介護度が変わったか」など、変化の履歴を残せます。</a:t>
            </a:r>
          </a:p>
          <a:p>
            <a:pPr algn="l">
              <a:lnSpc>
                <a:spcPct val="125000"/>
              </a:lnSpc>
              <a:spcAft>
                <a:spcPts val="400"/>
              </a:spcAft>
            </a:pPr>
            <a:r>
              <a:rPr sz="1500" b="0">
                <a:solidFill>
                  <a:srgbClr val="5B6E68"/>
                </a:solidFill>
                <a:latin typeface="Meiryo UI"/>
              </a:rPr>
              <a:t>過去の月を正しく表示するために役立ちます。</a:t>
            </a:r>
          </a:p>
        </p:txBody>
      </p:sp>
      <p:sp>
        <p:nvSpPr>
          <p:cNvPr id="9" name="TextBox 8"/>
          <p:cNvSpPr txBox="1"/>
          <p:nvPr/>
        </p:nvSpPr>
        <p:spPr>
          <a:xfrm>
            <a:off x="640080" y="2468880"/>
            <a:ext cx="10058400" cy="365760"/>
          </a:xfrm>
          <a:prstGeom prst="rect">
            <a:avLst/>
          </a:prstGeom>
          <a:noFill/>
        </p:spPr>
        <p:txBody>
          <a:bodyPr wrap="square" anchor="t">
            <a:spAutoFit/>
          </a:bodyPr>
          <a:lstStyle/>
          <a:p>
            <a:pPr algn="l"/>
            <a:r>
              <a:rPr sz="1500" b="1">
                <a:solidFill>
                  <a:srgbClr val="0E8A78"/>
                </a:solidFill>
                <a:latin typeface="Meiryo UI"/>
              </a:rPr>
              <a:t>● 自動で記録される</a:t>
            </a:r>
          </a:p>
        </p:txBody>
      </p:sp>
      <p:sp>
        <p:nvSpPr>
          <p:cNvPr id="10" name="TextBox 9"/>
          <p:cNvSpPr txBox="1"/>
          <p:nvPr/>
        </p:nvSpPr>
        <p:spPr>
          <a:xfrm>
            <a:off x="822960" y="2834640"/>
            <a:ext cx="10515600" cy="640080"/>
          </a:xfrm>
          <a:prstGeom prst="rect">
            <a:avLst/>
          </a:prstGeom>
          <a:noFill/>
        </p:spPr>
        <p:txBody>
          <a:bodyPr wrap="square" anchor="t">
            <a:spAutoFit/>
          </a:bodyPr>
          <a:lstStyle/>
          <a:p>
            <a:pPr algn="l"/>
            <a:r>
              <a:rPr sz="1300" b="0">
                <a:solidFill>
                  <a:srgbClr val="1C2B27"/>
                </a:solidFill>
                <a:latin typeface="Meiryo UI"/>
              </a:rPr>
              <a:t>編集モードで🕐つきの項目を変えると「いつから有効ですか？」と日付をきく画面が出ます。日付を入れると履歴に残ります。</a:t>
            </a:r>
          </a:p>
        </p:txBody>
      </p:sp>
      <p:sp>
        <p:nvSpPr>
          <p:cNvPr id="11" name="TextBox 10"/>
          <p:cNvSpPr txBox="1"/>
          <p:nvPr/>
        </p:nvSpPr>
        <p:spPr>
          <a:xfrm>
            <a:off x="640080" y="3520440"/>
            <a:ext cx="10058400" cy="365760"/>
          </a:xfrm>
          <a:prstGeom prst="rect">
            <a:avLst/>
          </a:prstGeom>
          <a:noFill/>
        </p:spPr>
        <p:txBody>
          <a:bodyPr wrap="square" anchor="t">
            <a:spAutoFit/>
          </a:bodyPr>
          <a:lstStyle/>
          <a:p>
            <a:pPr algn="l"/>
            <a:r>
              <a:rPr sz="1500" b="1">
                <a:solidFill>
                  <a:srgbClr val="0E8A78"/>
                </a:solidFill>
                <a:latin typeface="Meiryo UI"/>
              </a:rPr>
              <a:t>● 過去の履歴を手で追加する</a:t>
            </a:r>
          </a:p>
        </p:txBody>
      </p:sp>
      <p:sp>
        <p:nvSpPr>
          <p:cNvPr id="12" name="Rectangle 11"/>
          <p:cNvSpPr/>
          <p:nvPr/>
        </p:nvSpPr>
        <p:spPr>
          <a:xfrm>
            <a:off x="640080" y="3931920"/>
            <a:ext cx="3429000" cy="137160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4023360"/>
            <a:ext cx="914400" cy="640080"/>
          </a:xfrm>
          <a:prstGeom prst="rect">
            <a:avLst/>
          </a:prstGeom>
          <a:noFill/>
        </p:spPr>
        <p:txBody>
          <a:bodyPr wrap="square" anchor="t">
            <a:spAutoFit/>
          </a:bodyPr>
          <a:lstStyle/>
          <a:p>
            <a:pPr algn="l"/>
            <a:r>
              <a:rPr sz="3000" b="1">
                <a:solidFill>
                  <a:srgbClr val="0E8A78"/>
                </a:solidFill>
                <a:latin typeface="Meiryo UI"/>
              </a:rPr>
              <a:t>1</a:t>
            </a:r>
          </a:p>
        </p:txBody>
      </p:sp>
      <p:sp>
        <p:nvSpPr>
          <p:cNvPr id="14" name="TextBox 13"/>
          <p:cNvSpPr txBox="1"/>
          <p:nvPr/>
        </p:nvSpPr>
        <p:spPr>
          <a:xfrm>
            <a:off x="822959" y="4572000"/>
            <a:ext cx="3108960" cy="365760"/>
          </a:xfrm>
          <a:prstGeom prst="rect">
            <a:avLst/>
          </a:prstGeom>
          <a:noFill/>
        </p:spPr>
        <p:txBody>
          <a:bodyPr wrap="square" anchor="t">
            <a:spAutoFit/>
          </a:bodyPr>
          <a:lstStyle/>
          <a:p>
            <a:pPr algn="l"/>
            <a:r>
              <a:rPr sz="1400" b="1">
                <a:solidFill>
                  <a:srgbClr val="1C2B27"/>
                </a:solidFill>
                <a:latin typeface="Meiryo UI"/>
              </a:rPr>
              <a:t>編集モードにする</a:t>
            </a:r>
          </a:p>
        </p:txBody>
      </p:sp>
      <p:sp>
        <p:nvSpPr>
          <p:cNvPr id="15" name="TextBox 14"/>
          <p:cNvSpPr txBox="1"/>
          <p:nvPr/>
        </p:nvSpPr>
        <p:spPr>
          <a:xfrm>
            <a:off x="822959" y="4892040"/>
            <a:ext cx="3108960" cy="457200"/>
          </a:xfrm>
          <a:prstGeom prst="rect">
            <a:avLst/>
          </a:prstGeom>
          <a:noFill/>
        </p:spPr>
        <p:txBody>
          <a:bodyPr wrap="square" anchor="t">
            <a:spAutoFit/>
          </a:bodyPr>
          <a:lstStyle/>
          <a:p>
            <a:pPr algn="l"/>
            <a:r>
              <a:rPr sz="1100" b="0">
                <a:solidFill>
                  <a:srgbClr val="5B6E68"/>
                </a:solidFill>
                <a:latin typeface="Meiryo UI"/>
              </a:rPr>
              <a:t>右上の「編集」を押す</a:t>
            </a:r>
          </a:p>
        </p:txBody>
      </p:sp>
      <p:sp>
        <p:nvSpPr>
          <p:cNvPr id="16" name="Rectangle 15"/>
          <p:cNvSpPr/>
          <p:nvPr/>
        </p:nvSpPr>
        <p:spPr>
          <a:xfrm>
            <a:off x="4343400" y="3931920"/>
            <a:ext cx="3429000" cy="137160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4023360"/>
            <a:ext cx="914400" cy="640080"/>
          </a:xfrm>
          <a:prstGeom prst="rect">
            <a:avLst/>
          </a:prstGeom>
          <a:noFill/>
        </p:spPr>
        <p:txBody>
          <a:bodyPr wrap="square" anchor="t">
            <a:spAutoFit/>
          </a:bodyPr>
          <a:lstStyle/>
          <a:p>
            <a:pPr algn="l"/>
            <a:r>
              <a:rPr sz="3000" b="1">
                <a:solidFill>
                  <a:srgbClr val="0E8A78"/>
                </a:solidFill>
                <a:latin typeface="Meiryo UI"/>
              </a:rPr>
              <a:t>2</a:t>
            </a:r>
          </a:p>
        </p:txBody>
      </p:sp>
      <p:sp>
        <p:nvSpPr>
          <p:cNvPr id="18" name="TextBox 17"/>
          <p:cNvSpPr txBox="1"/>
          <p:nvPr/>
        </p:nvSpPr>
        <p:spPr>
          <a:xfrm>
            <a:off x="4526280" y="4572000"/>
            <a:ext cx="3108960" cy="365760"/>
          </a:xfrm>
          <a:prstGeom prst="rect">
            <a:avLst/>
          </a:prstGeom>
          <a:noFill/>
        </p:spPr>
        <p:txBody>
          <a:bodyPr wrap="square" anchor="t">
            <a:spAutoFit/>
          </a:bodyPr>
          <a:lstStyle/>
          <a:p>
            <a:pPr algn="l"/>
            <a:r>
              <a:rPr sz="1400" b="1">
                <a:solidFill>
                  <a:srgbClr val="1C2B27"/>
                </a:solidFill>
                <a:latin typeface="Meiryo UI"/>
              </a:rPr>
              <a:t>🕐 を押す</a:t>
            </a:r>
          </a:p>
        </p:txBody>
      </p:sp>
      <p:sp>
        <p:nvSpPr>
          <p:cNvPr id="19" name="TextBox 18"/>
          <p:cNvSpPr txBox="1"/>
          <p:nvPr/>
        </p:nvSpPr>
        <p:spPr>
          <a:xfrm>
            <a:off x="4526280" y="4892040"/>
            <a:ext cx="3108960" cy="457200"/>
          </a:xfrm>
          <a:prstGeom prst="rect">
            <a:avLst/>
          </a:prstGeom>
          <a:noFill/>
        </p:spPr>
        <p:txBody>
          <a:bodyPr wrap="square" anchor="t">
            <a:spAutoFit/>
          </a:bodyPr>
          <a:lstStyle/>
          <a:p>
            <a:pPr algn="l"/>
            <a:r>
              <a:rPr sz="1100" b="0">
                <a:solidFill>
                  <a:srgbClr val="5B6E68"/>
                </a:solidFill>
                <a:latin typeface="Meiryo UI"/>
              </a:rPr>
              <a:t>項目名の横の🕐で履歴の画面を開く</a:t>
            </a:r>
          </a:p>
        </p:txBody>
      </p:sp>
      <p:sp>
        <p:nvSpPr>
          <p:cNvPr id="20" name="Rectangle 19"/>
          <p:cNvSpPr/>
          <p:nvPr/>
        </p:nvSpPr>
        <p:spPr>
          <a:xfrm>
            <a:off x="8046720" y="3931920"/>
            <a:ext cx="3429000" cy="1371600"/>
          </a:xfrm>
          <a:prstGeom prst="rect">
            <a:avLst/>
          </a:prstGeom>
          <a:solidFill>
            <a:srgbClr val="FFFFFF"/>
          </a:solidFill>
          <a:ln w="12700">
            <a:solidFill>
              <a:srgbClr val="D7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4023360"/>
            <a:ext cx="914400" cy="640080"/>
          </a:xfrm>
          <a:prstGeom prst="rect">
            <a:avLst/>
          </a:prstGeom>
          <a:noFill/>
        </p:spPr>
        <p:txBody>
          <a:bodyPr wrap="square" anchor="t">
            <a:spAutoFit/>
          </a:bodyPr>
          <a:lstStyle/>
          <a:p>
            <a:pPr algn="l"/>
            <a:r>
              <a:rPr sz="3000" b="1">
                <a:solidFill>
                  <a:srgbClr val="0E8A78"/>
                </a:solidFill>
                <a:latin typeface="Meiryo UI"/>
              </a:rPr>
              <a:t>3</a:t>
            </a:r>
          </a:p>
        </p:txBody>
      </p:sp>
      <p:sp>
        <p:nvSpPr>
          <p:cNvPr id="22" name="TextBox 21"/>
          <p:cNvSpPr txBox="1"/>
          <p:nvPr/>
        </p:nvSpPr>
        <p:spPr>
          <a:xfrm>
            <a:off x="8229600" y="4572000"/>
            <a:ext cx="3108960" cy="365760"/>
          </a:xfrm>
          <a:prstGeom prst="rect">
            <a:avLst/>
          </a:prstGeom>
          <a:noFill/>
        </p:spPr>
        <p:txBody>
          <a:bodyPr wrap="square" anchor="t">
            <a:spAutoFit/>
          </a:bodyPr>
          <a:lstStyle/>
          <a:p>
            <a:pPr algn="l"/>
            <a:r>
              <a:rPr sz="1400" b="1">
                <a:solidFill>
                  <a:srgbClr val="1C2B27"/>
                </a:solidFill>
                <a:latin typeface="Meiryo UI"/>
              </a:rPr>
              <a:t>「履歴を追加」</a:t>
            </a:r>
          </a:p>
        </p:txBody>
      </p:sp>
      <p:sp>
        <p:nvSpPr>
          <p:cNvPr id="23" name="TextBox 22"/>
          <p:cNvSpPr txBox="1"/>
          <p:nvPr/>
        </p:nvSpPr>
        <p:spPr>
          <a:xfrm>
            <a:off x="8229600" y="4892040"/>
            <a:ext cx="3108960" cy="457200"/>
          </a:xfrm>
          <a:prstGeom prst="rect">
            <a:avLst/>
          </a:prstGeom>
          <a:noFill/>
        </p:spPr>
        <p:txBody>
          <a:bodyPr wrap="square" anchor="t">
            <a:spAutoFit/>
          </a:bodyPr>
          <a:lstStyle/>
          <a:p>
            <a:pPr algn="l"/>
            <a:r>
              <a:rPr sz="1100" b="0">
                <a:solidFill>
                  <a:srgbClr val="5B6E68"/>
                </a:solidFill>
                <a:latin typeface="Meiryo UI"/>
              </a:rPr>
              <a:t>値・実効日（必須）・備考を入れて追加 →「保存する」</a:t>
            </a:r>
          </a:p>
        </p:txBody>
      </p:sp>
      <p:sp>
        <p:nvSpPr>
          <p:cNvPr id="24" name="Rectangle 23"/>
          <p:cNvSpPr/>
          <p:nvPr/>
        </p:nvSpPr>
        <p:spPr>
          <a:xfrm>
            <a:off x="640080" y="5486400"/>
            <a:ext cx="10881360" cy="777240"/>
          </a:xfrm>
          <a:prstGeom prst="rect">
            <a:avLst/>
          </a:prstGeom>
          <a:solidFill>
            <a:srgbClr val="E2F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5486400"/>
            <a:ext cx="73152" cy="77724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596128"/>
            <a:ext cx="10515600" cy="594359"/>
          </a:xfrm>
          <a:prstGeom prst="rect">
            <a:avLst/>
          </a:prstGeom>
          <a:noFill/>
        </p:spPr>
        <p:txBody>
          <a:bodyPr wrap="square">
            <a:spAutoFit/>
          </a:bodyPr>
          <a:lstStyle/>
          <a:p>
            <a:pPr algn="l">
              <a:lnSpc>
                <a:spcPct val="125000"/>
              </a:lnSpc>
              <a:spcAft>
                <a:spcPts val="400"/>
              </a:spcAft>
            </a:pPr>
            <a:r>
              <a:rPr sz="1300" b="1">
                <a:solidFill>
                  <a:srgbClr val="0E8A78"/>
                </a:solidFill>
                <a:latin typeface="Meiryo UI"/>
              </a:rPr>
              <a:t>🗑️ まちがえたら削除できます</a:t>
            </a:r>
          </a:p>
          <a:p>
            <a:pPr algn="l">
              <a:lnSpc>
                <a:spcPct val="125000"/>
              </a:lnSpc>
              <a:spcAft>
                <a:spcPts val="400"/>
              </a:spcAft>
            </a:pPr>
            <a:r>
              <a:rPr sz="1300" b="0">
                <a:solidFill>
                  <a:srgbClr val="1C2B27"/>
                </a:solidFill>
                <a:latin typeface="Meiryo UI"/>
              </a:rPr>
              <a:t>同じ🕐の画面で「削除」を押せば消せます。この履歴は施設契約情報とちがい、消えずに保存されます。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r>
              <a:rPr sz="1300" b="1">
                <a:solidFill>
                  <a:srgbClr val="0E8A78"/>
                </a:solidFill>
                <a:latin typeface="Meiryo UI"/>
              </a:rPr>
              <a:t>Q&amp;A</a:t>
            </a:r>
          </a:p>
        </p:txBody>
      </p:sp>
      <p:sp>
        <p:nvSpPr>
          <p:cNvPr id="5" name="TextBox 4"/>
          <p:cNvSpPr txBox="1"/>
          <p:nvPr/>
        </p:nvSpPr>
        <p:spPr>
          <a:xfrm>
            <a:off x="603504" y="658368"/>
            <a:ext cx="10972800" cy="822960"/>
          </a:xfrm>
          <a:prstGeom prst="rect">
            <a:avLst/>
          </a:prstGeom>
          <a:noFill/>
        </p:spPr>
        <p:txBody>
          <a:bodyPr wrap="square" anchor="t">
            <a:spAutoFit/>
          </a:bodyPr>
          <a:lstStyle/>
          <a:p>
            <a:pPr algn="l"/>
            <a:r>
              <a:rPr sz="3000" b="1">
                <a:solidFill>
                  <a:srgbClr val="1C2B27"/>
                </a:solidFill>
                <a:latin typeface="Meiryo UI"/>
              </a:rPr>
              <a:t>よくある質問</a:t>
            </a:r>
          </a:p>
        </p:txBody>
      </p:sp>
      <p:sp>
        <p:nvSpPr>
          <p:cNvPr id="6" name="Rectangle 5"/>
          <p:cNvSpPr/>
          <p:nvPr/>
        </p:nvSpPr>
        <p:spPr>
          <a:xfrm>
            <a:off x="640080" y="1481328"/>
            <a:ext cx="1280160" cy="54864"/>
          </a:xfrm>
          <a:prstGeom prst="rect">
            <a:avLst/>
          </a:prstGeom>
          <a:solidFill>
            <a:srgbClr val="0E8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10972800" cy="320040"/>
          </a:xfrm>
          <a:prstGeom prst="rect">
            <a:avLst/>
          </a:prstGeom>
          <a:noFill/>
        </p:spPr>
        <p:txBody>
          <a:bodyPr wrap="square" anchor="t">
            <a:spAutoFit/>
          </a:bodyPr>
          <a:lstStyle/>
          <a:p>
            <a:pPr algn="r"/>
            <a:r>
              <a:rPr sz="1000" b="0">
                <a:solidFill>
                  <a:srgbClr val="5B6E68"/>
                </a:solidFill>
                <a:latin typeface="Meiryo UI"/>
              </a:rPr>
              <a:t>WelfareAssist Pro ｜ 基本情報タブ 操作マニュアル</a:t>
            </a:r>
          </a:p>
        </p:txBody>
      </p:sp>
      <p:sp>
        <p:nvSpPr>
          <p:cNvPr id="8" name="TextBox 7"/>
          <p:cNvSpPr txBox="1"/>
          <p:nvPr/>
        </p:nvSpPr>
        <p:spPr>
          <a:xfrm>
            <a:off x="640080" y="1783080"/>
            <a:ext cx="10881360" cy="411480"/>
          </a:xfrm>
          <a:prstGeom prst="rect">
            <a:avLst/>
          </a:prstGeom>
          <a:noFill/>
        </p:spPr>
        <p:txBody>
          <a:bodyPr wrap="square" anchor="t">
            <a:spAutoFit/>
          </a:bodyPr>
          <a:lstStyle/>
          <a:p>
            <a:pPr algn="l"/>
            <a:r>
              <a:rPr sz="1500" b="1">
                <a:solidFill>
                  <a:srgbClr val="0E8A78"/>
                </a:solidFill>
                <a:latin typeface="Meiryo UI"/>
              </a:rPr>
              <a:t>Q. 入力したのに反映されません</a:t>
            </a:r>
          </a:p>
        </p:txBody>
      </p:sp>
      <p:sp>
        <p:nvSpPr>
          <p:cNvPr id="9" name="TextBox 8"/>
          <p:cNvSpPr txBox="1"/>
          <p:nvPr/>
        </p:nvSpPr>
        <p:spPr>
          <a:xfrm>
            <a:off x="914400" y="2167128"/>
            <a:ext cx="10424160" cy="640080"/>
          </a:xfrm>
          <a:prstGeom prst="rect">
            <a:avLst/>
          </a:prstGeom>
          <a:noFill/>
        </p:spPr>
        <p:txBody>
          <a:bodyPr wrap="square" anchor="t">
            <a:spAutoFit/>
          </a:bodyPr>
          <a:lstStyle/>
          <a:p>
            <a:pPr algn="l"/>
            <a:r>
              <a:rPr sz="1300" b="0">
                <a:solidFill>
                  <a:srgbClr val="1C2B27"/>
                </a:solidFill>
                <a:latin typeface="Meiryo UI"/>
              </a:rPr>
              <a:t>A. 自動保存はありません。「編集」中に右上の「保存する」を押したか確認してください。うっかり保存せず移動しようとしても確認ダイアログが出るので大丈夫です。</a:t>
            </a:r>
          </a:p>
        </p:txBody>
      </p:sp>
      <p:sp>
        <p:nvSpPr>
          <p:cNvPr id="10" name="TextBox 9"/>
          <p:cNvSpPr txBox="1"/>
          <p:nvPr/>
        </p:nvSpPr>
        <p:spPr>
          <a:xfrm>
            <a:off x="640080" y="2880360"/>
            <a:ext cx="10881360" cy="411480"/>
          </a:xfrm>
          <a:prstGeom prst="rect">
            <a:avLst/>
          </a:prstGeom>
          <a:noFill/>
        </p:spPr>
        <p:txBody>
          <a:bodyPr wrap="square" anchor="t">
            <a:spAutoFit/>
          </a:bodyPr>
          <a:lstStyle/>
          <a:p>
            <a:pPr algn="l"/>
            <a:r>
              <a:rPr sz="1500" b="1">
                <a:solidFill>
                  <a:srgbClr val="0E8A78"/>
                </a:solidFill>
                <a:latin typeface="Meiryo UI"/>
              </a:rPr>
              <a:t>Q. 施設契約情報を直したのに翌日もとに戻る</a:t>
            </a:r>
          </a:p>
        </p:txBody>
      </p:sp>
      <p:sp>
        <p:nvSpPr>
          <p:cNvPr id="11" name="TextBox 10"/>
          <p:cNvSpPr txBox="1"/>
          <p:nvPr/>
        </p:nvSpPr>
        <p:spPr>
          <a:xfrm>
            <a:off x="914400" y="3264408"/>
            <a:ext cx="10424160" cy="640080"/>
          </a:xfrm>
          <a:prstGeom prst="rect">
            <a:avLst/>
          </a:prstGeom>
          <a:noFill/>
        </p:spPr>
        <p:txBody>
          <a:bodyPr wrap="square" anchor="t">
            <a:spAutoFit/>
          </a:bodyPr>
          <a:lstStyle/>
          <a:p>
            <a:pPr algn="l"/>
            <a:r>
              <a:rPr sz="1300" b="0">
                <a:solidFill>
                  <a:srgbClr val="1C2B27"/>
                </a:solidFill>
                <a:latin typeface="Meiryo UI"/>
              </a:rPr>
              <a:t>A. Kintoneからの自動連携情報です。直すときは Kintone 側を修正してください。</a:t>
            </a:r>
          </a:p>
        </p:txBody>
      </p:sp>
      <p:sp>
        <p:nvSpPr>
          <p:cNvPr id="12" name="TextBox 11"/>
          <p:cNvSpPr txBox="1"/>
          <p:nvPr/>
        </p:nvSpPr>
        <p:spPr>
          <a:xfrm>
            <a:off x="640080" y="3977639"/>
            <a:ext cx="10881360" cy="411480"/>
          </a:xfrm>
          <a:prstGeom prst="rect">
            <a:avLst/>
          </a:prstGeom>
          <a:noFill/>
        </p:spPr>
        <p:txBody>
          <a:bodyPr wrap="square" anchor="t">
            <a:spAutoFit/>
          </a:bodyPr>
          <a:lstStyle/>
          <a:p>
            <a:pPr algn="l"/>
            <a:r>
              <a:rPr sz="1500" b="1">
                <a:solidFill>
                  <a:srgbClr val="0E8A78"/>
                </a:solidFill>
                <a:latin typeface="Meiryo UI"/>
              </a:rPr>
              <a:t>Q. 「ー」のままでいい？</a:t>
            </a:r>
          </a:p>
        </p:txBody>
      </p:sp>
      <p:sp>
        <p:nvSpPr>
          <p:cNvPr id="13" name="TextBox 12"/>
          <p:cNvSpPr txBox="1"/>
          <p:nvPr/>
        </p:nvSpPr>
        <p:spPr>
          <a:xfrm>
            <a:off x="914400" y="4361688"/>
            <a:ext cx="10424160" cy="640080"/>
          </a:xfrm>
          <a:prstGeom prst="rect">
            <a:avLst/>
          </a:prstGeom>
          <a:noFill/>
        </p:spPr>
        <p:txBody>
          <a:bodyPr wrap="square" anchor="t">
            <a:spAutoFit/>
          </a:bodyPr>
          <a:lstStyle/>
          <a:p>
            <a:pPr algn="l"/>
            <a:r>
              <a:rPr sz="1300" b="0">
                <a:solidFill>
                  <a:srgbClr val="1C2B27"/>
                </a:solidFill>
                <a:latin typeface="Meiryo UI"/>
              </a:rPr>
              <a:t>A. 「ー」は未設定の意味。わかる範囲で選ぶと、レセプトチェックや集計が正しく動きます。</a:t>
            </a:r>
          </a:p>
        </p:txBody>
      </p:sp>
      <p:sp>
        <p:nvSpPr>
          <p:cNvPr id="14" name="TextBox 13"/>
          <p:cNvSpPr txBox="1"/>
          <p:nvPr/>
        </p:nvSpPr>
        <p:spPr>
          <a:xfrm>
            <a:off x="640080" y="5074920"/>
            <a:ext cx="10881360" cy="411480"/>
          </a:xfrm>
          <a:prstGeom prst="rect">
            <a:avLst/>
          </a:prstGeom>
          <a:noFill/>
        </p:spPr>
        <p:txBody>
          <a:bodyPr wrap="square" anchor="t">
            <a:spAutoFit/>
          </a:bodyPr>
          <a:lstStyle/>
          <a:p>
            <a:pPr algn="l"/>
            <a:r>
              <a:rPr sz="1500" b="1">
                <a:solidFill>
                  <a:srgbClr val="0E8A78"/>
                </a:solidFill>
                <a:latin typeface="Meiryo UI"/>
              </a:rPr>
              <a:t>Q. レンタルの新規・解約はどこ？</a:t>
            </a:r>
          </a:p>
        </p:txBody>
      </p:sp>
      <p:sp>
        <p:nvSpPr>
          <p:cNvPr id="15" name="TextBox 14"/>
          <p:cNvSpPr txBox="1"/>
          <p:nvPr/>
        </p:nvSpPr>
        <p:spPr>
          <a:xfrm>
            <a:off x="914400" y="5458968"/>
            <a:ext cx="10424160" cy="640080"/>
          </a:xfrm>
          <a:prstGeom prst="rect">
            <a:avLst/>
          </a:prstGeom>
          <a:noFill/>
        </p:spPr>
        <p:txBody>
          <a:bodyPr wrap="square" anchor="t">
            <a:spAutoFit/>
          </a:bodyPr>
          <a:lstStyle/>
          <a:p>
            <a:pPr algn="l"/>
            <a:r>
              <a:rPr sz="1300" b="0">
                <a:solidFill>
                  <a:srgbClr val="1C2B27"/>
                </a:solidFill>
                <a:latin typeface="Meiryo UI"/>
              </a:rPr>
              <a:t>A. 「利用者新規・変更情報入力」タブの「レンタル契約情報」です。基本情報タブの施設契約情報は施設の入退去専用。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