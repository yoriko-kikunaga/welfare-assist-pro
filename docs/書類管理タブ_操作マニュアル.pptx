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A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01168"/>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457200"/>
          </a:xfrm>
          <a:prstGeom prst="rect">
            <a:avLst/>
          </a:prstGeom>
          <a:noFill/>
        </p:spPr>
        <p:txBody>
          <a:bodyPr wrap="square" anchor="t">
            <a:spAutoFit/>
          </a:bodyPr>
          <a:lstStyle/>
          <a:p>
            <a:pPr algn="l"/>
            <a:r>
              <a:rPr sz="1600" b="1">
                <a:solidFill>
                  <a:srgbClr val="0E8A78"/>
                </a:solidFill>
                <a:latin typeface="Meiryo UI"/>
              </a:rPr>
              <a:t>福祉用具マネージャー　操作マニュアル</a:t>
            </a:r>
          </a:p>
        </p:txBody>
      </p:sp>
      <p:sp>
        <p:nvSpPr>
          <p:cNvPr id="5" name="TextBox 4"/>
          <p:cNvSpPr txBox="1"/>
          <p:nvPr/>
        </p:nvSpPr>
        <p:spPr>
          <a:xfrm>
            <a:off x="914400" y="2377440"/>
            <a:ext cx="10332720" cy="1188720"/>
          </a:xfrm>
          <a:prstGeom prst="rect">
            <a:avLst/>
          </a:prstGeom>
          <a:noFill/>
        </p:spPr>
        <p:txBody>
          <a:bodyPr wrap="square" anchor="t">
            <a:spAutoFit/>
          </a:bodyPr>
          <a:lstStyle/>
          <a:p>
            <a:pPr algn="l"/>
            <a:r>
              <a:rPr sz="4600" b="1">
                <a:solidFill>
                  <a:srgbClr val="1C2B27"/>
                </a:solidFill>
                <a:latin typeface="Meiryo UI"/>
              </a:rPr>
              <a:t>「書類管理」タブの使い方</a:t>
            </a:r>
          </a:p>
        </p:txBody>
      </p:sp>
      <p:sp>
        <p:nvSpPr>
          <p:cNvPr id="6" name="Rectangle 5"/>
          <p:cNvSpPr/>
          <p:nvPr/>
        </p:nvSpPr>
        <p:spPr>
          <a:xfrm>
            <a:off x="960120" y="3611880"/>
            <a:ext cx="2011680" cy="73152"/>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886200"/>
            <a:ext cx="10058400" cy="1097280"/>
          </a:xfrm>
          <a:prstGeom prst="rect">
            <a:avLst/>
          </a:prstGeom>
          <a:noFill/>
        </p:spPr>
        <p:txBody>
          <a:bodyPr wrap="square">
            <a:spAutoFit/>
          </a:bodyPr>
          <a:lstStyle/>
          <a:p>
            <a:pPr algn="l">
              <a:lnSpc>
                <a:spcPct val="125000"/>
              </a:lnSpc>
              <a:spcAft>
                <a:spcPts val="400"/>
              </a:spcAft>
            </a:pPr>
            <a:r>
              <a:rPr sz="1700" b="0">
                <a:solidFill>
                  <a:srgbClr val="5B6E68"/>
                </a:solidFill>
                <a:latin typeface="Meiryo UI"/>
              </a:rPr>
              <a:t>計画書・モニタリングなどのPDF書類を保存・閲覧できる画面です。</a:t>
            </a:r>
          </a:p>
          <a:p>
            <a:pPr algn="l">
              <a:lnSpc>
                <a:spcPct val="125000"/>
              </a:lnSpc>
              <a:spcAft>
                <a:spcPts val="400"/>
              </a:spcAft>
            </a:pPr>
            <a:r>
              <a:rPr sz="1700" b="0">
                <a:solidFill>
                  <a:srgbClr val="5B6E68"/>
                </a:solidFill>
                <a:latin typeface="Meiryo UI"/>
              </a:rPr>
              <a:t>計画書への「サイン取得」機能で、タブレットから直接署名をもらうこともできます。</a:t>
            </a:r>
          </a:p>
        </p:txBody>
      </p:sp>
      <p:sp>
        <p:nvSpPr>
          <p:cNvPr id="8" name="TextBox 7"/>
          <p:cNvSpPr txBox="1"/>
          <p:nvPr/>
        </p:nvSpPr>
        <p:spPr>
          <a:xfrm>
            <a:off x="960120" y="5852160"/>
            <a:ext cx="10515600" cy="457200"/>
          </a:xfrm>
          <a:prstGeom prst="rect">
            <a:avLst/>
          </a:prstGeom>
          <a:noFill/>
        </p:spPr>
        <p:txBody>
          <a:bodyPr wrap="square" anchor="t">
            <a:spAutoFit/>
          </a:bodyPr>
          <a:lstStyle/>
          <a:p>
            <a:pPr algn="l"/>
            <a:r>
              <a:rPr sz="1300" b="1">
                <a:solidFill>
                  <a:srgbClr val="0E8A78"/>
                </a:solidFill>
                <a:latin typeface="Meiryo UI"/>
              </a:rPr>
              <a:t>対象：福祉用具専門相談員のみなさま　／　場所：利用者をクリック → 「書類管理」タブ</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OVERVIEW</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3000" b="1">
                <a:solidFill>
                  <a:srgbClr val="1C2B27"/>
                </a:solidFill>
                <a:latin typeface="Meiryo UI"/>
              </a:rPr>
              <a:t>このタブでできること</a:t>
            </a:r>
          </a:p>
        </p:txBody>
      </p:sp>
      <p:sp>
        <p:nvSpPr>
          <p:cNvPr id="6" name="Rectangle 5"/>
          <p:cNvSpPr/>
          <p:nvPr/>
        </p:nvSpPr>
        <p:spPr>
          <a:xfrm>
            <a:off x="640080" y="1481328"/>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書類管理タブ 操作マニュアル</a:t>
            </a:r>
          </a:p>
        </p:txBody>
      </p:sp>
      <p:sp>
        <p:nvSpPr>
          <p:cNvPr id="8" name="Rectangle 7"/>
          <p:cNvSpPr/>
          <p:nvPr/>
        </p:nvSpPr>
        <p:spPr>
          <a:xfrm>
            <a:off x="640080" y="1828800"/>
            <a:ext cx="3474720" cy="2926080"/>
          </a:xfrm>
          <a:prstGeom prst="rect">
            <a:avLst/>
          </a:prstGeom>
          <a:solidFill>
            <a:srgbClr val="E2F0EC"/>
          </a:solidFill>
          <a:ln w="12700">
            <a:solidFill>
              <a:srgbClr val="0E8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28800"/>
            <a:ext cx="91440" cy="292608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11680"/>
            <a:ext cx="731520" cy="640080"/>
          </a:xfrm>
          <a:prstGeom prst="rect">
            <a:avLst/>
          </a:prstGeom>
          <a:noFill/>
        </p:spPr>
        <p:txBody>
          <a:bodyPr wrap="square" anchor="ctr">
            <a:spAutoFit/>
          </a:bodyPr>
          <a:lstStyle/>
          <a:p>
            <a:pPr algn="l"/>
            <a:r>
              <a:rPr sz="2800" b="0">
                <a:solidFill>
                  <a:srgbClr val="1C2B27"/>
                </a:solidFill>
                <a:latin typeface="Meiryo UI"/>
              </a:rPr>
              <a:t>📎</a:t>
            </a:r>
          </a:p>
        </p:txBody>
      </p:sp>
      <p:sp>
        <p:nvSpPr>
          <p:cNvPr id="11" name="TextBox 10"/>
          <p:cNvSpPr txBox="1"/>
          <p:nvPr/>
        </p:nvSpPr>
        <p:spPr>
          <a:xfrm>
            <a:off x="896112" y="2697480"/>
            <a:ext cx="3017520" cy="502920"/>
          </a:xfrm>
          <a:prstGeom prst="rect">
            <a:avLst/>
          </a:prstGeom>
          <a:noFill/>
        </p:spPr>
        <p:txBody>
          <a:bodyPr wrap="square" anchor="t">
            <a:spAutoFit/>
          </a:bodyPr>
          <a:lstStyle/>
          <a:p>
            <a:pPr algn="l"/>
            <a:r>
              <a:rPr sz="1800" b="1">
                <a:solidFill>
                  <a:srgbClr val="1C2B27"/>
                </a:solidFill>
                <a:latin typeface="Meiryo UI"/>
              </a:rPr>
              <a:t>書類をアップロード</a:t>
            </a:r>
          </a:p>
        </p:txBody>
      </p:sp>
      <p:sp>
        <p:nvSpPr>
          <p:cNvPr id="12" name="TextBox 11"/>
          <p:cNvSpPr txBox="1"/>
          <p:nvPr/>
        </p:nvSpPr>
        <p:spPr>
          <a:xfrm>
            <a:off x="896112" y="3246120"/>
            <a:ext cx="3063240" cy="1371600"/>
          </a:xfrm>
          <a:prstGeom prst="rect">
            <a:avLst/>
          </a:prstGeom>
          <a:noFill/>
        </p:spPr>
        <p:txBody>
          <a:bodyPr wrap="square" anchor="t">
            <a:spAutoFit/>
          </a:bodyPr>
          <a:lstStyle/>
          <a:p>
            <a:pPr algn="l"/>
            <a:r>
              <a:rPr sz="1300" b="0">
                <a:solidFill>
                  <a:srgbClr val="5B6E68"/>
                </a:solidFill>
                <a:latin typeface="Meiryo UI"/>
              </a:rPr>
              <a:t>PDFファイルを種類（計画書・モニタリング・その他）を指定して保存。メモ入力も可。</a:t>
            </a:r>
          </a:p>
        </p:txBody>
      </p:sp>
      <p:sp>
        <p:nvSpPr>
          <p:cNvPr id="13" name="Rectangle 12"/>
          <p:cNvSpPr/>
          <p:nvPr/>
        </p:nvSpPr>
        <p:spPr>
          <a:xfrm>
            <a:off x="4361688" y="1828800"/>
            <a:ext cx="3474720" cy="2926080"/>
          </a:xfrm>
          <a:prstGeom prst="rect">
            <a:avLst/>
          </a:prstGeom>
          <a:solidFill>
            <a:srgbClr val="EFF6FF"/>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1828800"/>
            <a:ext cx="91440" cy="29260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36008" y="2011680"/>
            <a:ext cx="731520" cy="640080"/>
          </a:xfrm>
          <a:prstGeom prst="rect">
            <a:avLst/>
          </a:prstGeom>
          <a:noFill/>
        </p:spPr>
        <p:txBody>
          <a:bodyPr wrap="square" anchor="ctr">
            <a:spAutoFit/>
          </a:bodyPr>
          <a:lstStyle/>
          <a:p>
            <a:pPr algn="l"/>
            <a:r>
              <a:rPr sz="2800" b="0">
                <a:solidFill>
                  <a:srgbClr val="1C2B27"/>
                </a:solidFill>
                <a:latin typeface="Meiryo UI"/>
              </a:rPr>
              <a:t>📂</a:t>
            </a:r>
          </a:p>
        </p:txBody>
      </p:sp>
      <p:sp>
        <p:nvSpPr>
          <p:cNvPr id="16" name="TextBox 15"/>
          <p:cNvSpPr txBox="1"/>
          <p:nvPr/>
        </p:nvSpPr>
        <p:spPr>
          <a:xfrm>
            <a:off x="4617720" y="2697480"/>
            <a:ext cx="3017520" cy="502920"/>
          </a:xfrm>
          <a:prstGeom prst="rect">
            <a:avLst/>
          </a:prstGeom>
          <a:noFill/>
        </p:spPr>
        <p:txBody>
          <a:bodyPr wrap="square" anchor="t">
            <a:spAutoFit/>
          </a:bodyPr>
          <a:lstStyle/>
          <a:p>
            <a:pPr algn="l"/>
            <a:r>
              <a:rPr sz="1800" b="1">
                <a:solidFill>
                  <a:srgbClr val="1C2B27"/>
                </a:solidFill>
                <a:latin typeface="Meiryo UI"/>
              </a:rPr>
              <a:t>書類を開く・削除する</a:t>
            </a:r>
          </a:p>
        </p:txBody>
      </p:sp>
      <p:sp>
        <p:nvSpPr>
          <p:cNvPr id="17" name="TextBox 16"/>
          <p:cNvSpPr txBox="1"/>
          <p:nvPr/>
        </p:nvSpPr>
        <p:spPr>
          <a:xfrm>
            <a:off x="4617720" y="3246120"/>
            <a:ext cx="3063240" cy="1371600"/>
          </a:xfrm>
          <a:prstGeom prst="rect">
            <a:avLst/>
          </a:prstGeom>
          <a:noFill/>
        </p:spPr>
        <p:txBody>
          <a:bodyPr wrap="square" anchor="t">
            <a:spAutoFit/>
          </a:bodyPr>
          <a:lstStyle/>
          <a:p>
            <a:pPr algn="l"/>
            <a:r>
              <a:rPr sz="1300" b="0">
                <a:solidFill>
                  <a:srgbClr val="5B6E68"/>
                </a:solidFill>
                <a:latin typeface="Meiryo UI"/>
              </a:rPr>
              <a:t>保存済みの書類を新しいタブで確認。不要になったら削除できます（元に戻せません）。</a:t>
            </a:r>
          </a:p>
        </p:txBody>
      </p:sp>
      <p:sp>
        <p:nvSpPr>
          <p:cNvPr id="18" name="Rectangle 17"/>
          <p:cNvSpPr/>
          <p:nvPr/>
        </p:nvSpPr>
        <p:spPr>
          <a:xfrm>
            <a:off x="8083296" y="1828800"/>
            <a:ext cx="3474720" cy="2926080"/>
          </a:xfrm>
          <a:prstGeom prst="rect">
            <a:avLst/>
          </a:prstGeom>
          <a:solidFill>
            <a:srgbClr val="EDE9FE"/>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83296" y="1828800"/>
            <a:ext cx="91440" cy="2926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57616" y="2011680"/>
            <a:ext cx="731520" cy="640080"/>
          </a:xfrm>
          <a:prstGeom prst="rect">
            <a:avLst/>
          </a:prstGeom>
          <a:noFill/>
        </p:spPr>
        <p:txBody>
          <a:bodyPr wrap="square" anchor="ctr">
            <a:spAutoFit/>
          </a:bodyPr>
          <a:lstStyle/>
          <a:p>
            <a:pPr algn="l"/>
            <a:r>
              <a:rPr sz="2800" b="0">
                <a:solidFill>
                  <a:srgbClr val="1C2B27"/>
                </a:solidFill>
                <a:latin typeface="Meiryo UI"/>
              </a:rPr>
              <a:t>✍</a:t>
            </a:r>
          </a:p>
        </p:txBody>
      </p:sp>
      <p:sp>
        <p:nvSpPr>
          <p:cNvPr id="21" name="TextBox 20"/>
          <p:cNvSpPr txBox="1"/>
          <p:nvPr/>
        </p:nvSpPr>
        <p:spPr>
          <a:xfrm>
            <a:off x="8339327" y="2697480"/>
            <a:ext cx="3017520" cy="502920"/>
          </a:xfrm>
          <a:prstGeom prst="rect">
            <a:avLst/>
          </a:prstGeom>
          <a:noFill/>
        </p:spPr>
        <p:txBody>
          <a:bodyPr wrap="square" anchor="t">
            <a:spAutoFit/>
          </a:bodyPr>
          <a:lstStyle/>
          <a:p>
            <a:pPr algn="l"/>
            <a:r>
              <a:rPr sz="1800" b="1">
                <a:solidFill>
                  <a:srgbClr val="1C2B27"/>
                </a:solidFill>
                <a:latin typeface="Meiryo UI"/>
              </a:rPr>
              <a:t>サイン取得（計画書のみ）</a:t>
            </a:r>
          </a:p>
        </p:txBody>
      </p:sp>
      <p:sp>
        <p:nvSpPr>
          <p:cNvPr id="22" name="TextBox 21"/>
          <p:cNvSpPr txBox="1"/>
          <p:nvPr/>
        </p:nvSpPr>
        <p:spPr>
          <a:xfrm>
            <a:off x="8339327" y="3246120"/>
            <a:ext cx="3063240" cy="1371600"/>
          </a:xfrm>
          <a:prstGeom prst="rect">
            <a:avLst/>
          </a:prstGeom>
          <a:noFill/>
        </p:spPr>
        <p:txBody>
          <a:bodyPr wrap="square" anchor="t">
            <a:spAutoFit/>
          </a:bodyPr>
          <a:lstStyle/>
          <a:p>
            <a:pPr algn="l"/>
            <a:r>
              <a:rPr sz="1300" b="0">
                <a:solidFill>
                  <a:srgbClr val="5B6E68"/>
                </a:solidFill>
                <a:latin typeface="Meiryo UI"/>
              </a:rPr>
              <a:t>計画書PDFを画面表示し、利用者やご家族にその場で手書きサインしてもらえます。</a:t>
            </a:r>
          </a:p>
        </p:txBody>
      </p:sp>
      <p:sp>
        <p:nvSpPr>
          <p:cNvPr id="23" name="Rectangle 22"/>
          <p:cNvSpPr/>
          <p:nvPr/>
        </p:nvSpPr>
        <p:spPr>
          <a:xfrm>
            <a:off x="640080" y="5074920"/>
            <a:ext cx="10881360" cy="822960"/>
          </a:xfrm>
          <a:prstGeom prst="rect">
            <a:avLst/>
          </a:prstGeom>
          <a:solidFill>
            <a:srgbClr val="E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5074920"/>
            <a:ext cx="73152" cy="82296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184648"/>
            <a:ext cx="10515600" cy="640080"/>
          </a:xfrm>
          <a:prstGeom prst="rect">
            <a:avLst/>
          </a:prstGeom>
          <a:noFill/>
        </p:spPr>
        <p:txBody>
          <a:bodyPr wrap="square">
            <a:spAutoFit/>
          </a:bodyPr>
          <a:lstStyle/>
          <a:p>
            <a:pPr algn="l">
              <a:lnSpc>
                <a:spcPct val="125000"/>
              </a:lnSpc>
              <a:spcAft>
                <a:spcPts val="400"/>
              </a:spcAft>
            </a:pPr>
            <a:r>
              <a:rPr sz="1300" b="1">
                <a:solidFill>
                  <a:srgbClr val="0E8A78"/>
                </a:solidFill>
                <a:latin typeface="Meiryo UI"/>
              </a:rPr>
              <a:t>📝 書類の種類は「計画書」「モニタリング」「その他」の3種類</a:t>
            </a:r>
          </a:p>
          <a:p>
            <a:pPr algn="l">
              <a:lnSpc>
                <a:spcPct val="125000"/>
              </a:lnSpc>
              <a:spcAft>
                <a:spcPts val="400"/>
              </a:spcAft>
            </a:pPr>
            <a:r>
              <a:rPr sz="1300" b="0">
                <a:solidFill>
                  <a:srgbClr val="1C2B27"/>
                </a:solidFill>
                <a:latin typeface="Meiryo UI"/>
              </a:rPr>
              <a:t>サイン取得は計画書のみ使えます。モニタリング・その他はアップロードと閲覧・削除ができます。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UPLOAD</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3000" b="1">
                <a:solidFill>
                  <a:srgbClr val="1C2B27"/>
                </a:solidFill>
                <a:latin typeface="Meiryo UI"/>
              </a:rPr>
              <a:t>書類をアップロードする</a:t>
            </a:r>
          </a:p>
        </p:txBody>
      </p:sp>
      <p:sp>
        <p:nvSpPr>
          <p:cNvPr id="6" name="Rectangle 5"/>
          <p:cNvSpPr/>
          <p:nvPr/>
        </p:nvSpPr>
        <p:spPr>
          <a:xfrm>
            <a:off x="640080" y="1481328"/>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書類管理タブ 操作マニュアル</a:t>
            </a:r>
          </a:p>
        </p:txBody>
      </p:sp>
      <p:sp>
        <p:nvSpPr>
          <p:cNvPr id="8" name="Rectangle 7"/>
          <p:cNvSpPr/>
          <p:nvPr/>
        </p:nvSpPr>
        <p:spPr>
          <a:xfrm>
            <a:off x="640080" y="1920240"/>
            <a:ext cx="3429000" cy="237744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57400"/>
            <a:ext cx="1097280" cy="914400"/>
          </a:xfrm>
          <a:prstGeom prst="rect">
            <a:avLst/>
          </a:prstGeom>
          <a:noFill/>
        </p:spPr>
        <p:txBody>
          <a:bodyPr wrap="square" anchor="t">
            <a:spAutoFit/>
          </a:bodyPr>
          <a:lstStyle/>
          <a:p>
            <a:pPr algn="l"/>
            <a:r>
              <a:rPr sz="4400" b="1">
                <a:solidFill>
                  <a:srgbClr val="0E8A78"/>
                </a:solidFill>
                <a:latin typeface="Meiryo UI"/>
              </a:rPr>
              <a:t>1</a:t>
            </a:r>
          </a:p>
        </p:txBody>
      </p:sp>
      <p:sp>
        <p:nvSpPr>
          <p:cNvPr id="10" name="TextBox 9"/>
          <p:cNvSpPr txBox="1"/>
          <p:nvPr/>
        </p:nvSpPr>
        <p:spPr>
          <a:xfrm>
            <a:off x="868680" y="2971800"/>
            <a:ext cx="3017520" cy="502920"/>
          </a:xfrm>
          <a:prstGeom prst="rect">
            <a:avLst/>
          </a:prstGeom>
          <a:noFill/>
        </p:spPr>
        <p:txBody>
          <a:bodyPr wrap="square" anchor="t">
            <a:spAutoFit/>
          </a:bodyPr>
          <a:lstStyle/>
          <a:p>
            <a:pPr algn="l"/>
            <a:r>
              <a:rPr sz="1800" b="1">
                <a:solidFill>
                  <a:srgbClr val="1C2B27"/>
                </a:solidFill>
                <a:latin typeface="Meiryo UI"/>
              </a:rPr>
              <a:t>「書類をアップロード」を押す</a:t>
            </a:r>
          </a:p>
        </p:txBody>
      </p:sp>
      <p:sp>
        <p:nvSpPr>
          <p:cNvPr id="11" name="TextBox 10"/>
          <p:cNvSpPr txBox="1"/>
          <p:nvPr/>
        </p:nvSpPr>
        <p:spPr>
          <a:xfrm>
            <a:off x="868680" y="3520440"/>
            <a:ext cx="3017520" cy="868680"/>
          </a:xfrm>
          <a:prstGeom prst="rect">
            <a:avLst/>
          </a:prstGeom>
          <a:noFill/>
        </p:spPr>
        <p:txBody>
          <a:bodyPr wrap="square" anchor="t">
            <a:spAutoFit/>
          </a:bodyPr>
          <a:lstStyle/>
          <a:p>
            <a:pPr algn="l"/>
            <a:r>
              <a:rPr sz="1300" b="0">
                <a:solidFill>
                  <a:srgbClr val="5B6E68"/>
                </a:solidFill>
                <a:latin typeface="Meiryo UI"/>
              </a:rPr>
              <a:t>画面右上の青いボタンを押すと、アップロードフォームが開きます。</a:t>
            </a:r>
          </a:p>
        </p:txBody>
      </p:sp>
      <p:sp>
        <p:nvSpPr>
          <p:cNvPr id="12" name="Rectangle 11"/>
          <p:cNvSpPr/>
          <p:nvPr/>
        </p:nvSpPr>
        <p:spPr>
          <a:xfrm>
            <a:off x="4343400" y="1920240"/>
            <a:ext cx="3429000" cy="237744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057400"/>
            <a:ext cx="1097280" cy="914400"/>
          </a:xfrm>
          <a:prstGeom prst="rect">
            <a:avLst/>
          </a:prstGeom>
          <a:noFill/>
        </p:spPr>
        <p:txBody>
          <a:bodyPr wrap="square" anchor="t">
            <a:spAutoFit/>
          </a:bodyPr>
          <a:lstStyle/>
          <a:p>
            <a:pPr algn="l"/>
            <a:r>
              <a:rPr sz="4400" b="1">
                <a:solidFill>
                  <a:srgbClr val="0E8A78"/>
                </a:solidFill>
                <a:latin typeface="Meiryo UI"/>
              </a:rPr>
              <a:t>2</a:t>
            </a:r>
          </a:p>
        </p:txBody>
      </p:sp>
      <p:sp>
        <p:nvSpPr>
          <p:cNvPr id="14" name="TextBox 13"/>
          <p:cNvSpPr txBox="1"/>
          <p:nvPr/>
        </p:nvSpPr>
        <p:spPr>
          <a:xfrm>
            <a:off x="4572000" y="2971800"/>
            <a:ext cx="3017520" cy="502920"/>
          </a:xfrm>
          <a:prstGeom prst="rect">
            <a:avLst/>
          </a:prstGeom>
          <a:noFill/>
        </p:spPr>
        <p:txBody>
          <a:bodyPr wrap="square" anchor="t">
            <a:spAutoFit/>
          </a:bodyPr>
          <a:lstStyle/>
          <a:p>
            <a:pPr algn="l"/>
            <a:r>
              <a:rPr sz="1800" b="1">
                <a:solidFill>
                  <a:srgbClr val="1C2B27"/>
                </a:solidFill>
                <a:latin typeface="Meiryo UI"/>
              </a:rPr>
              <a:t>種類を選んでPDFを選択</a:t>
            </a:r>
          </a:p>
        </p:txBody>
      </p:sp>
      <p:sp>
        <p:nvSpPr>
          <p:cNvPr id="15" name="TextBox 14"/>
          <p:cNvSpPr txBox="1"/>
          <p:nvPr/>
        </p:nvSpPr>
        <p:spPr>
          <a:xfrm>
            <a:off x="4572000" y="3520440"/>
            <a:ext cx="3017520" cy="868680"/>
          </a:xfrm>
          <a:prstGeom prst="rect">
            <a:avLst/>
          </a:prstGeom>
          <a:noFill/>
        </p:spPr>
        <p:txBody>
          <a:bodyPr wrap="square" anchor="t">
            <a:spAutoFit/>
          </a:bodyPr>
          <a:lstStyle/>
          <a:p>
            <a:pPr algn="l"/>
            <a:r>
              <a:rPr sz="1300" b="0">
                <a:solidFill>
                  <a:srgbClr val="5B6E68"/>
                </a:solidFill>
                <a:latin typeface="Meiryo UI"/>
              </a:rPr>
              <a:t>書類の種類（計画書など）とメモ（任意）を入力し、「PDFファイルを選択」を押します。</a:t>
            </a:r>
          </a:p>
        </p:txBody>
      </p:sp>
      <p:sp>
        <p:nvSpPr>
          <p:cNvPr id="16" name="Rectangle 15"/>
          <p:cNvSpPr/>
          <p:nvPr/>
        </p:nvSpPr>
        <p:spPr>
          <a:xfrm>
            <a:off x="8046720" y="1920240"/>
            <a:ext cx="3429000" cy="237744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2057400"/>
            <a:ext cx="1097280" cy="914400"/>
          </a:xfrm>
          <a:prstGeom prst="rect">
            <a:avLst/>
          </a:prstGeom>
          <a:noFill/>
        </p:spPr>
        <p:txBody>
          <a:bodyPr wrap="square" anchor="t">
            <a:spAutoFit/>
          </a:bodyPr>
          <a:lstStyle/>
          <a:p>
            <a:pPr algn="l"/>
            <a:r>
              <a:rPr sz="4400" b="1">
                <a:solidFill>
                  <a:srgbClr val="0E8A78"/>
                </a:solidFill>
                <a:latin typeface="Meiryo UI"/>
              </a:rPr>
              <a:t>3</a:t>
            </a:r>
          </a:p>
        </p:txBody>
      </p:sp>
      <p:sp>
        <p:nvSpPr>
          <p:cNvPr id="18" name="TextBox 17"/>
          <p:cNvSpPr txBox="1"/>
          <p:nvPr/>
        </p:nvSpPr>
        <p:spPr>
          <a:xfrm>
            <a:off x="8275320" y="2971800"/>
            <a:ext cx="3017520" cy="502920"/>
          </a:xfrm>
          <a:prstGeom prst="rect">
            <a:avLst/>
          </a:prstGeom>
          <a:noFill/>
        </p:spPr>
        <p:txBody>
          <a:bodyPr wrap="square" anchor="t">
            <a:spAutoFit/>
          </a:bodyPr>
          <a:lstStyle/>
          <a:p>
            <a:pPr algn="l"/>
            <a:r>
              <a:rPr sz="1800" b="1">
                <a:solidFill>
                  <a:srgbClr val="1C2B27"/>
                </a:solidFill>
                <a:latin typeface="Meiryo UI"/>
              </a:rPr>
              <a:t>完了・一覧に追加される</a:t>
            </a:r>
          </a:p>
        </p:txBody>
      </p:sp>
      <p:sp>
        <p:nvSpPr>
          <p:cNvPr id="19" name="TextBox 18"/>
          <p:cNvSpPr txBox="1"/>
          <p:nvPr/>
        </p:nvSpPr>
        <p:spPr>
          <a:xfrm>
            <a:off x="8275320" y="3520440"/>
            <a:ext cx="3017520" cy="868680"/>
          </a:xfrm>
          <a:prstGeom prst="rect">
            <a:avLst/>
          </a:prstGeom>
          <a:noFill/>
        </p:spPr>
        <p:txBody>
          <a:bodyPr wrap="square" anchor="t">
            <a:spAutoFit/>
          </a:bodyPr>
          <a:lstStyle/>
          <a:p>
            <a:pPr algn="l"/>
            <a:r>
              <a:rPr sz="1300" b="0">
                <a:solidFill>
                  <a:srgbClr val="5B6E68"/>
                </a:solidFill>
                <a:latin typeface="Meiryo UI"/>
              </a:rPr>
              <a:t>アップロードが完了すると一覧に追加されます。クラウド保存なので全端末から見られます。</a:t>
            </a:r>
          </a:p>
        </p:txBody>
      </p:sp>
      <p:sp>
        <p:nvSpPr>
          <p:cNvPr id="20" name="Rectangle 19"/>
          <p:cNvSpPr/>
          <p:nvPr/>
        </p:nvSpPr>
        <p:spPr>
          <a:xfrm>
            <a:off x="640080" y="4617720"/>
            <a:ext cx="10881360" cy="960120"/>
          </a:xfrm>
          <a:prstGeom prst="rect">
            <a:avLst/>
          </a:prstGeom>
          <a:solidFill>
            <a:srgbClr val="FBE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4617720"/>
            <a:ext cx="73152" cy="960120"/>
          </a:xfrm>
          <a:prstGeom prst="rect">
            <a:avLst/>
          </a:prstGeom>
          <a:solidFill>
            <a:srgbClr val="E27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727448"/>
            <a:ext cx="10515600" cy="777240"/>
          </a:xfrm>
          <a:prstGeom prst="rect">
            <a:avLst/>
          </a:prstGeom>
          <a:noFill/>
        </p:spPr>
        <p:txBody>
          <a:bodyPr wrap="square">
            <a:spAutoFit/>
          </a:bodyPr>
          <a:lstStyle/>
          <a:p>
            <a:pPr algn="l">
              <a:lnSpc>
                <a:spcPct val="125000"/>
              </a:lnSpc>
              <a:spcAft>
                <a:spcPts val="400"/>
              </a:spcAft>
            </a:pPr>
            <a:r>
              <a:rPr sz="1300" b="1">
                <a:solidFill>
                  <a:srgbClr val="E2714A"/>
                </a:solidFill>
                <a:latin typeface="Meiryo UI"/>
              </a:rPr>
              <a:t>⚠ PDFファイルのみ・20MBまでです</a:t>
            </a:r>
          </a:p>
          <a:p>
            <a:pPr algn="l">
              <a:lnSpc>
                <a:spcPct val="125000"/>
              </a:lnSpc>
              <a:spcAft>
                <a:spcPts val="400"/>
              </a:spcAft>
            </a:pPr>
            <a:r>
              <a:rPr sz="1300" b="0">
                <a:solidFill>
                  <a:srgbClr val="1C2B27"/>
                </a:solidFill>
                <a:latin typeface="Meiryo UI"/>
              </a:rPr>
              <a:t>Word・Excel・画像は直接アップロードできません。「PDFとして保存」または「Export」でPDFに変換してからご利用ください。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LIST</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3000" b="1">
                <a:solidFill>
                  <a:srgbClr val="1C2B27"/>
                </a:solidFill>
                <a:latin typeface="Meiryo UI"/>
              </a:rPr>
              <a:t>書類一覧の見方</a:t>
            </a:r>
          </a:p>
        </p:txBody>
      </p:sp>
      <p:sp>
        <p:nvSpPr>
          <p:cNvPr id="6" name="Rectangle 5"/>
          <p:cNvSpPr/>
          <p:nvPr/>
        </p:nvSpPr>
        <p:spPr>
          <a:xfrm>
            <a:off x="640080" y="1481328"/>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書類管理タブ 操作マニュアル</a:t>
            </a:r>
          </a:p>
        </p:txBody>
      </p:sp>
      <p:sp>
        <p:nvSpPr>
          <p:cNvPr id="8" name="Rectangle 7"/>
          <p:cNvSpPr/>
          <p:nvPr/>
        </p:nvSpPr>
        <p:spPr>
          <a:xfrm>
            <a:off x="640080" y="1691640"/>
            <a:ext cx="10881360" cy="621792"/>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1783080"/>
            <a:ext cx="438912" cy="438912"/>
          </a:xfrm>
          <a:prstGeom prst="rect">
            <a:avLst/>
          </a:prstGeom>
          <a:solidFill>
            <a:srgbClr val="FF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801368"/>
            <a:ext cx="402336" cy="402336"/>
          </a:xfrm>
          <a:prstGeom prst="rect">
            <a:avLst/>
          </a:prstGeom>
          <a:noFill/>
        </p:spPr>
        <p:txBody>
          <a:bodyPr wrap="square" anchor="ctr">
            <a:spAutoFit/>
          </a:bodyPr>
          <a:lstStyle/>
          <a:p>
            <a:pPr algn="l"/>
            <a:r>
              <a:rPr sz="1600" b="0">
                <a:solidFill>
                  <a:srgbClr val="1C2B27"/>
                </a:solidFill>
                <a:latin typeface="Meiryo UI"/>
              </a:rPr>
              <a:t>📄</a:t>
            </a:r>
          </a:p>
        </p:txBody>
      </p:sp>
      <p:sp>
        <p:nvSpPr>
          <p:cNvPr id="11" name="Rectangle 10"/>
          <p:cNvSpPr/>
          <p:nvPr/>
        </p:nvSpPr>
        <p:spPr>
          <a:xfrm>
            <a:off x="1316736" y="1819656"/>
            <a:ext cx="658368" cy="256032"/>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35024" y="1819656"/>
            <a:ext cx="621792" cy="256032"/>
          </a:xfrm>
          <a:prstGeom prst="rect">
            <a:avLst/>
          </a:prstGeom>
          <a:noFill/>
        </p:spPr>
        <p:txBody>
          <a:bodyPr wrap="square" anchor="ctr">
            <a:spAutoFit/>
          </a:bodyPr>
          <a:lstStyle/>
          <a:p>
            <a:pPr algn="l"/>
            <a:r>
              <a:rPr sz="1000" b="1">
                <a:solidFill>
                  <a:srgbClr val="1D4ED8"/>
                </a:solidFill>
                <a:latin typeface="Meiryo UI"/>
              </a:rPr>
              <a:t>計画書</a:t>
            </a:r>
          </a:p>
        </p:txBody>
      </p:sp>
      <p:sp>
        <p:nvSpPr>
          <p:cNvPr id="13" name="Rectangle 12"/>
          <p:cNvSpPr/>
          <p:nvPr/>
        </p:nvSpPr>
        <p:spPr>
          <a:xfrm>
            <a:off x="2011680" y="1819656"/>
            <a:ext cx="804672" cy="256032"/>
          </a:xfrm>
          <a:prstGeom prst="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29968" y="1819656"/>
            <a:ext cx="768096" cy="256032"/>
          </a:xfrm>
          <a:prstGeom prst="rect">
            <a:avLst/>
          </a:prstGeom>
          <a:noFill/>
        </p:spPr>
        <p:txBody>
          <a:bodyPr wrap="square" anchor="ctr">
            <a:spAutoFit/>
          </a:bodyPr>
          <a:lstStyle/>
          <a:p>
            <a:pPr algn="l"/>
            <a:r>
              <a:rPr sz="1000" b="1">
                <a:solidFill>
                  <a:srgbClr val="16A34A"/>
                </a:solidFill>
                <a:latin typeface="Meiryo UI"/>
              </a:rPr>
              <a:t>✓ 署名済み</a:t>
            </a:r>
          </a:p>
        </p:txBody>
      </p:sp>
      <p:sp>
        <p:nvSpPr>
          <p:cNvPr id="15" name="TextBox 14"/>
          <p:cNvSpPr txBox="1"/>
          <p:nvPr/>
        </p:nvSpPr>
        <p:spPr>
          <a:xfrm>
            <a:off x="1316736" y="1810512"/>
            <a:ext cx="5669280" cy="256032"/>
          </a:xfrm>
          <a:prstGeom prst="rect">
            <a:avLst/>
          </a:prstGeom>
          <a:noFill/>
        </p:spPr>
        <p:txBody>
          <a:bodyPr wrap="square" anchor="t">
            <a:spAutoFit/>
          </a:bodyPr>
          <a:lstStyle/>
          <a:p>
            <a:pPr algn="l"/>
            <a:r>
              <a:rPr sz="1200" b="1">
                <a:solidFill>
                  <a:srgbClr val="1C2B27"/>
                </a:solidFill>
                <a:latin typeface="Meiryo UI"/>
              </a:rPr>
              <a:t>福祉用具サービス計画書_2026-06_署名済み.pdf</a:t>
            </a:r>
          </a:p>
        </p:txBody>
      </p:sp>
      <p:sp>
        <p:nvSpPr>
          <p:cNvPr id="16" name="TextBox 15"/>
          <p:cNvSpPr txBox="1"/>
          <p:nvPr/>
        </p:nvSpPr>
        <p:spPr>
          <a:xfrm>
            <a:off x="1316736" y="2066544"/>
            <a:ext cx="5669280" cy="201168"/>
          </a:xfrm>
          <a:prstGeom prst="rect">
            <a:avLst/>
          </a:prstGeom>
          <a:noFill/>
        </p:spPr>
        <p:txBody>
          <a:bodyPr wrap="square" anchor="t">
            <a:spAutoFit/>
          </a:bodyPr>
          <a:lstStyle/>
          <a:p>
            <a:pPr algn="l"/>
            <a:r>
              <a:rPr sz="1000" b="0">
                <a:solidFill>
                  <a:srgbClr val="5B6E68"/>
                </a:solidFill>
                <a:latin typeface="Meiryo UI"/>
              </a:rPr>
              <a:t>2026-07-09  ／  185 KB</a:t>
            </a:r>
          </a:p>
        </p:txBody>
      </p:sp>
      <p:sp>
        <p:nvSpPr>
          <p:cNvPr id="17" name="Rectangle 16"/>
          <p:cNvSpPr/>
          <p:nvPr/>
        </p:nvSpPr>
        <p:spPr>
          <a:xfrm>
            <a:off x="8595360" y="1801368"/>
            <a:ext cx="713232" cy="402336"/>
          </a:xfrm>
          <a:prstGeom prst="rect">
            <a:avLst/>
          </a:prstGeom>
          <a:solidFill>
            <a:srgbClr val="EFF6FF"/>
          </a:solidFill>
          <a:ln w="635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31936" y="1801368"/>
            <a:ext cx="640080" cy="402336"/>
          </a:xfrm>
          <a:prstGeom prst="rect">
            <a:avLst/>
          </a:prstGeom>
          <a:noFill/>
        </p:spPr>
        <p:txBody>
          <a:bodyPr wrap="square" anchor="ctr">
            <a:spAutoFit/>
          </a:bodyPr>
          <a:lstStyle/>
          <a:p>
            <a:pPr algn="ctr"/>
            <a:r>
              <a:rPr sz="1000" b="1">
                <a:solidFill>
                  <a:srgbClr val="1D4ED8"/>
                </a:solidFill>
                <a:latin typeface="Meiryo UI"/>
              </a:rPr>
              <a:t>↗ 開く</a:t>
            </a:r>
          </a:p>
        </p:txBody>
      </p:sp>
      <p:sp>
        <p:nvSpPr>
          <p:cNvPr id="19" name="Rectangle 18"/>
          <p:cNvSpPr/>
          <p:nvPr/>
        </p:nvSpPr>
        <p:spPr>
          <a:xfrm>
            <a:off x="9418320" y="1801368"/>
            <a:ext cx="658368" cy="402336"/>
          </a:xfrm>
          <a:prstGeom prst="rect">
            <a:avLst/>
          </a:prstGeom>
          <a:solidFill>
            <a:srgbClr val="FEE2E2"/>
          </a:solidFill>
          <a:ln w="6350">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54896" y="1801368"/>
            <a:ext cx="585216" cy="402336"/>
          </a:xfrm>
          <a:prstGeom prst="rect">
            <a:avLst/>
          </a:prstGeom>
          <a:noFill/>
        </p:spPr>
        <p:txBody>
          <a:bodyPr wrap="square" anchor="ctr">
            <a:spAutoFit/>
          </a:bodyPr>
          <a:lstStyle/>
          <a:p>
            <a:pPr algn="ctr"/>
            <a:r>
              <a:rPr sz="1000" b="1">
                <a:solidFill>
                  <a:srgbClr val="DC2626"/>
                </a:solidFill>
                <a:latin typeface="Meiryo UI"/>
              </a:rPr>
              <a:t>🗑 削除</a:t>
            </a:r>
          </a:p>
        </p:txBody>
      </p:sp>
      <p:sp>
        <p:nvSpPr>
          <p:cNvPr id="21" name="Rectangle 20"/>
          <p:cNvSpPr/>
          <p:nvPr/>
        </p:nvSpPr>
        <p:spPr>
          <a:xfrm>
            <a:off x="640080" y="2404872"/>
            <a:ext cx="10881360" cy="621792"/>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9808" y="2496312"/>
            <a:ext cx="438912" cy="438912"/>
          </a:xfrm>
          <a:prstGeom prst="rect">
            <a:avLst/>
          </a:prstGeom>
          <a:solidFill>
            <a:srgbClr val="FF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514600"/>
            <a:ext cx="402336" cy="402336"/>
          </a:xfrm>
          <a:prstGeom prst="rect">
            <a:avLst/>
          </a:prstGeom>
          <a:noFill/>
        </p:spPr>
        <p:txBody>
          <a:bodyPr wrap="square" anchor="ctr">
            <a:spAutoFit/>
          </a:bodyPr>
          <a:lstStyle/>
          <a:p>
            <a:pPr algn="l"/>
            <a:r>
              <a:rPr sz="1600" b="0">
                <a:solidFill>
                  <a:srgbClr val="1C2B27"/>
                </a:solidFill>
                <a:latin typeface="Meiryo UI"/>
              </a:rPr>
              <a:t>📄</a:t>
            </a:r>
          </a:p>
        </p:txBody>
      </p:sp>
      <p:sp>
        <p:nvSpPr>
          <p:cNvPr id="24" name="Rectangle 23"/>
          <p:cNvSpPr/>
          <p:nvPr/>
        </p:nvSpPr>
        <p:spPr>
          <a:xfrm>
            <a:off x="1316736" y="2532888"/>
            <a:ext cx="658368" cy="256032"/>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35024" y="2532888"/>
            <a:ext cx="621792" cy="256032"/>
          </a:xfrm>
          <a:prstGeom prst="rect">
            <a:avLst/>
          </a:prstGeom>
          <a:noFill/>
        </p:spPr>
        <p:txBody>
          <a:bodyPr wrap="square" anchor="ctr">
            <a:spAutoFit/>
          </a:bodyPr>
          <a:lstStyle/>
          <a:p>
            <a:pPr algn="l"/>
            <a:r>
              <a:rPr sz="1000" b="1">
                <a:solidFill>
                  <a:srgbClr val="1D4ED8"/>
                </a:solidFill>
                <a:latin typeface="Meiryo UI"/>
              </a:rPr>
              <a:t>計画書</a:t>
            </a:r>
          </a:p>
        </p:txBody>
      </p:sp>
      <p:sp>
        <p:nvSpPr>
          <p:cNvPr id="26" name="TextBox 25"/>
          <p:cNvSpPr txBox="1"/>
          <p:nvPr/>
        </p:nvSpPr>
        <p:spPr>
          <a:xfrm>
            <a:off x="1316736" y="2523744"/>
            <a:ext cx="5669280" cy="256032"/>
          </a:xfrm>
          <a:prstGeom prst="rect">
            <a:avLst/>
          </a:prstGeom>
          <a:noFill/>
        </p:spPr>
        <p:txBody>
          <a:bodyPr wrap="square" anchor="t">
            <a:spAutoFit/>
          </a:bodyPr>
          <a:lstStyle/>
          <a:p>
            <a:pPr algn="l"/>
            <a:r>
              <a:rPr sz="1200" b="1">
                <a:solidFill>
                  <a:srgbClr val="1C2B27"/>
                </a:solidFill>
                <a:latin typeface="Meiryo UI"/>
              </a:rPr>
              <a:t>福祉用具サービス計画書_2026-04.pdf</a:t>
            </a:r>
          </a:p>
        </p:txBody>
      </p:sp>
      <p:sp>
        <p:nvSpPr>
          <p:cNvPr id="27" name="TextBox 26"/>
          <p:cNvSpPr txBox="1"/>
          <p:nvPr/>
        </p:nvSpPr>
        <p:spPr>
          <a:xfrm>
            <a:off x="1316736" y="2779776"/>
            <a:ext cx="5669280" cy="201168"/>
          </a:xfrm>
          <a:prstGeom prst="rect">
            <a:avLst/>
          </a:prstGeom>
          <a:noFill/>
        </p:spPr>
        <p:txBody>
          <a:bodyPr wrap="square" anchor="t">
            <a:spAutoFit/>
          </a:bodyPr>
          <a:lstStyle/>
          <a:p>
            <a:pPr algn="l"/>
            <a:r>
              <a:rPr sz="1000" b="0">
                <a:solidFill>
                  <a:srgbClr val="5B6E68"/>
                </a:solidFill>
                <a:latin typeface="Meiryo UI"/>
              </a:rPr>
              <a:t>2026-04-15  ／  142 KB  ／  4月分</a:t>
            </a:r>
          </a:p>
        </p:txBody>
      </p:sp>
      <p:sp>
        <p:nvSpPr>
          <p:cNvPr id="28" name="Rectangle 27"/>
          <p:cNvSpPr/>
          <p:nvPr/>
        </p:nvSpPr>
        <p:spPr>
          <a:xfrm>
            <a:off x="8595360" y="2514600"/>
            <a:ext cx="1005840" cy="402336"/>
          </a:xfrm>
          <a:prstGeom prst="rect">
            <a:avLst/>
          </a:prstGeom>
          <a:solidFill>
            <a:srgbClr val="EDE9FE"/>
          </a:solidFill>
          <a:ln w="6350">
            <a:solidFill>
              <a:srgbClr val="C4B5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31936" y="2514600"/>
            <a:ext cx="932688" cy="402336"/>
          </a:xfrm>
          <a:prstGeom prst="rect">
            <a:avLst/>
          </a:prstGeom>
          <a:noFill/>
        </p:spPr>
        <p:txBody>
          <a:bodyPr wrap="square" anchor="ctr">
            <a:spAutoFit/>
          </a:bodyPr>
          <a:lstStyle/>
          <a:p>
            <a:pPr algn="ctr"/>
            <a:r>
              <a:rPr sz="1000" b="1">
                <a:solidFill>
                  <a:srgbClr val="7C3AED"/>
                </a:solidFill>
                <a:latin typeface="Meiryo UI"/>
              </a:rPr>
              <a:t>✍ サイン取得</a:t>
            </a:r>
          </a:p>
        </p:txBody>
      </p:sp>
      <p:sp>
        <p:nvSpPr>
          <p:cNvPr id="30" name="Rectangle 29"/>
          <p:cNvSpPr/>
          <p:nvPr/>
        </p:nvSpPr>
        <p:spPr>
          <a:xfrm>
            <a:off x="9692640" y="2514600"/>
            <a:ext cx="713232" cy="402336"/>
          </a:xfrm>
          <a:prstGeom prst="rect">
            <a:avLst/>
          </a:prstGeom>
          <a:solidFill>
            <a:srgbClr val="EFF6FF"/>
          </a:solidFill>
          <a:ln w="635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29215" y="2514600"/>
            <a:ext cx="640080" cy="402336"/>
          </a:xfrm>
          <a:prstGeom prst="rect">
            <a:avLst/>
          </a:prstGeom>
          <a:noFill/>
        </p:spPr>
        <p:txBody>
          <a:bodyPr wrap="square" anchor="ctr">
            <a:spAutoFit/>
          </a:bodyPr>
          <a:lstStyle/>
          <a:p>
            <a:pPr algn="ctr"/>
            <a:r>
              <a:rPr sz="1000" b="1">
                <a:solidFill>
                  <a:srgbClr val="1D4ED8"/>
                </a:solidFill>
                <a:latin typeface="Meiryo UI"/>
              </a:rPr>
              <a:t>↗ 開く</a:t>
            </a:r>
          </a:p>
        </p:txBody>
      </p:sp>
      <p:sp>
        <p:nvSpPr>
          <p:cNvPr id="32" name="Rectangle 31"/>
          <p:cNvSpPr/>
          <p:nvPr/>
        </p:nvSpPr>
        <p:spPr>
          <a:xfrm>
            <a:off x="10515600" y="2514600"/>
            <a:ext cx="658368" cy="402336"/>
          </a:xfrm>
          <a:prstGeom prst="rect">
            <a:avLst/>
          </a:prstGeom>
          <a:solidFill>
            <a:srgbClr val="FEE2E2"/>
          </a:solidFill>
          <a:ln w="6350">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52176" y="2514600"/>
            <a:ext cx="585216" cy="402336"/>
          </a:xfrm>
          <a:prstGeom prst="rect">
            <a:avLst/>
          </a:prstGeom>
          <a:noFill/>
        </p:spPr>
        <p:txBody>
          <a:bodyPr wrap="square" anchor="ctr">
            <a:spAutoFit/>
          </a:bodyPr>
          <a:lstStyle/>
          <a:p>
            <a:pPr algn="ctr"/>
            <a:r>
              <a:rPr sz="1000" b="1">
                <a:solidFill>
                  <a:srgbClr val="DC2626"/>
                </a:solidFill>
                <a:latin typeface="Meiryo UI"/>
              </a:rPr>
              <a:t>🗑 削除</a:t>
            </a:r>
          </a:p>
        </p:txBody>
      </p:sp>
      <p:sp>
        <p:nvSpPr>
          <p:cNvPr id="34" name="Rectangle 33"/>
          <p:cNvSpPr/>
          <p:nvPr/>
        </p:nvSpPr>
        <p:spPr>
          <a:xfrm>
            <a:off x="640080" y="3118104"/>
            <a:ext cx="10881360" cy="621792"/>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49808" y="3209544"/>
            <a:ext cx="438912" cy="438912"/>
          </a:xfrm>
          <a:prstGeom prst="rect">
            <a:avLst/>
          </a:prstGeom>
          <a:solidFill>
            <a:srgbClr val="FF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8096" y="3227832"/>
            <a:ext cx="402336" cy="402336"/>
          </a:xfrm>
          <a:prstGeom prst="rect">
            <a:avLst/>
          </a:prstGeom>
          <a:noFill/>
        </p:spPr>
        <p:txBody>
          <a:bodyPr wrap="square" anchor="ctr">
            <a:spAutoFit/>
          </a:bodyPr>
          <a:lstStyle/>
          <a:p>
            <a:pPr algn="l"/>
            <a:r>
              <a:rPr sz="1600" b="0">
                <a:solidFill>
                  <a:srgbClr val="1C2B27"/>
                </a:solidFill>
                <a:latin typeface="Meiryo UI"/>
              </a:rPr>
              <a:t>📄</a:t>
            </a:r>
          </a:p>
        </p:txBody>
      </p:sp>
      <p:sp>
        <p:nvSpPr>
          <p:cNvPr id="37" name="Rectangle 36"/>
          <p:cNvSpPr/>
          <p:nvPr/>
        </p:nvSpPr>
        <p:spPr>
          <a:xfrm>
            <a:off x="1316736" y="3246120"/>
            <a:ext cx="658368" cy="256032"/>
          </a:xfrm>
          <a:prstGeom prst="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335024" y="3246120"/>
            <a:ext cx="621792" cy="256032"/>
          </a:xfrm>
          <a:prstGeom prst="rect">
            <a:avLst/>
          </a:prstGeom>
          <a:noFill/>
        </p:spPr>
        <p:txBody>
          <a:bodyPr wrap="square" anchor="ctr">
            <a:spAutoFit/>
          </a:bodyPr>
          <a:lstStyle/>
          <a:p>
            <a:pPr algn="l"/>
            <a:r>
              <a:rPr sz="1000" b="1">
                <a:solidFill>
                  <a:srgbClr val="16A34A"/>
                </a:solidFill>
                <a:latin typeface="Meiryo UI"/>
              </a:rPr>
              <a:t>モニタリング</a:t>
            </a:r>
          </a:p>
        </p:txBody>
      </p:sp>
      <p:sp>
        <p:nvSpPr>
          <p:cNvPr id="39" name="TextBox 38"/>
          <p:cNvSpPr txBox="1"/>
          <p:nvPr/>
        </p:nvSpPr>
        <p:spPr>
          <a:xfrm>
            <a:off x="1316736" y="3236976"/>
            <a:ext cx="5669280" cy="256032"/>
          </a:xfrm>
          <a:prstGeom prst="rect">
            <a:avLst/>
          </a:prstGeom>
          <a:noFill/>
        </p:spPr>
        <p:txBody>
          <a:bodyPr wrap="square" anchor="t">
            <a:spAutoFit/>
          </a:bodyPr>
          <a:lstStyle/>
          <a:p>
            <a:pPr algn="l"/>
            <a:r>
              <a:rPr sz="1200" b="1">
                <a:solidFill>
                  <a:srgbClr val="1C2B27"/>
                </a:solidFill>
                <a:latin typeface="Meiryo UI"/>
              </a:rPr>
              <a:t>モニタリング報告書_2026-05.pdf</a:t>
            </a:r>
          </a:p>
        </p:txBody>
      </p:sp>
      <p:sp>
        <p:nvSpPr>
          <p:cNvPr id="40" name="TextBox 39"/>
          <p:cNvSpPr txBox="1"/>
          <p:nvPr/>
        </p:nvSpPr>
        <p:spPr>
          <a:xfrm>
            <a:off x="1316736" y="3493008"/>
            <a:ext cx="5669280" cy="201168"/>
          </a:xfrm>
          <a:prstGeom prst="rect">
            <a:avLst/>
          </a:prstGeom>
          <a:noFill/>
        </p:spPr>
        <p:txBody>
          <a:bodyPr wrap="square" anchor="t">
            <a:spAutoFit/>
          </a:bodyPr>
          <a:lstStyle/>
          <a:p>
            <a:pPr algn="l"/>
            <a:r>
              <a:rPr sz="1000" b="0">
                <a:solidFill>
                  <a:srgbClr val="5B6E68"/>
                </a:solidFill>
                <a:latin typeface="Meiryo UI"/>
              </a:rPr>
              <a:t>2026-06-02  ／  98 KB</a:t>
            </a:r>
          </a:p>
        </p:txBody>
      </p:sp>
      <p:sp>
        <p:nvSpPr>
          <p:cNvPr id="41" name="Rectangle 40"/>
          <p:cNvSpPr/>
          <p:nvPr/>
        </p:nvSpPr>
        <p:spPr>
          <a:xfrm>
            <a:off x="8595360" y="3227832"/>
            <a:ext cx="713232" cy="402336"/>
          </a:xfrm>
          <a:prstGeom prst="rect">
            <a:avLst/>
          </a:prstGeom>
          <a:solidFill>
            <a:srgbClr val="EFF6FF"/>
          </a:solidFill>
          <a:ln w="635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31936" y="3227832"/>
            <a:ext cx="640080" cy="402336"/>
          </a:xfrm>
          <a:prstGeom prst="rect">
            <a:avLst/>
          </a:prstGeom>
          <a:noFill/>
        </p:spPr>
        <p:txBody>
          <a:bodyPr wrap="square" anchor="ctr">
            <a:spAutoFit/>
          </a:bodyPr>
          <a:lstStyle/>
          <a:p>
            <a:pPr algn="ctr"/>
            <a:r>
              <a:rPr sz="1000" b="1">
                <a:solidFill>
                  <a:srgbClr val="1D4ED8"/>
                </a:solidFill>
                <a:latin typeface="Meiryo UI"/>
              </a:rPr>
              <a:t>↗ 開く</a:t>
            </a:r>
          </a:p>
        </p:txBody>
      </p:sp>
      <p:sp>
        <p:nvSpPr>
          <p:cNvPr id="43" name="Rectangle 42"/>
          <p:cNvSpPr/>
          <p:nvPr/>
        </p:nvSpPr>
        <p:spPr>
          <a:xfrm>
            <a:off x="9418320" y="3227832"/>
            <a:ext cx="658368" cy="402336"/>
          </a:xfrm>
          <a:prstGeom prst="rect">
            <a:avLst/>
          </a:prstGeom>
          <a:solidFill>
            <a:srgbClr val="FEE2E2"/>
          </a:solidFill>
          <a:ln w="6350">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54896" y="3227832"/>
            <a:ext cx="585216" cy="402336"/>
          </a:xfrm>
          <a:prstGeom prst="rect">
            <a:avLst/>
          </a:prstGeom>
          <a:noFill/>
        </p:spPr>
        <p:txBody>
          <a:bodyPr wrap="square" anchor="ctr">
            <a:spAutoFit/>
          </a:bodyPr>
          <a:lstStyle/>
          <a:p>
            <a:pPr algn="ctr"/>
            <a:r>
              <a:rPr sz="1000" b="1">
                <a:solidFill>
                  <a:srgbClr val="DC2626"/>
                </a:solidFill>
                <a:latin typeface="Meiryo UI"/>
              </a:rPr>
              <a:t>🗑 削除</a:t>
            </a:r>
          </a:p>
        </p:txBody>
      </p:sp>
      <p:graphicFrame>
        <p:nvGraphicFramePr>
          <p:cNvPr id="45" name="Table 44"/>
          <p:cNvGraphicFramePr>
            <a:graphicFrameLocks noGrp="1"/>
          </p:cNvGraphicFramePr>
          <p:nvPr/>
        </p:nvGraphicFramePr>
        <p:xfrm>
          <a:off x="640080" y="5120640"/>
          <a:ext cx="10881360" cy="1600200"/>
        </p:xfrm>
        <a:graphic>
          <a:graphicData uri="http://schemas.openxmlformats.org/drawingml/2006/table">
            <a:tbl>
              <a:tblPr>
                <a:tableStyleId>{5C22544A-7EE6-4342-B048-85BDC9FD1C3A}</a:tableStyleId>
              </a:tblPr>
              <a:tblGrid>
                <a:gridCol w="3474720"/>
                <a:gridCol w="7406640"/>
              </a:tblGrid>
              <a:tr h="266700">
                <a:tc>
                  <a:txBody>
                    <a:bodyPr wrap="square"/>
                    <a:lstStyle/>
                    <a:p>
                      <a:pPr algn="l"/>
                      <a:r>
                        <a:rPr sz="1300" b="1">
                          <a:solidFill>
                            <a:srgbClr val="FFFFFF"/>
                          </a:solidFill>
                          <a:latin typeface="Meiryo UI"/>
                        </a:rPr>
                        <a:t>表示</a:t>
                      </a:r>
                    </a:p>
                  </a:txBody>
                  <a:tcPr anchor="ctr" marL="91440" marR="73152" marT="36576" marB="36576">
                    <a:solidFill>
                      <a:srgbClr val="0E8A78"/>
                    </a:solidFill>
                  </a:tcPr>
                </a:tc>
                <a:tc>
                  <a:txBody>
                    <a:bodyPr wrap="square"/>
                    <a:lstStyle/>
                    <a:p>
                      <a:pPr algn="l"/>
                      <a:r>
                        <a:rPr sz="1300" b="1">
                          <a:solidFill>
                            <a:srgbClr val="FFFFFF"/>
                          </a:solidFill>
                          <a:latin typeface="Meiryo UI"/>
                        </a:rPr>
                        <a:t>意味</a:t>
                      </a:r>
                    </a:p>
                  </a:txBody>
                  <a:tcPr anchor="ctr" marL="91440" marR="73152" marT="36576" marB="36576">
                    <a:solidFill>
                      <a:srgbClr val="0E8A78"/>
                    </a:solidFill>
                  </a:tcPr>
                </a:tc>
              </a:tr>
              <a:tr h="266700">
                <a:tc>
                  <a:txBody>
                    <a:bodyPr wrap="square"/>
                    <a:lstStyle/>
                    <a:p>
                      <a:pPr algn="l"/>
                      <a:r>
                        <a:rPr sz="1300" b="1">
                          <a:solidFill>
                            <a:srgbClr val="1C2B27"/>
                          </a:solidFill>
                          <a:latin typeface="Meiryo UI"/>
                        </a:rPr>
                        <a:t>計画書・モニタリング・その他バッジ</a:t>
                      </a:r>
                    </a:p>
                  </a:txBody>
                  <a:tcPr anchor="ctr" marL="91440" marR="73152" marT="36576" marB="36576">
                    <a:solidFill>
                      <a:srgbClr val="FFFFFF"/>
                    </a:solidFill>
                  </a:tcPr>
                </a:tc>
                <a:tc>
                  <a:txBody>
                    <a:bodyPr wrap="square"/>
                    <a:lstStyle/>
                    <a:p>
                      <a:pPr algn="l"/>
                      <a:r>
                        <a:rPr sz="1300" b="0">
                          <a:solidFill>
                            <a:srgbClr val="1C2B27"/>
                          </a:solidFill>
                          <a:latin typeface="Meiryo UI"/>
                        </a:rPr>
                        <a:t>書類の種類</a:t>
                      </a:r>
                    </a:p>
                  </a:txBody>
                  <a:tcPr anchor="ctr" marL="91440" marR="73152" marT="36576" marB="36576">
                    <a:solidFill>
                      <a:srgbClr val="FFFFFF"/>
                    </a:solidFill>
                  </a:tcPr>
                </a:tc>
              </a:tr>
              <a:tr h="266700">
                <a:tc>
                  <a:txBody>
                    <a:bodyPr wrap="square"/>
                    <a:lstStyle/>
                    <a:p>
                      <a:pPr algn="l"/>
                      <a:r>
                        <a:rPr sz="1300" b="1">
                          <a:solidFill>
                            <a:srgbClr val="1C2B27"/>
                          </a:solidFill>
                          <a:latin typeface="Meiryo UI"/>
                        </a:rPr>
                        <a:t>✓ 署名済み（緑バッジ）</a:t>
                      </a:r>
                    </a:p>
                  </a:txBody>
                  <a:tcPr anchor="ctr" marL="91440" marR="73152" marT="36576" marB="36576">
                    <a:solidFill>
                      <a:srgbClr val="E2F0EC"/>
                    </a:solidFill>
                  </a:tcPr>
                </a:tc>
                <a:tc>
                  <a:txBody>
                    <a:bodyPr wrap="square"/>
                    <a:lstStyle/>
                    <a:p>
                      <a:pPr algn="l"/>
                      <a:r>
                        <a:rPr sz="1300" b="0">
                          <a:solidFill>
                            <a:srgbClr val="1C2B27"/>
                          </a:solidFill>
                          <a:latin typeface="Meiryo UI"/>
                        </a:rPr>
                        <a:t>サイン取得済みの書類</a:t>
                      </a:r>
                    </a:p>
                  </a:txBody>
                  <a:tcPr anchor="ctr" marL="91440" marR="73152" marT="36576" marB="36576">
                    <a:solidFill>
                      <a:srgbClr val="E2F0EC"/>
                    </a:solidFill>
                  </a:tcPr>
                </a:tc>
              </a:tr>
              <a:tr h="266700">
                <a:tc>
                  <a:txBody>
                    <a:bodyPr wrap="square"/>
                    <a:lstStyle/>
                    <a:p>
                      <a:pPr algn="l"/>
                      <a:r>
                        <a:rPr sz="1300" b="1">
                          <a:solidFill>
                            <a:srgbClr val="1C2B27"/>
                          </a:solidFill>
                          <a:latin typeface="Meiryo UI"/>
                        </a:rPr>
                        <a:t>✍ サイン取得（紫ボタン）</a:t>
                      </a:r>
                    </a:p>
                  </a:txBody>
                  <a:tcPr anchor="ctr" marL="91440" marR="73152" marT="36576" marB="36576">
                    <a:solidFill>
                      <a:srgbClr val="FFFFFF"/>
                    </a:solidFill>
                  </a:tcPr>
                </a:tc>
                <a:tc>
                  <a:txBody>
                    <a:bodyPr wrap="square"/>
                    <a:lstStyle/>
                    <a:p>
                      <a:pPr algn="l"/>
                      <a:r>
                        <a:rPr sz="1300" b="0">
                          <a:solidFill>
                            <a:srgbClr val="1C2B27"/>
                          </a:solidFill>
                          <a:latin typeface="Meiryo UI"/>
                        </a:rPr>
                        <a:t>計画書で署名版未作成の場合のみ表示</a:t>
                      </a:r>
                    </a:p>
                  </a:txBody>
                  <a:tcPr anchor="ctr" marL="91440" marR="73152" marT="36576" marB="36576">
                    <a:solidFill>
                      <a:srgbClr val="FFFFFF"/>
                    </a:solidFill>
                  </a:tcPr>
                </a:tc>
              </a:tr>
              <a:tr h="266700">
                <a:tc>
                  <a:txBody>
                    <a:bodyPr wrap="square"/>
                    <a:lstStyle/>
                    <a:p>
                      <a:pPr algn="l"/>
                      <a:r>
                        <a:rPr sz="1300" b="1">
                          <a:solidFill>
                            <a:srgbClr val="1C2B27"/>
                          </a:solidFill>
                          <a:latin typeface="Meiryo UI"/>
                        </a:rPr>
                        <a:t>↗ 開く（青ボタン）</a:t>
                      </a:r>
                    </a:p>
                  </a:txBody>
                  <a:tcPr anchor="ctr" marL="91440" marR="73152" marT="36576" marB="36576">
                    <a:solidFill>
                      <a:srgbClr val="E2F0EC"/>
                    </a:solidFill>
                  </a:tcPr>
                </a:tc>
                <a:tc>
                  <a:txBody>
                    <a:bodyPr wrap="square"/>
                    <a:lstStyle/>
                    <a:p>
                      <a:pPr algn="l"/>
                      <a:r>
                        <a:rPr sz="1300" b="0">
                          <a:solidFill>
                            <a:srgbClr val="1C2B27"/>
                          </a:solidFill>
                          <a:latin typeface="Meiryo UI"/>
                        </a:rPr>
                        <a:t>PDFを新しいタブで表示</a:t>
                      </a:r>
                    </a:p>
                  </a:txBody>
                  <a:tcPr anchor="ctr" marL="91440" marR="73152" marT="36576" marB="36576">
                    <a:solidFill>
                      <a:srgbClr val="E2F0EC"/>
                    </a:solidFill>
                  </a:tcPr>
                </a:tc>
              </a:tr>
              <a:tr h="266700">
                <a:tc>
                  <a:txBody>
                    <a:bodyPr wrap="square"/>
                    <a:lstStyle/>
                    <a:p>
                      <a:pPr algn="l"/>
                      <a:r>
                        <a:rPr sz="1300" b="1">
                          <a:solidFill>
                            <a:srgbClr val="1C2B27"/>
                          </a:solidFill>
                          <a:latin typeface="Meiryo UI"/>
                        </a:rPr>
                        <a:t>🗑 削除（赤ボタン）</a:t>
                      </a:r>
                    </a:p>
                  </a:txBody>
                  <a:tcPr anchor="ctr" marL="91440" marR="73152" marT="36576" marB="36576">
                    <a:solidFill>
                      <a:srgbClr val="FFFFFF"/>
                    </a:solidFill>
                  </a:tcPr>
                </a:tc>
                <a:tc>
                  <a:txBody>
                    <a:bodyPr wrap="square"/>
                    <a:lstStyle/>
                    <a:p>
                      <a:pPr algn="l"/>
                      <a:r>
                        <a:rPr sz="1300" b="0">
                          <a:solidFill>
                            <a:srgbClr val="1C2B27"/>
                          </a:solidFill>
                          <a:latin typeface="Meiryo UI"/>
                        </a:rPr>
                        <a:t>書類を削除（元に戻せません）</a:t>
                      </a:r>
                    </a:p>
                  </a:txBody>
                  <a:tcPr anchor="ctr" marL="91440" marR="73152" marT="36576" marB="36576">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OPEN / DELETE</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3000" b="1">
                <a:solidFill>
                  <a:srgbClr val="1C2B27"/>
                </a:solidFill>
                <a:latin typeface="Meiryo UI"/>
              </a:rPr>
              <a:t>書類を開く・削除する</a:t>
            </a:r>
          </a:p>
        </p:txBody>
      </p:sp>
      <p:sp>
        <p:nvSpPr>
          <p:cNvPr id="6" name="Rectangle 5"/>
          <p:cNvSpPr/>
          <p:nvPr/>
        </p:nvSpPr>
        <p:spPr>
          <a:xfrm>
            <a:off x="640080" y="1481328"/>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書類管理タブ 操作マニュアル</a:t>
            </a:r>
          </a:p>
        </p:txBody>
      </p:sp>
      <p:sp>
        <p:nvSpPr>
          <p:cNvPr id="8" name="Rectangle 7"/>
          <p:cNvSpPr/>
          <p:nvPr/>
        </p:nvSpPr>
        <p:spPr>
          <a:xfrm>
            <a:off x="640080" y="1828800"/>
            <a:ext cx="5257800" cy="2194560"/>
          </a:xfrm>
          <a:prstGeom prst="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28800"/>
            <a:ext cx="91440" cy="219456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65960"/>
            <a:ext cx="4754880" cy="457200"/>
          </a:xfrm>
          <a:prstGeom prst="rect">
            <a:avLst/>
          </a:prstGeom>
          <a:noFill/>
        </p:spPr>
        <p:txBody>
          <a:bodyPr wrap="square" anchor="t">
            <a:spAutoFit/>
          </a:bodyPr>
          <a:lstStyle/>
          <a:p>
            <a:pPr algn="l"/>
            <a:r>
              <a:rPr sz="2000" b="1">
                <a:solidFill>
                  <a:srgbClr val="1D4ED8"/>
                </a:solidFill>
                <a:latin typeface="Meiryo UI"/>
              </a:rPr>
              <a:t>↗  書類を開く</a:t>
            </a:r>
          </a:p>
        </p:txBody>
      </p:sp>
      <p:sp>
        <p:nvSpPr>
          <p:cNvPr id="11" name="TextBox 10"/>
          <p:cNvSpPr txBox="1"/>
          <p:nvPr/>
        </p:nvSpPr>
        <p:spPr>
          <a:xfrm>
            <a:off x="868680" y="2514600"/>
            <a:ext cx="4754880" cy="1371600"/>
          </a:xfrm>
          <a:prstGeom prst="rect">
            <a:avLst/>
          </a:prstGeom>
          <a:noFill/>
        </p:spPr>
        <p:txBody>
          <a:bodyPr wrap="square">
            <a:spAutoFit/>
          </a:bodyPr>
          <a:lstStyle/>
          <a:p>
            <a:pPr algn="l">
              <a:lnSpc>
                <a:spcPct val="125000"/>
              </a:lnSpc>
              <a:spcAft>
                <a:spcPts val="400"/>
              </a:spcAft>
            </a:pPr>
            <a:r>
              <a:rPr sz="1400" b="0">
                <a:solidFill>
                  <a:srgbClr val="1C2B27"/>
                </a:solidFill>
                <a:latin typeface="Meiryo UI"/>
              </a:rPr>
              <a:t>「開く」ボタンを押すと、クラウドからPDFを取得して</a:t>
            </a:r>
          </a:p>
          <a:p>
            <a:pPr algn="l">
              <a:lnSpc>
                <a:spcPct val="125000"/>
              </a:lnSpc>
              <a:spcAft>
                <a:spcPts val="400"/>
              </a:spcAft>
            </a:pPr>
            <a:r>
              <a:rPr sz="1400" b="0">
                <a:solidFill>
                  <a:srgbClr val="1C2B27"/>
                </a:solidFill>
                <a:latin typeface="Meiryo UI"/>
              </a:rPr>
              <a:t>新しいタブで表示します。</a:t>
            </a:r>
          </a:p>
          <a:p>
            <a:pPr algn="l">
              <a:lnSpc>
                <a:spcPct val="125000"/>
              </a:lnSpc>
              <a:spcAft>
                <a:spcPts val="400"/>
              </a:spcAft>
            </a:pPr>
            <a:r>
              <a:rPr sz="1400" b="0">
                <a:solidFill>
                  <a:srgbClr val="5B6E68"/>
                </a:solidFill>
                <a:latin typeface="Meiryo UI"/>
              </a:rPr>
              <a:t>スマートフォン・タブレットでも同様に開けます。</a:t>
            </a:r>
          </a:p>
        </p:txBody>
      </p:sp>
      <p:sp>
        <p:nvSpPr>
          <p:cNvPr id="12" name="Rectangle 11"/>
          <p:cNvSpPr/>
          <p:nvPr/>
        </p:nvSpPr>
        <p:spPr>
          <a:xfrm>
            <a:off x="6355080" y="1828800"/>
            <a:ext cx="5166360" cy="2194560"/>
          </a:xfrm>
          <a:prstGeom prst="rect">
            <a:avLst/>
          </a:prstGeom>
          <a:solidFill>
            <a:srgbClr val="FEE2E2"/>
          </a:solidFill>
          <a:ln w="12700">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1828800"/>
            <a:ext cx="91440" cy="219456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1965960"/>
            <a:ext cx="4572000" cy="457200"/>
          </a:xfrm>
          <a:prstGeom prst="rect">
            <a:avLst/>
          </a:prstGeom>
          <a:noFill/>
        </p:spPr>
        <p:txBody>
          <a:bodyPr wrap="square" anchor="t">
            <a:spAutoFit/>
          </a:bodyPr>
          <a:lstStyle/>
          <a:p>
            <a:pPr algn="l"/>
            <a:r>
              <a:rPr sz="2000" b="1">
                <a:solidFill>
                  <a:srgbClr val="DC2626"/>
                </a:solidFill>
                <a:latin typeface="Meiryo UI"/>
              </a:rPr>
              <a:t>🗑  削除する</a:t>
            </a:r>
          </a:p>
        </p:txBody>
      </p:sp>
      <p:sp>
        <p:nvSpPr>
          <p:cNvPr id="15" name="TextBox 14"/>
          <p:cNvSpPr txBox="1"/>
          <p:nvPr/>
        </p:nvSpPr>
        <p:spPr>
          <a:xfrm>
            <a:off x="6583680" y="2514600"/>
            <a:ext cx="4663440" cy="1371600"/>
          </a:xfrm>
          <a:prstGeom prst="rect">
            <a:avLst/>
          </a:prstGeom>
          <a:noFill/>
        </p:spPr>
        <p:txBody>
          <a:bodyPr wrap="square">
            <a:spAutoFit/>
          </a:bodyPr>
          <a:lstStyle/>
          <a:p>
            <a:pPr algn="l">
              <a:lnSpc>
                <a:spcPct val="125000"/>
              </a:lnSpc>
              <a:spcAft>
                <a:spcPts val="400"/>
              </a:spcAft>
            </a:pPr>
            <a:r>
              <a:rPr sz="1400" b="0">
                <a:solidFill>
                  <a:srgbClr val="1C2B27"/>
                </a:solidFill>
                <a:latin typeface="Meiryo UI"/>
              </a:rPr>
              <a:t>「削除」ボタンを押すと確認ダイアログが表示されます。</a:t>
            </a:r>
          </a:p>
          <a:p>
            <a:pPr algn="l">
              <a:lnSpc>
                <a:spcPct val="125000"/>
              </a:lnSpc>
              <a:spcAft>
                <a:spcPts val="400"/>
              </a:spcAft>
            </a:pPr>
            <a:r>
              <a:rPr sz="1400" b="0">
                <a:solidFill>
                  <a:srgbClr val="1C2B27"/>
                </a:solidFill>
                <a:latin typeface="Meiryo UI"/>
              </a:rPr>
              <a:t>「OK」を押すとクラウドから完全に削除されます。</a:t>
            </a:r>
          </a:p>
          <a:p>
            <a:pPr algn="l">
              <a:lnSpc>
                <a:spcPct val="125000"/>
              </a:lnSpc>
              <a:spcAft>
                <a:spcPts val="400"/>
              </a:spcAft>
            </a:pPr>
            <a:r>
              <a:rPr sz="1400" b="1">
                <a:solidFill>
                  <a:srgbClr val="DC2626"/>
                </a:solidFill>
                <a:latin typeface="Meiryo UI"/>
              </a:rPr>
              <a:t>削除は元に戻せません。</a:t>
            </a:r>
          </a:p>
        </p:txBody>
      </p:sp>
      <p:sp>
        <p:nvSpPr>
          <p:cNvPr id="16" name="Rectangle 15"/>
          <p:cNvSpPr/>
          <p:nvPr/>
        </p:nvSpPr>
        <p:spPr>
          <a:xfrm>
            <a:off x="640080" y="4343400"/>
            <a:ext cx="10881360" cy="868680"/>
          </a:xfrm>
          <a:prstGeom prst="rect">
            <a:avLst/>
          </a:prstGeom>
          <a:solidFill>
            <a:srgbClr val="E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4343400"/>
            <a:ext cx="73152" cy="86868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453128"/>
            <a:ext cx="10515600" cy="685800"/>
          </a:xfrm>
          <a:prstGeom prst="rect">
            <a:avLst/>
          </a:prstGeom>
          <a:noFill/>
        </p:spPr>
        <p:txBody>
          <a:bodyPr wrap="square">
            <a:spAutoFit/>
          </a:bodyPr>
          <a:lstStyle/>
          <a:p>
            <a:pPr algn="l">
              <a:lnSpc>
                <a:spcPct val="125000"/>
              </a:lnSpc>
              <a:spcAft>
                <a:spcPts val="400"/>
              </a:spcAft>
            </a:pPr>
            <a:r>
              <a:rPr sz="1300" b="1">
                <a:solidFill>
                  <a:srgbClr val="0E8A78"/>
                </a:solidFill>
                <a:latin typeface="Meiryo UI"/>
              </a:rPr>
              <a:t>💡 署名済みファイルと元の計画書は独立して管理されます</a:t>
            </a:r>
          </a:p>
          <a:p>
            <a:pPr algn="l">
              <a:lnSpc>
                <a:spcPct val="125000"/>
              </a:lnSpc>
              <a:spcAft>
                <a:spcPts val="400"/>
              </a:spcAft>
            </a:pPr>
            <a:r>
              <a:rPr sz="1300" b="0">
                <a:solidFill>
                  <a:srgbClr val="1C2B27"/>
                </a:solidFill>
                <a:latin typeface="Meiryo UI"/>
              </a:rPr>
              <a:t>署名済みファイルを削除しても元の計画書は残ります。逆に元の計画書を削除しても署名済みファイルは残ります。不要な方だけ削除してください。</a:t>
            </a:r>
          </a:p>
        </p:txBody>
      </p:sp>
      <p:sp>
        <p:nvSpPr>
          <p:cNvPr id="19" name="Rectangle 18"/>
          <p:cNvSpPr/>
          <p:nvPr/>
        </p:nvSpPr>
        <p:spPr>
          <a:xfrm>
            <a:off x="640080" y="5394960"/>
            <a:ext cx="10881360" cy="685800"/>
          </a:xfrm>
          <a:prstGeom prst="rect">
            <a:avLst/>
          </a:prstGeom>
          <a:solidFill>
            <a:srgbClr val="FBE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5394960"/>
            <a:ext cx="73152" cy="685800"/>
          </a:xfrm>
          <a:prstGeom prst="rect">
            <a:avLst/>
          </a:prstGeom>
          <a:solidFill>
            <a:srgbClr val="E27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504688"/>
            <a:ext cx="10515600" cy="502920"/>
          </a:xfrm>
          <a:prstGeom prst="rect">
            <a:avLst/>
          </a:prstGeom>
          <a:noFill/>
        </p:spPr>
        <p:txBody>
          <a:bodyPr wrap="square">
            <a:spAutoFit/>
          </a:bodyPr>
          <a:lstStyle/>
          <a:p>
            <a:pPr algn="l">
              <a:lnSpc>
                <a:spcPct val="125000"/>
              </a:lnSpc>
              <a:spcAft>
                <a:spcPts val="400"/>
              </a:spcAft>
            </a:pPr>
            <a:r>
              <a:rPr sz="1300" b="1">
                <a:solidFill>
                  <a:srgbClr val="E2714A"/>
                </a:solidFill>
                <a:latin typeface="Meiryo UI"/>
              </a:rPr>
              <a:t>⚠ 誤って削除した場合は</a:t>
            </a:r>
          </a:p>
          <a:p>
            <a:pPr algn="l">
              <a:lnSpc>
                <a:spcPct val="125000"/>
              </a:lnSpc>
              <a:spcAft>
                <a:spcPts val="400"/>
              </a:spcAft>
            </a:pPr>
            <a:r>
              <a:rPr sz="1300" b="0">
                <a:solidFill>
                  <a:srgbClr val="1C2B27"/>
                </a:solidFill>
                <a:latin typeface="Meiryo UI"/>
              </a:rPr>
              <a:t>元のPDFファイルを再アップロードしてください（サイン取得が必要であれば再度行えます）。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7C3AED"/>
                </a:solidFill>
                <a:latin typeface="Meiryo UI"/>
              </a:rPr>
              <a:t>SIGN</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3000" b="1">
                <a:solidFill>
                  <a:srgbClr val="1C2B27"/>
                </a:solidFill>
                <a:latin typeface="Meiryo UI"/>
              </a:rPr>
              <a:t>サイン取得機能とは（計画書のみ）</a:t>
            </a:r>
          </a:p>
        </p:txBody>
      </p:sp>
      <p:sp>
        <p:nvSpPr>
          <p:cNvPr id="6" name="Rectangle 5"/>
          <p:cNvSpPr/>
          <p:nvPr/>
        </p:nvSpPr>
        <p:spPr>
          <a:xfrm>
            <a:off x="640080" y="1481328"/>
            <a:ext cx="1280160" cy="54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書類管理タブ 操作マニュアル</a:t>
            </a:r>
          </a:p>
        </p:txBody>
      </p:sp>
      <p:sp>
        <p:nvSpPr>
          <p:cNvPr id="8" name="Rectangle 7"/>
          <p:cNvSpPr/>
          <p:nvPr/>
        </p:nvSpPr>
        <p:spPr>
          <a:xfrm>
            <a:off x="640080" y="1828800"/>
            <a:ext cx="10881360" cy="1234440"/>
          </a:xfrm>
          <a:prstGeom prst="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28800"/>
            <a:ext cx="91440" cy="1234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20240"/>
            <a:ext cx="10332720" cy="1051560"/>
          </a:xfrm>
          <a:prstGeom prst="rect">
            <a:avLst/>
          </a:prstGeom>
          <a:noFill/>
        </p:spPr>
        <p:txBody>
          <a:bodyPr wrap="square">
            <a:spAutoFit/>
          </a:bodyPr>
          <a:lstStyle/>
          <a:p>
            <a:pPr algn="l">
              <a:lnSpc>
                <a:spcPct val="125000"/>
              </a:lnSpc>
              <a:spcAft>
                <a:spcPts val="400"/>
              </a:spcAft>
            </a:pPr>
            <a:r>
              <a:rPr sz="1500" b="0">
                <a:solidFill>
                  <a:srgbClr val="1C2B27"/>
                </a:solidFill>
                <a:latin typeface="Meiryo UI"/>
              </a:rPr>
              <a:t>計画書PDFを画面に表示し、最終ページ右下の「利用者署名」欄に手書きでサインしてもらう機能です。</a:t>
            </a:r>
          </a:p>
          <a:p>
            <a:pPr algn="l">
              <a:lnSpc>
                <a:spcPct val="125000"/>
              </a:lnSpc>
              <a:spcAft>
                <a:spcPts val="400"/>
              </a:spcAft>
            </a:pPr>
            <a:r>
              <a:rPr sz="1500" b="0">
                <a:solidFill>
                  <a:srgbClr val="1C2B27"/>
                </a:solidFill>
                <a:latin typeface="Meiryo UI"/>
              </a:rPr>
              <a:t>タブレットやスマートフォンの画面上でそのまま指でサインできます。</a:t>
            </a:r>
          </a:p>
          <a:p>
            <a:pPr algn="l">
              <a:lnSpc>
                <a:spcPct val="125000"/>
              </a:lnSpc>
              <a:spcAft>
                <a:spcPts val="400"/>
              </a:spcAft>
            </a:pPr>
            <a:r>
              <a:rPr sz="1500" b="1">
                <a:solidFill>
                  <a:srgbClr val="7C3AED"/>
                </a:solidFill>
                <a:latin typeface="Meiryo UI"/>
              </a:rPr>
              <a:t>署名後は元のPDFとは別に「_署名済み.pdf」として保存されます（元ファイルは消えません）。</a:t>
            </a:r>
          </a:p>
        </p:txBody>
      </p:sp>
      <p:sp>
        <p:nvSpPr>
          <p:cNvPr id="11" name="Rectangle 10"/>
          <p:cNvSpPr/>
          <p:nvPr/>
        </p:nvSpPr>
        <p:spPr>
          <a:xfrm>
            <a:off x="640080" y="3291840"/>
            <a:ext cx="3474720" cy="1828800"/>
          </a:xfrm>
          <a:prstGeom prst="rect">
            <a:avLst/>
          </a:prstGeom>
          <a:solidFill>
            <a:srgbClr val="EDE9FE"/>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291840"/>
            <a:ext cx="73152"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456432"/>
            <a:ext cx="3017520" cy="502920"/>
          </a:xfrm>
          <a:prstGeom prst="rect">
            <a:avLst/>
          </a:prstGeom>
          <a:noFill/>
        </p:spPr>
        <p:txBody>
          <a:bodyPr wrap="square" anchor="t">
            <a:spAutoFit/>
          </a:bodyPr>
          <a:lstStyle/>
          <a:p>
            <a:pPr algn="l"/>
            <a:r>
              <a:rPr sz="1600" b="1">
                <a:solidFill>
                  <a:srgbClr val="1C2B27"/>
                </a:solidFill>
                <a:latin typeface="Meiryo UI"/>
              </a:rPr>
              <a:t>その場でサイン</a:t>
            </a:r>
          </a:p>
        </p:txBody>
      </p:sp>
      <p:sp>
        <p:nvSpPr>
          <p:cNvPr id="14" name="TextBox 13"/>
          <p:cNvSpPr txBox="1"/>
          <p:nvPr/>
        </p:nvSpPr>
        <p:spPr>
          <a:xfrm>
            <a:off x="868680" y="4005072"/>
            <a:ext cx="3063240" cy="960120"/>
          </a:xfrm>
          <a:prstGeom prst="rect">
            <a:avLst/>
          </a:prstGeom>
          <a:noFill/>
        </p:spPr>
        <p:txBody>
          <a:bodyPr wrap="square" anchor="t">
            <a:spAutoFit/>
          </a:bodyPr>
          <a:lstStyle/>
          <a:p>
            <a:pPr algn="l"/>
            <a:r>
              <a:rPr sz="1300" b="0">
                <a:solidFill>
                  <a:srgbClr val="5B6E68"/>
                </a:solidFill>
                <a:latin typeface="Meiryo UI"/>
              </a:rPr>
              <a:t>訪問時にタブレットを渡すだけ。別途書類を持参・郵送する手間が省けます。</a:t>
            </a:r>
          </a:p>
        </p:txBody>
      </p:sp>
      <p:sp>
        <p:nvSpPr>
          <p:cNvPr id="15" name="Rectangle 14"/>
          <p:cNvSpPr/>
          <p:nvPr/>
        </p:nvSpPr>
        <p:spPr>
          <a:xfrm>
            <a:off x="4361688" y="3291840"/>
            <a:ext cx="3474720" cy="1828800"/>
          </a:xfrm>
          <a:prstGeom prst="rect">
            <a:avLst/>
          </a:prstGeom>
          <a:solidFill>
            <a:srgbClr val="E2F0EC"/>
          </a:solidFill>
          <a:ln w="12700">
            <a:solidFill>
              <a:srgbClr val="0E8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61688" y="3291840"/>
            <a:ext cx="73152" cy="18288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0288" y="3456432"/>
            <a:ext cx="3017520" cy="502920"/>
          </a:xfrm>
          <a:prstGeom prst="rect">
            <a:avLst/>
          </a:prstGeom>
          <a:noFill/>
        </p:spPr>
        <p:txBody>
          <a:bodyPr wrap="square" anchor="t">
            <a:spAutoFit/>
          </a:bodyPr>
          <a:lstStyle/>
          <a:p>
            <a:pPr algn="l"/>
            <a:r>
              <a:rPr sz="1600" b="1">
                <a:solidFill>
                  <a:srgbClr val="1C2B27"/>
                </a:solidFill>
                <a:latin typeface="Meiryo UI"/>
              </a:rPr>
              <a:t>元ファイルは保持</a:t>
            </a:r>
          </a:p>
        </p:txBody>
      </p:sp>
      <p:sp>
        <p:nvSpPr>
          <p:cNvPr id="18" name="TextBox 17"/>
          <p:cNvSpPr txBox="1"/>
          <p:nvPr/>
        </p:nvSpPr>
        <p:spPr>
          <a:xfrm>
            <a:off x="4590288" y="4005072"/>
            <a:ext cx="3063240" cy="960120"/>
          </a:xfrm>
          <a:prstGeom prst="rect">
            <a:avLst/>
          </a:prstGeom>
          <a:noFill/>
        </p:spPr>
        <p:txBody>
          <a:bodyPr wrap="square" anchor="t">
            <a:spAutoFit/>
          </a:bodyPr>
          <a:lstStyle/>
          <a:p>
            <a:pPr algn="l"/>
            <a:r>
              <a:rPr sz="1300" b="0">
                <a:solidFill>
                  <a:srgbClr val="5B6E68"/>
                </a:solidFill>
                <a:latin typeface="Meiryo UI"/>
              </a:rPr>
              <a:t>署名済みPDFは新規作成されます。元の計画書は変わらず残ります。</a:t>
            </a:r>
          </a:p>
        </p:txBody>
      </p:sp>
      <p:sp>
        <p:nvSpPr>
          <p:cNvPr id="19" name="Rectangle 18"/>
          <p:cNvSpPr/>
          <p:nvPr/>
        </p:nvSpPr>
        <p:spPr>
          <a:xfrm>
            <a:off x="8083296" y="3291840"/>
            <a:ext cx="3474720" cy="1828800"/>
          </a:xfrm>
          <a:prstGeom prst="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83296" y="3291840"/>
            <a:ext cx="73152" cy="18288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11896" y="3456432"/>
            <a:ext cx="3017520" cy="502920"/>
          </a:xfrm>
          <a:prstGeom prst="rect">
            <a:avLst/>
          </a:prstGeom>
          <a:noFill/>
        </p:spPr>
        <p:txBody>
          <a:bodyPr wrap="square" anchor="t">
            <a:spAutoFit/>
          </a:bodyPr>
          <a:lstStyle/>
          <a:p>
            <a:pPr algn="l"/>
            <a:r>
              <a:rPr sz="1600" b="1">
                <a:solidFill>
                  <a:srgbClr val="1C2B27"/>
                </a:solidFill>
                <a:latin typeface="Meiryo UI"/>
              </a:rPr>
              <a:t>自動でボタン管理</a:t>
            </a:r>
          </a:p>
        </p:txBody>
      </p:sp>
      <p:sp>
        <p:nvSpPr>
          <p:cNvPr id="22" name="TextBox 21"/>
          <p:cNvSpPr txBox="1"/>
          <p:nvPr/>
        </p:nvSpPr>
        <p:spPr>
          <a:xfrm>
            <a:off x="8311896" y="4005072"/>
            <a:ext cx="3063240" cy="960120"/>
          </a:xfrm>
          <a:prstGeom prst="rect">
            <a:avLst/>
          </a:prstGeom>
          <a:noFill/>
        </p:spPr>
        <p:txBody>
          <a:bodyPr wrap="square" anchor="t">
            <a:spAutoFit/>
          </a:bodyPr>
          <a:lstStyle/>
          <a:p>
            <a:pPr algn="l"/>
            <a:r>
              <a:rPr sz="1300" b="0">
                <a:solidFill>
                  <a:srgbClr val="5B6E68"/>
                </a:solidFill>
                <a:latin typeface="Meiryo UI"/>
              </a:rPr>
              <a:t>署名済みファイルがあると元の計画書の「サイン取得」ボタンが自動的に消えます。</a:t>
            </a:r>
          </a:p>
        </p:txBody>
      </p:sp>
      <p:sp>
        <p:nvSpPr>
          <p:cNvPr id="23" name="Rectangle 22"/>
          <p:cNvSpPr/>
          <p:nvPr/>
        </p:nvSpPr>
        <p:spPr>
          <a:xfrm>
            <a:off x="640080" y="5349240"/>
            <a:ext cx="10881360" cy="731520"/>
          </a:xfrm>
          <a:prstGeom prst="rect">
            <a:avLst/>
          </a:prstGeom>
          <a:solidFill>
            <a:srgbClr val="FBE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5349240"/>
            <a:ext cx="73152" cy="731520"/>
          </a:xfrm>
          <a:prstGeom prst="rect">
            <a:avLst/>
          </a:prstGeom>
          <a:solidFill>
            <a:srgbClr val="E27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458968"/>
            <a:ext cx="10515600" cy="548640"/>
          </a:xfrm>
          <a:prstGeom prst="rect">
            <a:avLst/>
          </a:prstGeom>
          <a:noFill/>
        </p:spPr>
        <p:txBody>
          <a:bodyPr wrap="square">
            <a:spAutoFit/>
          </a:bodyPr>
          <a:lstStyle/>
          <a:p>
            <a:pPr algn="l">
              <a:lnSpc>
                <a:spcPct val="125000"/>
              </a:lnSpc>
              <a:spcAft>
                <a:spcPts val="400"/>
              </a:spcAft>
            </a:pPr>
            <a:r>
              <a:rPr sz="1300" b="1">
                <a:solidFill>
                  <a:srgbClr val="E2714A"/>
                </a:solidFill>
                <a:latin typeface="Meiryo UI"/>
              </a:rPr>
              <a:t>⚠ 署名の位置はA4計画書の最終ページ右下に固定されています</a:t>
            </a:r>
          </a:p>
          <a:p>
            <a:pPr algn="l">
              <a:lnSpc>
                <a:spcPct val="125000"/>
              </a:lnSpc>
              <a:spcAft>
                <a:spcPts val="400"/>
              </a:spcAft>
            </a:pPr>
            <a:r>
              <a:rPr sz="1300" b="0">
                <a:solidFill>
                  <a:srgbClr val="1C2B27"/>
                </a:solidFill>
                <a:latin typeface="Meiryo UI"/>
              </a:rPr>
              <a:t>計画書の様式が変わった場合や位置がずれる場合は担当者にご相談ください。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7C3AED"/>
                </a:solidFill>
                <a:latin typeface="Meiryo UI"/>
              </a:rPr>
              <a:t>SIGN STEPS</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3000" b="1">
                <a:solidFill>
                  <a:srgbClr val="1C2B27"/>
                </a:solidFill>
                <a:latin typeface="Meiryo UI"/>
              </a:rPr>
              <a:t>サイン取得 — 操作手順</a:t>
            </a:r>
          </a:p>
        </p:txBody>
      </p:sp>
      <p:sp>
        <p:nvSpPr>
          <p:cNvPr id="6" name="Rectangle 5"/>
          <p:cNvSpPr/>
          <p:nvPr/>
        </p:nvSpPr>
        <p:spPr>
          <a:xfrm>
            <a:off x="640080" y="1481328"/>
            <a:ext cx="1280160" cy="54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書類管理タブ 操作マニュアル</a:t>
            </a:r>
          </a:p>
        </p:txBody>
      </p:sp>
      <p:sp>
        <p:nvSpPr>
          <p:cNvPr id="8" name="Rectangle 7"/>
          <p:cNvSpPr/>
          <p:nvPr/>
        </p:nvSpPr>
        <p:spPr>
          <a:xfrm>
            <a:off x="640080" y="1920240"/>
            <a:ext cx="2606040" cy="2743200"/>
          </a:xfrm>
          <a:prstGeom prst="rect">
            <a:avLst/>
          </a:prstGeom>
          <a:solidFill>
            <a:srgbClr val="FFFFFF"/>
          </a:solidFill>
          <a:ln w="19050">
            <a:solidFill>
              <a:srgbClr val="EDE9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20240"/>
            <a:ext cx="91440" cy="2743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2029968"/>
            <a:ext cx="502920"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029968"/>
            <a:ext cx="502920" cy="502920"/>
          </a:xfrm>
          <a:prstGeom prst="rect">
            <a:avLst/>
          </a:prstGeom>
          <a:noFill/>
        </p:spPr>
        <p:txBody>
          <a:bodyPr wrap="square" anchor="ctr">
            <a:spAutoFit/>
          </a:bodyPr>
          <a:lstStyle/>
          <a:p>
            <a:pPr algn="ctr"/>
            <a:r>
              <a:rPr sz="2000" b="1">
                <a:solidFill>
                  <a:srgbClr val="FFFFFF"/>
                </a:solidFill>
                <a:latin typeface="Meiryo UI"/>
              </a:rPr>
              <a:t>1</a:t>
            </a:r>
          </a:p>
        </p:txBody>
      </p:sp>
      <p:sp>
        <p:nvSpPr>
          <p:cNvPr id="12" name="TextBox 11"/>
          <p:cNvSpPr txBox="1"/>
          <p:nvPr/>
        </p:nvSpPr>
        <p:spPr>
          <a:xfrm>
            <a:off x="868680" y="2633472"/>
            <a:ext cx="2194560" cy="548640"/>
          </a:xfrm>
          <a:prstGeom prst="rect">
            <a:avLst/>
          </a:prstGeom>
          <a:noFill/>
        </p:spPr>
        <p:txBody>
          <a:bodyPr wrap="square" anchor="t">
            <a:spAutoFit/>
          </a:bodyPr>
          <a:lstStyle/>
          <a:p>
            <a:pPr algn="l"/>
            <a:r>
              <a:rPr sz="1500" b="1">
                <a:solidFill>
                  <a:srgbClr val="1C2B27"/>
                </a:solidFill>
                <a:latin typeface="Meiryo UI"/>
              </a:rPr>
              <a:t>「サイン取得」を押す</a:t>
            </a:r>
          </a:p>
        </p:txBody>
      </p:sp>
      <p:sp>
        <p:nvSpPr>
          <p:cNvPr id="13" name="TextBox 12"/>
          <p:cNvSpPr txBox="1"/>
          <p:nvPr/>
        </p:nvSpPr>
        <p:spPr>
          <a:xfrm>
            <a:off x="868680" y="3227832"/>
            <a:ext cx="2194560" cy="1325880"/>
          </a:xfrm>
          <a:prstGeom prst="rect">
            <a:avLst/>
          </a:prstGeom>
          <a:noFill/>
        </p:spPr>
        <p:txBody>
          <a:bodyPr wrap="square" anchor="t">
            <a:spAutoFit/>
          </a:bodyPr>
          <a:lstStyle/>
          <a:p>
            <a:pPr algn="l"/>
            <a:r>
              <a:rPr sz="1200" b="0">
                <a:solidFill>
                  <a:srgbClr val="5B6E68"/>
                </a:solidFill>
                <a:latin typeface="Meiryo UI"/>
              </a:rPr>
              <a:t>計画書（未署名・署名版未作成）の行にある紫のボタンを押します。PDFの読み込みが始まります。</a:t>
            </a:r>
          </a:p>
        </p:txBody>
      </p:sp>
      <p:sp>
        <p:nvSpPr>
          <p:cNvPr id="14" name="Rectangle 13"/>
          <p:cNvSpPr/>
          <p:nvPr/>
        </p:nvSpPr>
        <p:spPr>
          <a:xfrm>
            <a:off x="3447287" y="1920240"/>
            <a:ext cx="2606040" cy="2743200"/>
          </a:xfrm>
          <a:prstGeom prst="rect">
            <a:avLst/>
          </a:prstGeom>
          <a:solidFill>
            <a:srgbClr val="FFFFFF"/>
          </a:solidFill>
          <a:ln w="19050">
            <a:solidFill>
              <a:srgbClr val="EDE9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47287" y="1920240"/>
            <a:ext cx="91440" cy="2743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75887" y="2029968"/>
            <a:ext cx="502920"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75887" y="2029968"/>
            <a:ext cx="502920" cy="502920"/>
          </a:xfrm>
          <a:prstGeom prst="rect">
            <a:avLst/>
          </a:prstGeom>
          <a:noFill/>
        </p:spPr>
        <p:txBody>
          <a:bodyPr wrap="square" anchor="ctr">
            <a:spAutoFit/>
          </a:bodyPr>
          <a:lstStyle/>
          <a:p>
            <a:pPr algn="ctr"/>
            <a:r>
              <a:rPr sz="2000" b="1">
                <a:solidFill>
                  <a:srgbClr val="FFFFFF"/>
                </a:solidFill>
                <a:latin typeface="Meiryo UI"/>
              </a:rPr>
              <a:t>2</a:t>
            </a:r>
          </a:p>
        </p:txBody>
      </p:sp>
      <p:sp>
        <p:nvSpPr>
          <p:cNvPr id="18" name="TextBox 17"/>
          <p:cNvSpPr txBox="1"/>
          <p:nvPr/>
        </p:nvSpPr>
        <p:spPr>
          <a:xfrm>
            <a:off x="3675887" y="2633472"/>
            <a:ext cx="2194560" cy="548640"/>
          </a:xfrm>
          <a:prstGeom prst="rect">
            <a:avLst/>
          </a:prstGeom>
          <a:noFill/>
        </p:spPr>
        <p:txBody>
          <a:bodyPr wrap="square" anchor="t">
            <a:spAutoFit/>
          </a:bodyPr>
          <a:lstStyle/>
          <a:p>
            <a:pPr algn="l"/>
            <a:r>
              <a:rPr sz="1500" b="1">
                <a:solidFill>
                  <a:srgbClr val="1C2B27"/>
                </a:solidFill>
                <a:latin typeface="Meiryo UI"/>
              </a:rPr>
              <a:t>PDFを確認する</a:t>
            </a:r>
          </a:p>
        </p:txBody>
      </p:sp>
      <p:sp>
        <p:nvSpPr>
          <p:cNvPr id="19" name="TextBox 18"/>
          <p:cNvSpPr txBox="1"/>
          <p:nvPr/>
        </p:nvSpPr>
        <p:spPr>
          <a:xfrm>
            <a:off x="3675887" y="3227832"/>
            <a:ext cx="2194560" cy="1325880"/>
          </a:xfrm>
          <a:prstGeom prst="rect">
            <a:avLst/>
          </a:prstGeom>
          <a:noFill/>
        </p:spPr>
        <p:txBody>
          <a:bodyPr wrap="square" anchor="t">
            <a:spAutoFit/>
          </a:bodyPr>
          <a:lstStyle/>
          <a:p>
            <a:pPr algn="l"/>
            <a:r>
              <a:rPr sz="1200" b="0">
                <a:solidFill>
                  <a:srgbClr val="5B6E68"/>
                </a:solidFill>
                <a:latin typeface="Meiryo UI"/>
              </a:rPr>
              <a:t>全ページが画面に表示されます。最終ページの右下に赤い枠で署名位置が示されます。</a:t>
            </a:r>
          </a:p>
        </p:txBody>
      </p:sp>
      <p:sp>
        <p:nvSpPr>
          <p:cNvPr id="20" name="Rectangle 19"/>
          <p:cNvSpPr/>
          <p:nvPr/>
        </p:nvSpPr>
        <p:spPr>
          <a:xfrm>
            <a:off x="6254496" y="1920240"/>
            <a:ext cx="2606040" cy="2743200"/>
          </a:xfrm>
          <a:prstGeom prst="rect">
            <a:avLst/>
          </a:prstGeom>
          <a:solidFill>
            <a:srgbClr val="FFFFFF"/>
          </a:solidFill>
          <a:ln w="19050">
            <a:solidFill>
              <a:srgbClr val="EDE9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54496" y="1920240"/>
            <a:ext cx="91440" cy="2743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83096" y="2029968"/>
            <a:ext cx="502920"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83096" y="2029968"/>
            <a:ext cx="502920" cy="502920"/>
          </a:xfrm>
          <a:prstGeom prst="rect">
            <a:avLst/>
          </a:prstGeom>
          <a:noFill/>
        </p:spPr>
        <p:txBody>
          <a:bodyPr wrap="square" anchor="ctr">
            <a:spAutoFit/>
          </a:bodyPr>
          <a:lstStyle/>
          <a:p>
            <a:pPr algn="ctr"/>
            <a:r>
              <a:rPr sz="2000" b="1">
                <a:solidFill>
                  <a:srgbClr val="FFFFFF"/>
                </a:solidFill>
                <a:latin typeface="Meiryo UI"/>
              </a:rPr>
              <a:t>3</a:t>
            </a:r>
          </a:p>
        </p:txBody>
      </p:sp>
      <p:sp>
        <p:nvSpPr>
          <p:cNvPr id="24" name="TextBox 23"/>
          <p:cNvSpPr txBox="1"/>
          <p:nvPr/>
        </p:nvSpPr>
        <p:spPr>
          <a:xfrm>
            <a:off x="6483096" y="2633472"/>
            <a:ext cx="2194560" cy="548640"/>
          </a:xfrm>
          <a:prstGeom prst="rect">
            <a:avLst/>
          </a:prstGeom>
          <a:noFill/>
        </p:spPr>
        <p:txBody>
          <a:bodyPr wrap="square" anchor="t">
            <a:spAutoFit/>
          </a:bodyPr>
          <a:lstStyle/>
          <a:p>
            <a:pPr algn="l"/>
            <a:r>
              <a:rPr sz="1500" b="1">
                <a:solidFill>
                  <a:srgbClr val="1C2B27"/>
                </a:solidFill>
                <a:latin typeface="Meiryo UI"/>
              </a:rPr>
              <a:t>署名キャンバスに書く</a:t>
            </a:r>
          </a:p>
        </p:txBody>
      </p:sp>
      <p:sp>
        <p:nvSpPr>
          <p:cNvPr id="25" name="TextBox 24"/>
          <p:cNvSpPr txBox="1"/>
          <p:nvPr/>
        </p:nvSpPr>
        <p:spPr>
          <a:xfrm>
            <a:off x="6483096" y="3227832"/>
            <a:ext cx="2194560" cy="1325880"/>
          </a:xfrm>
          <a:prstGeom prst="rect">
            <a:avLst/>
          </a:prstGeom>
          <a:noFill/>
        </p:spPr>
        <p:txBody>
          <a:bodyPr wrap="square" anchor="t">
            <a:spAutoFit/>
          </a:bodyPr>
          <a:lstStyle/>
          <a:p>
            <a:pPr algn="l"/>
            <a:r>
              <a:rPr sz="1200" b="0">
                <a:solidFill>
                  <a:srgbClr val="5B6E68"/>
                </a:solidFill>
                <a:latin typeface="Meiryo UI"/>
              </a:rPr>
              <a:t>画面下部のキャンバスに指またはペンでサインします。「署名をクリア」でやり直しができます。</a:t>
            </a:r>
          </a:p>
        </p:txBody>
      </p:sp>
      <p:sp>
        <p:nvSpPr>
          <p:cNvPr id="26" name="Rectangle 25"/>
          <p:cNvSpPr/>
          <p:nvPr/>
        </p:nvSpPr>
        <p:spPr>
          <a:xfrm>
            <a:off x="9061704" y="1920240"/>
            <a:ext cx="2606040" cy="2743200"/>
          </a:xfrm>
          <a:prstGeom prst="rect">
            <a:avLst/>
          </a:prstGeom>
          <a:solidFill>
            <a:srgbClr val="FFFFFF"/>
          </a:solidFill>
          <a:ln w="19050">
            <a:solidFill>
              <a:srgbClr val="EDE9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61704" y="1920240"/>
            <a:ext cx="91440" cy="2743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90304" y="2029968"/>
            <a:ext cx="502920"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90304" y="2029968"/>
            <a:ext cx="502920" cy="502920"/>
          </a:xfrm>
          <a:prstGeom prst="rect">
            <a:avLst/>
          </a:prstGeom>
          <a:noFill/>
        </p:spPr>
        <p:txBody>
          <a:bodyPr wrap="square" anchor="ctr">
            <a:spAutoFit/>
          </a:bodyPr>
          <a:lstStyle/>
          <a:p>
            <a:pPr algn="ctr"/>
            <a:r>
              <a:rPr sz="2000" b="1">
                <a:solidFill>
                  <a:srgbClr val="FFFFFF"/>
                </a:solidFill>
                <a:latin typeface="Meiryo UI"/>
              </a:rPr>
              <a:t>4</a:t>
            </a:r>
          </a:p>
        </p:txBody>
      </p:sp>
      <p:sp>
        <p:nvSpPr>
          <p:cNvPr id="30" name="TextBox 29"/>
          <p:cNvSpPr txBox="1"/>
          <p:nvPr/>
        </p:nvSpPr>
        <p:spPr>
          <a:xfrm>
            <a:off x="9290304" y="2633472"/>
            <a:ext cx="2194560" cy="548640"/>
          </a:xfrm>
          <a:prstGeom prst="rect">
            <a:avLst/>
          </a:prstGeom>
          <a:noFill/>
        </p:spPr>
        <p:txBody>
          <a:bodyPr wrap="square" anchor="t">
            <a:spAutoFit/>
          </a:bodyPr>
          <a:lstStyle/>
          <a:p>
            <a:pPr algn="l"/>
            <a:r>
              <a:rPr sz="1500" b="1">
                <a:solidFill>
                  <a:srgbClr val="1C2B27"/>
                </a:solidFill>
                <a:latin typeface="Meiryo UI"/>
              </a:rPr>
              <a:t>「署名して保存」を押す</a:t>
            </a:r>
          </a:p>
        </p:txBody>
      </p:sp>
      <p:sp>
        <p:nvSpPr>
          <p:cNvPr id="31" name="TextBox 30"/>
          <p:cNvSpPr txBox="1"/>
          <p:nvPr/>
        </p:nvSpPr>
        <p:spPr>
          <a:xfrm>
            <a:off x="9290304" y="3227832"/>
            <a:ext cx="2194560" cy="1325880"/>
          </a:xfrm>
          <a:prstGeom prst="rect">
            <a:avLst/>
          </a:prstGeom>
          <a:noFill/>
        </p:spPr>
        <p:txBody>
          <a:bodyPr wrap="square" anchor="t">
            <a:spAutoFit/>
          </a:bodyPr>
          <a:lstStyle/>
          <a:p>
            <a:pPr algn="l"/>
            <a:r>
              <a:rPr sz="1200" b="0">
                <a:solidFill>
                  <a:srgbClr val="5B6E68"/>
                </a:solidFill>
                <a:latin typeface="Meiryo UI"/>
              </a:rPr>
              <a:t>保存完了すると「_署名済み.pdf」として一覧に追加されます。元の計画書のボタンも自動的に消えます。</a:t>
            </a:r>
          </a:p>
        </p:txBody>
      </p:sp>
      <p:sp>
        <p:nvSpPr>
          <p:cNvPr id="32" name="Rectangle 31"/>
          <p:cNvSpPr/>
          <p:nvPr/>
        </p:nvSpPr>
        <p:spPr>
          <a:xfrm>
            <a:off x="640080" y="4937760"/>
            <a:ext cx="10881360" cy="685800"/>
          </a:xfrm>
          <a:prstGeom prst="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 y="4937760"/>
            <a:ext cx="73152" cy="685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5047488"/>
            <a:ext cx="10515600" cy="502920"/>
          </a:xfrm>
          <a:prstGeom prst="rect">
            <a:avLst/>
          </a:prstGeom>
          <a:noFill/>
        </p:spPr>
        <p:txBody>
          <a:bodyPr wrap="square">
            <a:spAutoFit/>
          </a:bodyPr>
          <a:lstStyle/>
          <a:p>
            <a:pPr algn="l">
              <a:lnSpc>
                <a:spcPct val="125000"/>
              </a:lnSpc>
              <a:spcAft>
                <a:spcPts val="400"/>
              </a:spcAft>
            </a:pPr>
            <a:r>
              <a:rPr sz="1300" b="1">
                <a:solidFill>
                  <a:srgbClr val="7C3AED"/>
                </a:solidFill>
                <a:latin typeface="Meiryo UI"/>
              </a:rPr>
              <a:t>💡 タブレット・スマートフォンで使うと便利です</a:t>
            </a:r>
          </a:p>
          <a:p>
            <a:pPr algn="l">
              <a:lnSpc>
                <a:spcPct val="125000"/>
              </a:lnSpc>
              <a:spcAft>
                <a:spcPts val="400"/>
              </a:spcAft>
            </a:pPr>
            <a:r>
              <a:rPr sz="1300" b="0">
                <a:solidFill>
                  <a:srgbClr val="1C2B27"/>
                </a:solidFill>
                <a:latin typeface="Meiryo UI"/>
              </a:rPr>
              <a:t>利用者訪問時にタブレットを差し出してそのまま指でサインしてもらえます。書いた内容はPDFに自動で埋め込まれます。</a:t>
            </a:r>
          </a:p>
        </p:txBody>
      </p:sp>
      <p:sp>
        <p:nvSpPr>
          <p:cNvPr id="35" name="Rectangle 34"/>
          <p:cNvSpPr/>
          <p:nvPr/>
        </p:nvSpPr>
        <p:spPr>
          <a:xfrm>
            <a:off x="640080" y="5806440"/>
            <a:ext cx="10881360" cy="685800"/>
          </a:xfrm>
          <a:prstGeom prst="rect">
            <a:avLst/>
          </a:prstGeom>
          <a:solidFill>
            <a:srgbClr val="E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0080" y="5806440"/>
            <a:ext cx="73152" cy="6858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5916168"/>
            <a:ext cx="10515600" cy="502920"/>
          </a:xfrm>
          <a:prstGeom prst="rect">
            <a:avLst/>
          </a:prstGeom>
          <a:noFill/>
        </p:spPr>
        <p:txBody>
          <a:bodyPr wrap="square">
            <a:spAutoFit/>
          </a:bodyPr>
          <a:lstStyle/>
          <a:p>
            <a:pPr algn="l">
              <a:lnSpc>
                <a:spcPct val="125000"/>
              </a:lnSpc>
              <a:spcAft>
                <a:spcPts val="400"/>
              </a:spcAft>
            </a:pPr>
            <a:r>
              <a:rPr sz="1300" b="1">
                <a:solidFill>
                  <a:srgbClr val="0E8A78"/>
                </a:solidFill>
                <a:latin typeface="Meiryo UI"/>
              </a:rPr>
              <a:t>✍ サイン取得ボタンが表示されない場合</a:t>
            </a:r>
          </a:p>
          <a:p>
            <a:pPr algn="l">
              <a:lnSpc>
                <a:spcPct val="125000"/>
              </a:lnSpc>
              <a:spcAft>
                <a:spcPts val="400"/>
              </a:spcAft>
            </a:pPr>
            <a:r>
              <a:rPr sz="1300" b="0">
                <a:solidFill>
                  <a:srgbClr val="1C2B27"/>
                </a:solidFill>
                <a:latin typeface="Meiryo UI"/>
              </a:rPr>
              <a:t>「計画書」種別で、かつ署名済みファイルがまだ存在しない書類にのみ表示されます（他の種別・署名済みには表示されません）。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7C3AED"/>
                </a:solidFill>
                <a:latin typeface="Meiryo UI"/>
              </a:rPr>
              <a:t>AFTER SIGN</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3000" b="1">
                <a:solidFill>
                  <a:srgbClr val="1C2B27"/>
                </a:solidFill>
                <a:latin typeface="Meiryo UI"/>
              </a:rPr>
              <a:t>署名後の確認とやり直し</a:t>
            </a:r>
          </a:p>
        </p:txBody>
      </p:sp>
      <p:sp>
        <p:nvSpPr>
          <p:cNvPr id="6" name="Rectangle 5"/>
          <p:cNvSpPr/>
          <p:nvPr/>
        </p:nvSpPr>
        <p:spPr>
          <a:xfrm>
            <a:off x="640080" y="1481328"/>
            <a:ext cx="1280160" cy="54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書類管理タブ 操作マニュアル</a:t>
            </a:r>
          </a:p>
        </p:txBody>
      </p:sp>
      <p:sp>
        <p:nvSpPr>
          <p:cNvPr id="8" name="TextBox 7"/>
          <p:cNvSpPr txBox="1"/>
          <p:nvPr/>
        </p:nvSpPr>
        <p:spPr>
          <a:xfrm>
            <a:off x="640080" y="1828800"/>
            <a:ext cx="10881360" cy="411480"/>
          </a:xfrm>
          <a:prstGeom prst="rect">
            <a:avLst/>
          </a:prstGeom>
          <a:noFill/>
        </p:spPr>
        <p:txBody>
          <a:bodyPr wrap="square" anchor="t">
            <a:spAutoFit/>
          </a:bodyPr>
          <a:lstStyle/>
          <a:p>
            <a:pPr algn="l"/>
            <a:r>
              <a:rPr sz="1500" b="0">
                <a:solidFill>
                  <a:srgbClr val="5B6E68"/>
                </a:solidFill>
                <a:latin typeface="Meiryo UI"/>
              </a:rPr>
              <a:t>署名が完了すると、書類一覧がこのように変わります。</a:t>
            </a:r>
          </a:p>
        </p:txBody>
      </p:sp>
      <p:sp>
        <p:nvSpPr>
          <p:cNvPr id="9" name="Rectangle 8"/>
          <p:cNvSpPr/>
          <p:nvPr/>
        </p:nvSpPr>
        <p:spPr>
          <a:xfrm>
            <a:off x="640080" y="2331720"/>
            <a:ext cx="10881360" cy="621792"/>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2423160"/>
            <a:ext cx="438912" cy="438912"/>
          </a:xfrm>
          <a:prstGeom prst="rect">
            <a:avLst/>
          </a:prstGeom>
          <a:solidFill>
            <a:srgbClr val="FF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441448"/>
            <a:ext cx="402336" cy="402336"/>
          </a:xfrm>
          <a:prstGeom prst="rect">
            <a:avLst/>
          </a:prstGeom>
          <a:noFill/>
        </p:spPr>
        <p:txBody>
          <a:bodyPr wrap="square" anchor="ctr">
            <a:spAutoFit/>
          </a:bodyPr>
          <a:lstStyle/>
          <a:p>
            <a:pPr algn="l"/>
            <a:r>
              <a:rPr sz="1600" b="0">
                <a:solidFill>
                  <a:srgbClr val="1C2B27"/>
                </a:solidFill>
                <a:latin typeface="Meiryo UI"/>
              </a:rPr>
              <a:t>📄</a:t>
            </a:r>
          </a:p>
        </p:txBody>
      </p:sp>
      <p:sp>
        <p:nvSpPr>
          <p:cNvPr id="12" name="Rectangle 11"/>
          <p:cNvSpPr/>
          <p:nvPr/>
        </p:nvSpPr>
        <p:spPr>
          <a:xfrm>
            <a:off x="1316736" y="2459736"/>
            <a:ext cx="658368" cy="256032"/>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35024" y="2459736"/>
            <a:ext cx="621792" cy="256032"/>
          </a:xfrm>
          <a:prstGeom prst="rect">
            <a:avLst/>
          </a:prstGeom>
          <a:noFill/>
        </p:spPr>
        <p:txBody>
          <a:bodyPr wrap="square" anchor="ctr">
            <a:spAutoFit/>
          </a:bodyPr>
          <a:lstStyle/>
          <a:p>
            <a:pPr algn="l"/>
            <a:r>
              <a:rPr sz="1000" b="1">
                <a:solidFill>
                  <a:srgbClr val="1D4ED8"/>
                </a:solidFill>
                <a:latin typeface="Meiryo UI"/>
              </a:rPr>
              <a:t>計画書</a:t>
            </a:r>
          </a:p>
        </p:txBody>
      </p:sp>
      <p:sp>
        <p:nvSpPr>
          <p:cNvPr id="14" name="Rectangle 13"/>
          <p:cNvSpPr/>
          <p:nvPr/>
        </p:nvSpPr>
        <p:spPr>
          <a:xfrm>
            <a:off x="2011680" y="2459736"/>
            <a:ext cx="804672" cy="256032"/>
          </a:xfrm>
          <a:prstGeom prst="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29968" y="2459736"/>
            <a:ext cx="768096" cy="256032"/>
          </a:xfrm>
          <a:prstGeom prst="rect">
            <a:avLst/>
          </a:prstGeom>
          <a:noFill/>
        </p:spPr>
        <p:txBody>
          <a:bodyPr wrap="square" anchor="ctr">
            <a:spAutoFit/>
          </a:bodyPr>
          <a:lstStyle/>
          <a:p>
            <a:pPr algn="l"/>
            <a:r>
              <a:rPr sz="1000" b="1">
                <a:solidFill>
                  <a:srgbClr val="16A34A"/>
                </a:solidFill>
                <a:latin typeface="Meiryo UI"/>
              </a:rPr>
              <a:t>✓ 署名済み</a:t>
            </a:r>
          </a:p>
        </p:txBody>
      </p:sp>
      <p:sp>
        <p:nvSpPr>
          <p:cNvPr id="16" name="TextBox 15"/>
          <p:cNvSpPr txBox="1"/>
          <p:nvPr/>
        </p:nvSpPr>
        <p:spPr>
          <a:xfrm>
            <a:off x="1316736" y="2450591"/>
            <a:ext cx="5669280" cy="256032"/>
          </a:xfrm>
          <a:prstGeom prst="rect">
            <a:avLst/>
          </a:prstGeom>
          <a:noFill/>
        </p:spPr>
        <p:txBody>
          <a:bodyPr wrap="square" anchor="t">
            <a:spAutoFit/>
          </a:bodyPr>
          <a:lstStyle/>
          <a:p>
            <a:pPr algn="l"/>
            <a:r>
              <a:rPr sz="1200" b="1">
                <a:solidFill>
                  <a:srgbClr val="1C2B27"/>
                </a:solidFill>
                <a:latin typeface="Meiryo UI"/>
              </a:rPr>
              <a:t>福祉用具サービス計画書_2026-06_署名済み.pdf</a:t>
            </a:r>
          </a:p>
        </p:txBody>
      </p:sp>
      <p:sp>
        <p:nvSpPr>
          <p:cNvPr id="17" name="TextBox 16"/>
          <p:cNvSpPr txBox="1"/>
          <p:nvPr/>
        </p:nvSpPr>
        <p:spPr>
          <a:xfrm>
            <a:off x="1316736" y="2706624"/>
            <a:ext cx="5669280" cy="201168"/>
          </a:xfrm>
          <a:prstGeom prst="rect">
            <a:avLst/>
          </a:prstGeom>
          <a:noFill/>
        </p:spPr>
        <p:txBody>
          <a:bodyPr wrap="square" anchor="t">
            <a:spAutoFit/>
          </a:bodyPr>
          <a:lstStyle/>
          <a:p>
            <a:pPr algn="l"/>
            <a:r>
              <a:rPr sz="1000" b="0">
                <a:solidFill>
                  <a:srgbClr val="5B6E68"/>
                </a:solidFill>
                <a:latin typeface="Meiryo UI"/>
              </a:rPr>
              <a:t>2026-07-09  ／  185 KB</a:t>
            </a:r>
          </a:p>
        </p:txBody>
      </p:sp>
      <p:sp>
        <p:nvSpPr>
          <p:cNvPr id="18" name="Rectangle 17"/>
          <p:cNvSpPr/>
          <p:nvPr/>
        </p:nvSpPr>
        <p:spPr>
          <a:xfrm>
            <a:off x="8595360" y="2441448"/>
            <a:ext cx="713232" cy="402336"/>
          </a:xfrm>
          <a:prstGeom prst="rect">
            <a:avLst/>
          </a:prstGeom>
          <a:solidFill>
            <a:srgbClr val="EFF6FF"/>
          </a:solidFill>
          <a:ln w="635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31936" y="2441448"/>
            <a:ext cx="640080" cy="402336"/>
          </a:xfrm>
          <a:prstGeom prst="rect">
            <a:avLst/>
          </a:prstGeom>
          <a:noFill/>
        </p:spPr>
        <p:txBody>
          <a:bodyPr wrap="square" anchor="ctr">
            <a:spAutoFit/>
          </a:bodyPr>
          <a:lstStyle/>
          <a:p>
            <a:pPr algn="ctr"/>
            <a:r>
              <a:rPr sz="1000" b="1">
                <a:solidFill>
                  <a:srgbClr val="1D4ED8"/>
                </a:solidFill>
                <a:latin typeface="Meiryo UI"/>
              </a:rPr>
              <a:t>↗ 開く</a:t>
            </a:r>
          </a:p>
        </p:txBody>
      </p:sp>
      <p:sp>
        <p:nvSpPr>
          <p:cNvPr id="20" name="Rectangle 19"/>
          <p:cNvSpPr/>
          <p:nvPr/>
        </p:nvSpPr>
        <p:spPr>
          <a:xfrm>
            <a:off x="9418320" y="2441448"/>
            <a:ext cx="658368" cy="402336"/>
          </a:xfrm>
          <a:prstGeom prst="rect">
            <a:avLst/>
          </a:prstGeom>
          <a:solidFill>
            <a:srgbClr val="FEE2E2"/>
          </a:solidFill>
          <a:ln w="6350">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54896" y="2441448"/>
            <a:ext cx="585216" cy="402336"/>
          </a:xfrm>
          <a:prstGeom prst="rect">
            <a:avLst/>
          </a:prstGeom>
          <a:noFill/>
        </p:spPr>
        <p:txBody>
          <a:bodyPr wrap="square" anchor="ctr">
            <a:spAutoFit/>
          </a:bodyPr>
          <a:lstStyle/>
          <a:p>
            <a:pPr algn="ctr"/>
            <a:r>
              <a:rPr sz="1000" b="1">
                <a:solidFill>
                  <a:srgbClr val="DC2626"/>
                </a:solidFill>
                <a:latin typeface="Meiryo UI"/>
              </a:rPr>
              <a:t>🗑 削除</a:t>
            </a:r>
          </a:p>
        </p:txBody>
      </p:sp>
      <p:sp>
        <p:nvSpPr>
          <p:cNvPr id="22" name="Rectangle 21"/>
          <p:cNvSpPr/>
          <p:nvPr/>
        </p:nvSpPr>
        <p:spPr>
          <a:xfrm>
            <a:off x="640080" y="3044952"/>
            <a:ext cx="10881360" cy="621792"/>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9808" y="3136392"/>
            <a:ext cx="438912" cy="438912"/>
          </a:xfrm>
          <a:prstGeom prst="rect">
            <a:avLst/>
          </a:prstGeom>
          <a:solidFill>
            <a:srgbClr val="FF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3154680"/>
            <a:ext cx="402336" cy="402336"/>
          </a:xfrm>
          <a:prstGeom prst="rect">
            <a:avLst/>
          </a:prstGeom>
          <a:noFill/>
        </p:spPr>
        <p:txBody>
          <a:bodyPr wrap="square" anchor="ctr">
            <a:spAutoFit/>
          </a:bodyPr>
          <a:lstStyle/>
          <a:p>
            <a:pPr algn="l"/>
            <a:r>
              <a:rPr sz="1600" b="0">
                <a:solidFill>
                  <a:srgbClr val="1C2B27"/>
                </a:solidFill>
                <a:latin typeface="Meiryo UI"/>
              </a:rPr>
              <a:t>📄</a:t>
            </a:r>
          </a:p>
        </p:txBody>
      </p:sp>
      <p:sp>
        <p:nvSpPr>
          <p:cNvPr id="25" name="Rectangle 24"/>
          <p:cNvSpPr/>
          <p:nvPr/>
        </p:nvSpPr>
        <p:spPr>
          <a:xfrm>
            <a:off x="1316736" y="3172968"/>
            <a:ext cx="658368" cy="256032"/>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35024" y="3172968"/>
            <a:ext cx="621792" cy="256032"/>
          </a:xfrm>
          <a:prstGeom prst="rect">
            <a:avLst/>
          </a:prstGeom>
          <a:noFill/>
        </p:spPr>
        <p:txBody>
          <a:bodyPr wrap="square" anchor="ctr">
            <a:spAutoFit/>
          </a:bodyPr>
          <a:lstStyle/>
          <a:p>
            <a:pPr algn="l"/>
            <a:r>
              <a:rPr sz="1000" b="1">
                <a:solidFill>
                  <a:srgbClr val="1D4ED8"/>
                </a:solidFill>
                <a:latin typeface="Meiryo UI"/>
              </a:rPr>
              <a:t>計画書</a:t>
            </a:r>
          </a:p>
        </p:txBody>
      </p:sp>
      <p:sp>
        <p:nvSpPr>
          <p:cNvPr id="27" name="TextBox 26"/>
          <p:cNvSpPr txBox="1"/>
          <p:nvPr/>
        </p:nvSpPr>
        <p:spPr>
          <a:xfrm>
            <a:off x="1316736" y="3163824"/>
            <a:ext cx="5669280" cy="256032"/>
          </a:xfrm>
          <a:prstGeom prst="rect">
            <a:avLst/>
          </a:prstGeom>
          <a:noFill/>
        </p:spPr>
        <p:txBody>
          <a:bodyPr wrap="square" anchor="t">
            <a:spAutoFit/>
          </a:bodyPr>
          <a:lstStyle/>
          <a:p>
            <a:pPr algn="l"/>
            <a:r>
              <a:rPr sz="1200" b="1">
                <a:solidFill>
                  <a:srgbClr val="1C2B27"/>
                </a:solidFill>
                <a:latin typeface="Meiryo UI"/>
              </a:rPr>
              <a:t>福祉用具サービス計画書_2026-06.pdf</a:t>
            </a:r>
          </a:p>
        </p:txBody>
      </p:sp>
      <p:sp>
        <p:nvSpPr>
          <p:cNvPr id="28" name="TextBox 27"/>
          <p:cNvSpPr txBox="1"/>
          <p:nvPr/>
        </p:nvSpPr>
        <p:spPr>
          <a:xfrm>
            <a:off x="1316736" y="3419856"/>
            <a:ext cx="5669280" cy="201168"/>
          </a:xfrm>
          <a:prstGeom prst="rect">
            <a:avLst/>
          </a:prstGeom>
          <a:noFill/>
        </p:spPr>
        <p:txBody>
          <a:bodyPr wrap="square" anchor="t">
            <a:spAutoFit/>
          </a:bodyPr>
          <a:lstStyle/>
          <a:p>
            <a:pPr algn="l"/>
            <a:r>
              <a:rPr sz="1000" b="0">
                <a:solidFill>
                  <a:srgbClr val="5B6E68"/>
                </a:solidFill>
                <a:latin typeface="Meiryo UI"/>
              </a:rPr>
              <a:t>2026-07-01  ／  142 KB  ／  6月分</a:t>
            </a:r>
          </a:p>
        </p:txBody>
      </p:sp>
      <p:sp>
        <p:nvSpPr>
          <p:cNvPr id="29" name="Rectangle 28"/>
          <p:cNvSpPr/>
          <p:nvPr/>
        </p:nvSpPr>
        <p:spPr>
          <a:xfrm>
            <a:off x="8595360" y="3154680"/>
            <a:ext cx="713232" cy="402336"/>
          </a:xfrm>
          <a:prstGeom prst="rect">
            <a:avLst/>
          </a:prstGeom>
          <a:solidFill>
            <a:srgbClr val="EFF6FF"/>
          </a:solidFill>
          <a:ln w="635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31936" y="3154680"/>
            <a:ext cx="640080" cy="402336"/>
          </a:xfrm>
          <a:prstGeom prst="rect">
            <a:avLst/>
          </a:prstGeom>
          <a:noFill/>
        </p:spPr>
        <p:txBody>
          <a:bodyPr wrap="square" anchor="ctr">
            <a:spAutoFit/>
          </a:bodyPr>
          <a:lstStyle/>
          <a:p>
            <a:pPr algn="ctr"/>
            <a:r>
              <a:rPr sz="1000" b="1">
                <a:solidFill>
                  <a:srgbClr val="1D4ED8"/>
                </a:solidFill>
                <a:latin typeface="Meiryo UI"/>
              </a:rPr>
              <a:t>↗ 開く</a:t>
            </a:r>
          </a:p>
        </p:txBody>
      </p:sp>
      <p:sp>
        <p:nvSpPr>
          <p:cNvPr id="31" name="Rectangle 30"/>
          <p:cNvSpPr/>
          <p:nvPr/>
        </p:nvSpPr>
        <p:spPr>
          <a:xfrm>
            <a:off x="9418320" y="3154680"/>
            <a:ext cx="658368" cy="402336"/>
          </a:xfrm>
          <a:prstGeom prst="rect">
            <a:avLst/>
          </a:prstGeom>
          <a:solidFill>
            <a:srgbClr val="FEE2E2"/>
          </a:solidFill>
          <a:ln w="6350">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54896" y="3154680"/>
            <a:ext cx="585216" cy="402336"/>
          </a:xfrm>
          <a:prstGeom prst="rect">
            <a:avLst/>
          </a:prstGeom>
          <a:noFill/>
        </p:spPr>
        <p:txBody>
          <a:bodyPr wrap="square" anchor="ctr">
            <a:spAutoFit/>
          </a:bodyPr>
          <a:lstStyle/>
          <a:p>
            <a:pPr algn="ctr"/>
            <a:r>
              <a:rPr sz="1000" b="1">
                <a:solidFill>
                  <a:srgbClr val="DC2626"/>
                </a:solidFill>
                <a:latin typeface="Meiryo UI"/>
              </a:rPr>
              <a:t>🗑 削除</a:t>
            </a:r>
          </a:p>
        </p:txBody>
      </p:sp>
      <p:sp>
        <p:nvSpPr>
          <p:cNvPr id="33" name="TextBox 32"/>
          <p:cNvSpPr txBox="1"/>
          <p:nvPr/>
        </p:nvSpPr>
        <p:spPr>
          <a:xfrm>
            <a:off x="640080" y="3913632"/>
            <a:ext cx="10881360" cy="822960"/>
          </a:xfrm>
          <a:prstGeom prst="rect">
            <a:avLst/>
          </a:prstGeom>
          <a:noFill/>
        </p:spPr>
        <p:txBody>
          <a:bodyPr wrap="square">
            <a:spAutoFit/>
          </a:bodyPr>
          <a:lstStyle/>
          <a:p>
            <a:pPr algn="l">
              <a:lnSpc>
                <a:spcPct val="125000"/>
              </a:lnSpc>
              <a:spcAft>
                <a:spcPts val="400"/>
              </a:spcAft>
            </a:pPr>
            <a:r>
              <a:rPr sz="1400" b="0">
                <a:solidFill>
                  <a:srgbClr val="1C2B27"/>
                </a:solidFill>
                <a:latin typeface="Meiryo UI"/>
              </a:rPr>
              <a:t>① 「_署名済み.pdf」が一覧の先頭（最新順）に追加される。</a:t>
            </a:r>
          </a:p>
          <a:p>
            <a:pPr algn="l">
              <a:lnSpc>
                <a:spcPct val="125000"/>
              </a:lnSpc>
              <a:spcAft>
                <a:spcPts val="400"/>
              </a:spcAft>
            </a:pPr>
            <a:r>
              <a:rPr sz="1400" b="0">
                <a:solidFill>
                  <a:srgbClr val="1C2B27"/>
                </a:solidFill>
                <a:latin typeface="Meiryo UI"/>
              </a:rPr>
              <a:t>② 元の計画書（2行目）には「サイン取得」ボタンが表示されなくなる。</a:t>
            </a:r>
          </a:p>
          <a:p>
            <a:pPr algn="l">
              <a:lnSpc>
                <a:spcPct val="125000"/>
              </a:lnSpc>
              <a:spcAft>
                <a:spcPts val="400"/>
              </a:spcAft>
            </a:pPr>
            <a:r>
              <a:rPr sz="1400" b="0">
                <a:solidFill>
                  <a:srgbClr val="1C2B27"/>
                </a:solidFill>
                <a:latin typeface="Meiryo UI"/>
              </a:rPr>
              <a:t>③ 署名済みファイルには「✓ 署名済み」バッジが表示される。</a:t>
            </a:r>
          </a:p>
        </p:txBody>
      </p:sp>
      <p:sp>
        <p:nvSpPr>
          <p:cNvPr id="34" name="Rectangle 33"/>
          <p:cNvSpPr/>
          <p:nvPr/>
        </p:nvSpPr>
        <p:spPr>
          <a:xfrm>
            <a:off x="640080" y="4892040"/>
            <a:ext cx="10881360" cy="777240"/>
          </a:xfrm>
          <a:prstGeom prst="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 y="4892040"/>
            <a:ext cx="73152" cy="777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5001768"/>
            <a:ext cx="10515600" cy="594359"/>
          </a:xfrm>
          <a:prstGeom prst="rect">
            <a:avLst/>
          </a:prstGeom>
          <a:noFill/>
        </p:spPr>
        <p:txBody>
          <a:bodyPr wrap="square">
            <a:spAutoFit/>
          </a:bodyPr>
          <a:lstStyle/>
          <a:p>
            <a:pPr algn="l">
              <a:lnSpc>
                <a:spcPct val="125000"/>
              </a:lnSpc>
              <a:spcAft>
                <a:spcPts val="400"/>
              </a:spcAft>
            </a:pPr>
            <a:r>
              <a:rPr sz="1300" b="1">
                <a:solidFill>
                  <a:srgbClr val="7C3AED"/>
                </a:solidFill>
                <a:latin typeface="Meiryo UI"/>
              </a:rPr>
              <a:t>署名をやり直したい場合は</a:t>
            </a:r>
          </a:p>
          <a:p>
            <a:pPr algn="l">
              <a:lnSpc>
                <a:spcPct val="125000"/>
              </a:lnSpc>
              <a:spcAft>
                <a:spcPts val="400"/>
              </a:spcAft>
            </a:pPr>
            <a:r>
              <a:rPr sz="1300" b="0">
                <a:solidFill>
                  <a:srgbClr val="1C2B27"/>
                </a:solidFill>
                <a:latin typeface="Meiryo UI"/>
              </a:rPr>
              <a:t>署名済みファイルを削除してください。元の計画書に「サイン取得」ボタンが復活し、再度サインを取得できます。</a:t>
            </a:r>
          </a:p>
        </p:txBody>
      </p:sp>
      <p:sp>
        <p:nvSpPr>
          <p:cNvPr id="37" name="Rectangle 36"/>
          <p:cNvSpPr/>
          <p:nvPr/>
        </p:nvSpPr>
        <p:spPr>
          <a:xfrm>
            <a:off x="640080" y="5852160"/>
            <a:ext cx="10881360" cy="640080"/>
          </a:xfrm>
          <a:prstGeom prst="rect">
            <a:avLst/>
          </a:prstGeom>
          <a:solidFill>
            <a:srgbClr val="FBE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0080" y="5852160"/>
            <a:ext cx="73152" cy="640080"/>
          </a:xfrm>
          <a:prstGeom prst="rect">
            <a:avLst/>
          </a:prstGeom>
          <a:solidFill>
            <a:srgbClr val="E27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8680" y="5961888"/>
            <a:ext cx="10515600" cy="457199"/>
          </a:xfrm>
          <a:prstGeom prst="rect">
            <a:avLst/>
          </a:prstGeom>
          <a:noFill/>
        </p:spPr>
        <p:txBody>
          <a:bodyPr wrap="square">
            <a:spAutoFit/>
          </a:bodyPr>
          <a:lstStyle/>
          <a:p>
            <a:pPr algn="l">
              <a:lnSpc>
                <a:spcPct val="125000"/>
              </a:lnSpc>
              <a:spcAft>
                <a:spcPts val="400"/>
              </a:spcAft>
            </a:pPr>
            <a:r>
              <a:rPr sz="1300" b="1">
                <a:solidFill>
                  <a:srgbClr val="E2714A"/>
                </a:solidFill>
                <a:latin typeface="Meiryo UI"/>
              </a:rPr>
              <a:t>⚠ 元の計画書を誤って削除しても署名済みファイルは残ります</a:t>
            </a:r>
          </a:p>
          <a:p>
            <a:pPr algn="l">
              <a:lnSpc>
                <a:spcPct val="125000"/>
              </a:lnSpc>
              <a:spcAft>
                <a:spcPts val="400"/>
              </a:spcAft>
            </a:pPr>
            <a:r>
              <a:rPr sz="1300" b="0">
                <a:solidFill>
                  <a:srgbClr val="1C2B27"/>
                </a:solidFill>
                <a:latin typeface="Meiryo UI"/>
              </a:rPr>
              <a:t>両ファイルは独立して管理されています。必要な方だけ削除してください。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FAQ</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3000" b="1">
                <a:solidFill>
                  <a:srgbClr val="1C2B27"/>
                </a:solidFill>
                <a:latin typeface="Meiryo UI"/>
              </a:rPr>
              <a:t>よくある質問</a:t>
            </a:r>
          </a:p>
        </p:txBody>
      </p:sp>
      <p:sp>
        <p:nvSpPr>
          <p:cNvPr id="6" name="Rectangle 5"/>
          <p:cNvSpPr/>
          <p:nvPr/>
        </p:nvSpPr>
        <p:spPr>
          <a:xfrm>
            <a:off x="640080" y="1481328"/>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書類管理タブ 操作マニュアル</a:t>
            </a:r>
          </a:p>
        </p:txBody>
      </p:sp>
      <p:sp>
        <p:nvSpPr>
          <p:cNvPr id="8" name="Rectangle 7"/>
          <p:cNvSpPr/>
          <p:nvPr/>
        </p:nvSpPr>
        <p:spPr>
          <a:xfrm>
            <a:off x="640080" y="1828800"/>
            <a:ext cx="10881360" cy="868680"/>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28800"/>
            <a:ext cx="54864" cy="86868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920240"/>
            <a:ext cx="457200" cy="685800"/>
          </a:xfrm>
          <a:prstGeom prst="rect">
            <a:avLst/>
          </a:prstGeom>
          <a:noFill/>
        </p:spPr>
        <p:txBody>
          <a:bodyPr wrap="square" anchor="t">
            <a:spAutoFit/>
          </a:bodyPr>
          <a:lstStyle/>
          <a:p>
            <a:pPr algn="l"/>
            <a:r>
              <a:rPr sz="1500" b="1">
                <a:solidFill>
                  <a:srgbClr val="0E8A78"/>
                </a:solidFill>
                <a:latin typeface="Meiryo UI"/>
              </a:rPr>
              <a:t>Q</a:t>
            </a:r>
          </a:p>
        </p:txBody>
      </p:sp>
      <p:sp>
        <p:nvSpPr>
          <p:cNvPr id="11" name="TextBox 10"/>
          <p:cNvSpPr txBox="1"/>
          <p:nvPr/>
        </p:nvSpPr>
        <p:spPr>
          <a:xfrm>
            <a:off x="1188720" y="1874519"/>
            <a:ext cx="9966960" cy="347472"/>
          </a:xfrm>
          <a:prstGeom prst="rect">
            <a:avLst/>
          </a:prstGeom>
          <a:noFill/>
        </p:spPr>
        <p:txBody>
          <a:bodyPr wrap="square" anchor="t">
            <a:spAutoFit/>
          </a:bodyPr>
          <a:lstStyle/>
          <a:p>
            <a:pPr algn="l"/>
            <a:r>
              <a:rPr sz="1400" b="1">
                <a:solidFill>
                  <a:srgbClr val="1C2B27"/>
                </a:solidFill>
                <a:latin typeface="Meiryo UI"/>
              </a:rPr>
              <a:t>PDFしかアップロードできないのはなぜ？</a:t>
            </a:r>
          </a:p>
        </p:txBody>
      </p:sp>
      <p:sp>
        <p:nvSpPr>
          <p:cNvPr id="12" name="TextBox 11"/>
          <p:cNvSpPr txBox="1"/>
          <p:nvPr/>
        </p:nvSpPr>
        <p:spPr>
          <a:xfrm>
            <a:off x="1188720" y="2231136"/>
            <a:ext cx="9966960" cy="402336"/>
          </a:xfrm>
          <a:prstGeom prst="rect">
            <a:avLst/>
          </a:prstGeom>
          <a:noFill/>
        </p:spPr>
        <p:txBody>
          <a:bodyPr wrap="square" anchor="t">
            <a:spAutoFit/>
          </a:bodyPr>
          <a:lstStyle/>
          <a:p>
            <a:pPr algn="l"/>
            <a:r>
              <a:rPr sz="1200" b="0">
                <a:solidFill>
                  <a:srgbClr val="5B6E68"/>
                </a:solidFill>
                <a:latin typeface="Meiryo UI"/>
              </a:rPr>
              <a:t>閲覧・印刷での再現性を保つためです。Word・ExcelはPDFとして保存してからご利用ください。</a:t>
            </a:r>
          </a:p>
        </p:txBody>
      </p:sp>
      <p:sp>
        <p:nvSpPr>
          <p:cNvPr id="13" name="Rectangle 12"/>
          <p:cNvSpPr/>
          <p:nvPr/>
        </p:nvSpPr>
        <p:spPr>
          <a:xfrm>
            <a:off x="640080" y="2770632"/>
            <a:ext cx="10881360" cy="868680"/>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2770632"/>
            <a:ext cx="54864" cy="86868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862072"/>
            <a:ext cx="457200" cy="685800"/>
          </a:xfrm>
          <a:prstGeom prst="rect">
            <a:avLst/>
          </a:prstGeom>
          <a:noFill/>
        </p:spPr>
        <p:txBody>
          <a:bodyPr wrap="square" anchor="t">
            <a:spAutoFit/>
          </a:bodyPr>
          <a:lstStyle/>
          <a:p>
            <a:pPr algn="l"/>
            <a:r>
              <a:rPr sz="1500" b="1">
                <a:solidFill>
                  <a:srgbClr val="0E8A78"/>
                </a:solidFill>
                <a:latin typeface="Meiryo UI"/>
              </a:rPr>
              <a:t>Q</a:t>
            </a:r>
          </a:p>
        </p:txBody>
      </p:sp>
      <p:sp>
        <p:nvSpPr>
          <p:cNvPr id="16" name="TextBox 15"/>
          <p:cNvSpPr txBox="1"/>
          <p:nvPr/>
        </p:nvSpPr>
        <p:spPr>
          <a:xfrm>
            <a:off x="1188720" y="2816352"/>
            <a:ext cx="9966960" cy="347472"/>
          </a:xfrm>
          <a:prstGeom prst="rect">
            <a:avLst/>
          </a:prstGeom>
          <a:noFill/>
        </p:spPr>
        <p:txBody>
          <a:bodyPr wrap="square" anchor="t">
            <a:spAutoFit/>
          </a:bodyPr>
          <a:lstStyle/>
          <a:p>
            <a:pPr algn="l"/>
            <a:r>
              <a:rPr sz="1400" b="1">
                <a:solidFill>
                  <a:srgbClr val="1C2B27"/>
                </a:solidFill>
                <a:latin typeface="Meiryo UI"/>
              </a:rPr>
              <a:t>「サイン取得」ボタンが表示されません</a:t>
            </a:r>
          </a:p>
        </p:txBody>
      </p:sp>
      <p:sp>
        <p:nvSpPr>
          <p:cNvPr id="17" name="TextBox 16"/>
          <p:cNvSpPr txBox="1"/>
          <p:nvPr/>
        </p:nvSpPr>
        <p:spPr>
          <a:xfrm>
            <a:off x="1188720" y="3172968"/>
            <a:ext cx="9966960" cy="402336"/>
          </a:xfrm>
          <a:prstGeom prst="rect">
            <a:avLst/>
          </a:prstGeom>
          <a:noFill/>
        </p:spPr>
        <p:txBody>
          <a:bodyPr wrap="square" anchor="t">
            <a:spAutoFit/>
          </a:bodyPr>
          <a:lstStyle/>
          <a:p>
            <a:pPr algn="l"/>
            <a:r>
              <a:rPr sz="1200" b="0">
                <a:solidFill>
                  <a:srgbClr val="5B6E68"/>
                </a:solidFill>
                <a:latin typeface="Meiryo UI"/>
              </a:rPr>
              <a:t>書類の種類が「計画書」で、かつ署名済みファイルがまだ存在しない場合にのみ表示されます。</a:t>
            </a:r>
          </a:p>
        </p:txBody>
      </p:sp>
      <p:sp>
        <p:nvSpPr>
          <p:cNvPr id="18" name="Rectangle 17"/>
          <p:cNvSpPr/>
          <p:nvPr/>
        </p:nvSpPr>
        <p:spPr>
          <a:xfrm>
            <a:off x="640080" y="3712464"/>
            <a:ext cx="10881360" cy="868680"/>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712464"/>
            <a:ext cx="54864" cy="86868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803904"/>
            <a:ext cx="457200" cy="685800"/>
          </a:xfrm>
          <a:prstGeom prst="rect">
            <a:avLst/>
          </a:prstGeom>
          <a:noFill/>
        </p:spPr>
        <p:txBody>
          <a:bodyPr wrap="square" anchor="t">
            <a:spAutoFit/>
          </a:bodyPr>
          <a:lstStyle/>
          <a:p>
            <a:pPr algn="l"/>
            <a:r>
              <a:rPr sz="1500" b="1">
                <a:solidFill>
                  <a:srgbClr val="0E8A78"/>
                </a:solidFill>
                <a:latin typeface="Meiryo UI"/>
              </a:rPr>
              <a:t>Q</a:t>
            </a:r>
          </a:p>
        </p:txBody>
      </p:sp>
      <p:sp>
        <p:nvSpPr>
          <p:cNvPr id="21" name="TextBox 20"/>
          <p:cNvSpPr txBox="1"/>
          <p:nvPr/>
        </p:nvSpPr>
        <p:spPr>
          <a:xfrm>
            <a:off x="1188720" y="3758184"/>
            <a:ext cx="9966960" cy="347472"/>
          </a:xfrm>
          <a:prstGeom prst="rect">
            <a:avLst/>
          </a:prstGeom>
          <a:noFill/>
        </p:spPr>
        <p:txBody>
          <a:bodyPr wrap="square" anchor="t">
            <a:spAutoFit/>
          </a:bodyPr>
          <a:lstStyle/>
          <a:p>
            <a:pPr algn="l"/>
            <a:r>
              <a:rPr sz="1400" b="1">
                <a:solidFill>
                  <a:srgbClr val="1C2B27"/>
                </a:solidFill>
                <a:latin typeface="Meiryo UI"/>
              </a:rPr>
              <a:t>書類は何件でも保存できますか？</a:t>
            </a:r>
          </a:p>
        </p:txBody>
      </p:sp>
      <p:sp>
        <p:nvSpPr>
          <p:cNvPr id="22" name="TextBox 21"/>
          <p:cNvSpPr txBox="1"/>
          <p:nvPr/>
        </p:nvSpPr>
        <p:spPr>
          <a:xfrm>
            <a:off x="1188720" y="4114800"/>
            <a:ext cx="9966960" cy="402336"/>
          </a:xfrm>
          <a:prstGeom prst="rect">
            <a:avLst/>
          </a:prstGeom>
          <a:noFill/>
        </p:spPr>
        <p:txBody>
          <a:bodyPr wrap="square" anchor="t">
            <a:spAutoFit/>
          </a:bodyPr>
          <a:lstStyle/>
          <a:p>
            <a:pPr algn="l"/>
            <a:r>
              <a:rPr sz="1200" b="0">
                <a:solidFill>
                  <a:srgbClr val="5B6E68"/>
                </a:solidFill>
                <a:latin typeface="Meiryo UI"/>
              </a:rPr>
              <a:t>件数の上限はありませんが、1ファイル20MB以内です。古い書類は適宜削除してください。</a:t>
            </a:r>
          </a:p>
        </p:txBody>
      </p:sp>
      <p:sp>
        <p:nvSpPr>
          <p:cNvPr id="23" name="Rectangle 22"/>
          <p:cNvSpPr/>
          <p:nvPr/>
        </p:nvSpPr>
        <p:spPr>
          <a:xfrm>
            <a:off x="640080" y="4654296"/>
            <a:ext cx="10881360" cy="868680"/>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4654296"/>
            <a:ext cx="54864" cy="86868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745736"/>
            <a:ext cx="457200" cy="685800"/>
          </a:xfrm>
          <a:prstGeom prst="rect">
            <a:avLst/>
          </a:prstGeom>
          <a:noFill/>
        </p:spPr>
        <p:txBody>
          <a:bodyPr wrap="square" anchor="t">
            <a:spAutoFit/>
          </a:bodyPr>
          <a:lstStyle/>
          <a:p>
            <a:pPr algn="l"/>
            <a:r>
              <a:rPr sz="1500" b="1">
                <a:solidFill>
                  <a:srgbClr val="0E8A78"/>
                </a:solidFill>
                <a:latin typeface="Meiryo UI"/>
              </a:rPr>
              <a:t>Q</a:t>
            </a:r>
          </a:p>
        </p:txBody>
      </p:sp>
      <p:sp>
        <p:nvSpPr>
          <p:cNvPr id="26" name="TextBox 25"/>
          <p:cNvSpPr txBox="1"/>
          <p:nvPr/>
        </p:nvSpPr>
        <p:spPr>
          <a:xfrm>
            <a:off x="1188720" y="4700016"/>
            <a:ext cx="9966960" cy="347472"/>
          </a:xfrm>
          <a:prstGeom prst="rect">
            <a:avLst/>
          </a:prstGeom>
          <a:noFill/>
        </p:spPr>
        <p:txBody>
          <a:bodyPr wrap="square" anchor="t">
            <a:spAutoFit/>
          </a:bodyPr>
          <a:lstStyle/>
          <a:p>
            <a:pPr algn="l"/>
            <a:r>
              <a:rPr sz="1400" b="1">
                <a:solidFill>
                  <a:srgbClr val="1C2B27"/>
                </a:solidFill>
                <a:latin typeface="Meiryo UI"/>
              </a:rPr>
              <a:t>他の担当者がアップロードした書類は見られますか？</a:t>
            </a:r>
          </a:p>
        </p:txBody>
      </p:sp>
      <p:sp>
        <p:nvSpPr>
          <p:cNvPr id="27" name="TextBox 26"/>
          <p:cNvSpPr txBox="1"/>
          <p:nvPr/>
        </p:nvSpPr>
        <p:spPr>
          <a:xfrm>
            <a:off x="1188720" y="5056632"/>
            <a:ext cx="9966960" cy="402336"/>
          </a:xfrm>
          <a:prstGeom prst="rect">
            <a:avLst/>
          </a:prstGeom>
          <a:noFill/>
        </p:spPr>
        <p:txBody>
          <a:bodyPr wrap="square" anchor="t">
            <a:spAutoFit/>
          </a:bodyPr>
          <a:lstStyle/>
          <a:p>
            <a:pPr algn="l"/>
            <a:r>
              <a:rPr sz="1200" b="0">
                <a:solidFill>
                  <a:srgbClr val="5B6E68"/>
                </a:solidFill>
                <a:latin typeface="Meiryo UI"/>
              </a:rPr>
              <a:t>はい。書類はクラウドに保存されており、ログイン済みのすべてのスタッフが確認できます。</a:t>
            </a:r>
          </a:p>
        </p:txBody>
      </p:sp>
      <p:sp>
        <p:nvSpPr>
          <p:cNvPr id="28" name="Rectangle 27"/>
          <p:cNvSpPr/>
          <p:nvPr/>
        </p:nvSpPr>
        <p:spPr>
          <a:xfrm>
            <a:off x="640080" y="5596128"/>
            <a:ext cx="10881360" cy="868680"/>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 y="5596128"/>
            <a:ext cx="54864" cy="86868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687568"/>
            <a:ext cx="457200" cy="685800"/>
          </a:xfrm>
          <a:prstGeom prst="rect">
            <a:avLst/>
          </a:prstGeom>
          <a:noFill/>
        </p:spPr>
        <p:txBody>
          <a:bodyPr wrap="square" anchor="t">
            <a:spAutoFit/>
          </a:bodyPr>
          <a:lstStyle/>
          <a:p>
            <a:pPr algn="l"/>
            <a:r>
              <a:rPr sz="1500" b="1">
                <a:solidFill>
                  <a:srgbClr val="0E8A78"/>
                </a:solidFill>
                <a:latin typeface="Meiryo UI"/>
              </a:rPr>
              <a:t>Q</a:t>
            </a:r>
          </a:p>
        </p:txBody>
      </p:sp>
      <p:sp>
        <p:nvSpPr>
          <p:cNvPr id="31" name="TextBox 30"/>
          <p:cNvSpPr txBox="1"/>
          <p:nvPr/>
        </p:nvSpPr>
        <p:spPr>
          <a:xfrm>
            <a:off x="1188720" y="5641848"/>
            <a:ext cx="9966960" cy="347472"/>
          </a:xfrm>
          <a:prstGeom prst="rect">
            <a:avLst/>
          </a:prstGeom>
          <a:noFill/>
        </p:spPr>
        <p:txBody>
          <a:bodyPr wrap="square" anchor="t">
            <a:spAutoFit/>
          </a:bodyPr>
          <a:lstStyle/>
          <a:p>
            <a:pPr algn="l"/>
            <a:r>
              <a:rPr sz="1400" b="1">
                <a:solidFill>
                  <a:srgbClr val="1C2B27"/>
                </a:solidFill>
                <a:latin typeface="Meiryo UI"/>
              </a:rPr>
              <a:t>書類を誤って削除してしまいました</a:t>
            </a:r>
          </a:p>
        </p:txBody>
      </p:sp>
      <p:sp>
        <p:nvSpPr>
          <p:cNvPr id="32" name="TextBox 31"/>
          <p:cNvSpPr txBox="1"/>
          <p:nvPr/>
        </p:nvSpPr>
        <p:spPr>
          <a:xfrm>
            <a:off x="1188720" y="5998464"/>
            <a:ext cx="9966960" cy="402336"/>
          </a:xfrm>
          <a:prstGeom prst="rect">
            <a:avLst/>
          </a:prstGeom>
          <a:noFill/>
        </p:spPr>
        <p:txBody>
          <a:bodyPr wrap="square" anchor="t">
            <a:spAutoFit/>
          </a:bodyPr>
          <a:lstStyle/>
          <a:p>
            <a:pPr algn="l"/>
            <a:r>
              <a:rPr sz="1200" b="0">
                <a:solidFill>
                  <a:srgbClr val="5B6E68"/>
                </a:solidFill>
                <a:latin typeface="Meiryo UI"/>
              </a:rPr>
              <a:t>元のPDFファイルを再アップロードしてください。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