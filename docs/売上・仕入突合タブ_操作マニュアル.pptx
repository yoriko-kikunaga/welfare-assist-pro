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A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1168"/>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10058400" cy="457200"/>
          </a:xfrm>
          <a:prstGeom prst="rect">
            <a:avLst/>
          </a:prstGeom>
          <a:noFill/>
        </p:spPr>
        <p:txBody>
          <a:bodyPr wrap="square" anchor="t">
            <a:spAutoFit/>
          </a:bodyPr>
          <a:lstStyle/>
          <a:p>
            <a:pPr algn="l"/>
            <a:r>
              <a:rPr sz="1600" b="1">
                <a:solidFill>
                  <a:srgbClr val="0E8A78"/>
                </a:solidFill>
                <a:latin typeface="Meiryo UI"/>
              </a:rPr>
              <a:t>福祉用具マネージャー　操作マニュアル</a:t>
            </a:r>
          </a:p>
        </p:txBody>
      </p:sp>
      <p:sp>
        <p:nvSpPr>
          <p:cNvPr id="5" name="TextBox 4"/>
          <p:cNvSpPr txBox="1"/>
          <p:nvPr/>
        </p:nvSpPr>
        <p:spPr>
          <a:xfrm>
            <a:off x="914400" y="2240280"/>
            <a:ext cx="10332720" cy="1188720"/>
          </a:xfrm>
          <a:prstGeom prst="rect">
            <a:avLst/>
          </a:prstGeom>
          <a:noFill/>
        </p:spPr>
        <p:txBody>
          <a:bodyPr wrap="square" anchor="t">
            <a:spAutoFit/>
          </a:bodyPr>
          <a:lstStyle/>
          <a:p>
            <a:pPr algn="l"/>
            <a:r>
              <a:rPr sz="4200" b="1">
                <a:solidFill>
                  <a:srgbClr val="1C2B27"/>
                </a:solidFill>
                <a:latin typeface="Meiryo UI"/>
              </a:rPr>
              <a:t>「売上・仕入突合」タブの使い方</a:t>
            </a:r>
          </a:p>
        </p:txBody>
      </p:sp>
      <p:sp>
        <p:nvSpPr>
          <p:cNvPr id="6" name="Rectangle 5"/>
          <p:cNvSpPr/>
          <p:nvPr/>
        </p:nvSpPr>
        <p:spPr>
          <a:xfrm>
            <a:off x="960120" y="3429000"/>
            <a:ext cx="2011680" cy="73152"/>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703320"/>
            <a:ext cx="10058400" cy="1645920"/>
          </a:xfrm>
          <a:prstGeom prst="rect">
            <a:avLst/>
          </a:prstGeom>
          <a:noFill/>
        </p:spPr>
        <p:txBody>
          <a:bodyPr wrap="square">
            <a:spAutoFit/>
          </a:bodyPr>
          <a:lstStyle/>
          <a:p>
            <a:pPr algn="l">
              <a:lnSpc>
                <a:spcPct val="125000"/>
              </a:lnSpc>
              <a:spcAft>
                <a:spcPts val="400"/>
              </a:spcAft>
            </a:pPr>
            <a:r>
              <a:rPr sz="1600" b="0">
                <a:solidFill>
                  <a:srgbClr val="5B6E68"/>
                </a:solidFill>
                <a:latin typeface="Meiryo UI"/>
              </a:rPr>
              <a:t>卸会社からの請求書（仕入）と社内の売上データを、</a:t>
            </a:r>
          </a:p>
          <a:p>
            <a:pPr algn="l">
              <a:lnSpc>
                <a:spcPct val="125000"/>
              </a:lnSpc>
              <a:spcAft>
                <a:spcPts val="400"/>
              </a:spcAft>
            </a:pPr>
            <a:r>
              <a:rPr sz="1600" b="0">
                <a:solidFill>
                  <a:srgbClr val="5B6E68"/>
                </a:solidFill>
                <a:latin typeface="Meiryo UI"/>
              </a:rPr>
              <a:t>利用者・品目単位で照合し粗利を確認する画面です。</a:t>
            </a:r>
          </a:p>
          <a:p>
            <a:pPr algn="l">
              <a:lnSpc>
                <a:spcPct val="125000"/>
              </a:lnSpc>
              <a:spcAft>
                <a:spcPts val="400"/>
              </a:spcAft>
            </a:pPr>
            <a:r>
              <a:rPr sz="1600" b="0">
                <a:solidFill>
                  <a:srgbClr val="5B6E68"/>
                </a:solidFill>
                <a:latin typeface="Meiryo UI"/>
              </a:rPr>
              <a:t>7社の請求書アップロード、AIによる自動読み取り、</a:t>
            </a:r>
          </a:p>
          <a:p>
            <a:pPr algn="l">
              <a:lnSpc>
                <a:spcPct val="125000"/>
              </a:lnSpc>
              <a:spcAft>
                <a:spcPts val="400"/>
              </a:spcAft>
            </a:pPr>
            <a:r>
              <a:rPr sz="1600" b="0">
                <a:solidFill>
                  <a:srgbClr val="5B6E68"/>
                </a:solidFill>
                <a:latin typeface="Meiryo UI"/>
              </a:rPr>
              <a:t>利用者ごとの品目突合まで一通り行えます。</a:t>
            </a:r>
          </a:p>
        </p:txBody>
      </p:sp>
      <p:sp>
        <p:nvSpPr>
          <p:cNvPr id="8" name="TextBox 7"/>
          <p:cNvSpPr txBox="1"/>
          <p:nvPr/>
        </p:nvSpPr>
        <p:spPr>
          <a:xfrm>
            <a:off x="960120" y="5943600"/>
            <a:ext cx="10515600" cy="457200"/>
          </a:xfrm>
          <a:prstGeom prst="rect">
            <a:avLst/>
          </a:prstGeom>
          <a:noFill/>
        </p:spPr>
        <p:txBody>
          <a:bodyPr wrap="square" anchor="t">
            <a:spAutoFit/>
          </a:bodyPr>
          <a:lstStyle/>
          <a:p>
            <a:pPr algn="l"/>
            <a:r>
              <a:rPr sz="1300" b="1">
                <a:solidFill>
                  <a:srgbClr val="0E8A78"/>
                </a:solidFill>
                <a:latin typeface="Meiryo UI"/>
              </a:rPr>
              <a:t>対象：福祉用具専門相談員のみなさま　／　場所：左サイドバー「売上・仕入突合」（青緑ボタン）</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OVERVIEW</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このタブでできること</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691640"/>
            <a:ext cx="10881360" cy="365760"/>
          </a:xfrm>
          <a:prstGeom prst="rect">
            <a:avLst/>
          </a:prstGeom>
          <a:noFill/>
        </p:spPr>
        <p:txBody>
          <a:bodyPr wrap="square" anchor="t">
            <a:spAutoFit/>
          </a:bodyPr>
          <a:lstStyle/>
          <a:p>
            <a:pPr algn="l"/>
            <a:r>
              <a:rPr sz="1400" b="0">
                <a:solidFill>
                  <a:srgbClr val="5B6E68"/>
                </a:solidFill>
                <a:latin typeface="Meiryo UI"/>
              </a:rPr>
              <a:t>流れは「アップロード → 突合 → 確定」の3ステップです。</a:t>
            </a:r>
          </a:p>
        </p:txBody>
      </p:sp>
      <p:sp>
        <p:nvSpPr>
          <p:cNvPr id="9" name="Rectangle 8"/>
          <p:cNvSpPr/>
          <p:nvPr/>
        </p:nvSpPr>
        <p:spPr>
          <a:xfrm>
            <a:off x="640080" y="2194560"/>
            <a:ext cx="3456432" cy="237744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286000"/>
            <a:ext cx="914400" cy="685800"/>
          </a:xfrm>
          <a:prstGeom prst="rect">
            <a:avLst/>
          </a:prstGeom>
          <a:noFill/>
        </p:spPr>
        <p:txBody>
          <a:bodyPr wrap="square" anchor="t">
            <a:spAutoFit/>
          </a:bodyPr>
          <a:lstStyle/>
          <a:p>
            <a:pPr algn="l"/>
            <a:r>
              <a:rPr sz="3200" b="1">
                <a:solidFill>
                  <a:srgbClr val="0E8A78"/>
                </a:solidFill>
                <a:latin typeface="Meiryo UI"/>
              </a:rPr>
              <a:t>1</a:t>
            </a:r>
          </a:p>
        </p:txBody>
      </p:sp>
      <p:sp>
        <p:nvSpPr>
          <p:cNvPr id="11" name="TextBox 10"/>
          <p:cNvSpPr txBox="1"/>
          <p:nvPr/>
        </p:nvSpPr>
        <p:spPr>
          <a:xfrm>
            <a:off x="822959" y="2971800"/>
            <a:ext cx="3090672" cy="502920"/>
          </a:xfrm>
          <a:prstGeom prst="rect">
            <a:avLst/>
          </a:prstGeom>
          <a:noFill/>
        </p:spPr>
        <p:txBody>
          <a:bodyPr wrap="square" anchor="t">
            <a:spAutoFit/>
          </a:bodyPr>
          <a:lstStyle/>
          <a:p>
            <a:pPr algn="l"/>
            <a:r>
              <a:rPr sz="1350" b="1">
                <a:solidFill>
                  <a:srgbClr val="1C2B27"/>
                </a:solidFill>
                <a:latin typeface="Meiryo UI"/>
              </a:rPr>
              <a:t>請求書をアップロード</a:t>
            </a:r>
          </a:p>
        </p:txBody>
      </p:sp>
      <p:sp>
        <p:nvSpPr>
          <p:cNvPr id="12" name="TextBox 11"/>
          <p:cNvSpPr txBox="1"/>
          <p:nvPr/>
        </p:nvSpPr>
        <p:spPr>
          <a:xfrm>
            <a:off x="822959" y="3429000"/>
            <a:ext cx="3090672" cy="1051560"/>
          </a:xfrm>
          <a:prstGeom prst="rect">
            <a:avLst/>
          </a:prstGeom>
          <a:noFill/>
        </p:spPr>
        <p:txBody>
          <a:bodyPr wrap="square" anchor="t">
            <a:spAutoFit/>
          </a:bodyPr>
          <a:lstStyle/>
          <a:p>
            <a:pPr algn="l"/>
            <a:r>
              <a:rPr sz="1100" b="0">
                <a:solidFill>
                  <a:srgbClr val="5B6E68"/>
                </a:solidFill>
                <a:latin typeface="Meiryo UI"/>
              </a:rPr>
              <a:t>卸会社ごとにPDFまたはCSVをアップロード。PDFはAIが自動でテキストを読み取ります。</a:t>
            </a:r>
          </a:p>
        </p:txBody>
      </p:sp>
      <p:sp>
        <p:nvSpPr>
          <p:cNvPr id="13" name="Rectangle 12"/>
          <p:cNvSpPr/>
          <p:nvPr/>
        </p:nvSpPr>
        <p:spPr>
          <a:xfrm>
            <a:off x="4352544" y="2194560"/>
            <a:ext cx="3456432" cy="237744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286000"/>
            <a:ext cx="914400" cy="685800"/>
          </a:xfrm>
          <a:prstGeom prst="rect">
            <a:avLst/>
          </a:prstGeom>
          <a:noFill/>
        </p:spPr>
        <p:txBody>
          <a:bodyPr wrap="square" anchor="t">
            <a:spAutoFit/>
          </a:bodyPr>
          <a:lstStyle/>
          <a:p>
            <a:pPr algn="l"/>
            <a:r>
              <a:rPr sz="3200" b="1">
                <a:solidFill>
                  <a:srgbClr val="0E8A78"/>
                </a:solidFill>
                <a:latin typeface="Meiryo UI"/>
              </a:rPr>
              <a:t>2</a:t>
            </a:r>
          </a:p>
        </p:txBody>
      </p:sp>
      <p:sp>
        <p:nvSpPr>
          <p:cNvPr id="15" name="TextBox 14"/>
          <p:cNvSpPr txBox="1"/>
          <p:nvPr/>
        </p:nvSpPr>
        <p:spPr>
          <a:xfrm>
            <a:off x="4535424" y="2971800"/>
            <a:ext cx="3090672" cy="502920"/>
          </a:xfrm>
          <a:prstGeom prst="rect">
            <a:avLst/>
          </a:prstGeom>
          <a:noFill/>
        </p:spPr>
        <p:txBody>
          <a:bodyPr wrap="square" anchor="t">
            <a:spAutoFit/>
          </a:bodyPr>
          <a:lstStyle/>
          <a:p>
            <a:pPr algn="l"/>
            <a:r>
              <a:rPr sz="1350" b="1">
                <a:solidFill>
                  <a:srgbClr val="1C2B27"/>
                </a:solidFill>
                <a:latin typeface="Meiryo UI"/>
              </a:rPr>
              <a:t>突合・紐づけ</a:t>
            </a:r>
          </a:p>
        </p:txBody>
      </p:sp>
      <p:sp>
        <p:nvSpPr>
          <p:cNvPr id="16" name="TextBox 15"/>
          <p:cNvSpPr txBox="1"/>
          <p:nvPr/>
        </p:nvSpPr>
        <p:spPr>
          <a:xfrm>
            <a:off x="4535424" y="3429000"/>
            <a:ext cx="3090672" cy="1051560"/>
          </a:xfrm>
          <a:prstGeom prst="rect">
            <a:avLst/>
          </a:prstGeom>
          <a:noFill/>
        </p:spPr>
        <p:txBody>
          <a:bodyPr wrap="square" anchor="t">
            <a:spAutoFit/>
          </a:bodyPr>
          <a:lstStyle/>
          <a:p>
            <a:pPr algn="l"/>
            <a:r>
              <a:rPr sz="1100" b="0">
                <a:solidFill>
                  <a:srgbClr val="5B6E68"/>
                </a:solidFill>
                <a:latin typeface="Meiryo UI"/>
              </a:rPr>
              <a:t>自動で利用者名がマッチング。未マッチは画面上で手動紐づけ。粗利・差額を確認します。</a:t>
            </a:r>
          </a:p>
        </p:txBody>
      </p:sp>
      <p:sp>
        <p:nvSpPr>
          <p:cNvPr id="17" name="Rectangle 16"/>
          <p:cNvSpPr/>
          <p:nvPr/>
        </p:nvSpPr>
        <p:spPr>
          <a:xfrm>
            <a:off x="8065008" y="2194560"/>
            <a:ext cx="3456432" cy="237744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286000"/>
            <a:ext cx="914400" cy="685800"/>
          </a:xfrm>
          <a:prstGeom prst="rect">
            <a:avLst/>
          </a:prstGeom>
          <a:noFill/>
        </p:spPr>
        <p:txBody>
          <a:bodyPr wrap="square" anchor="t">
            <a:spAutoFit/>
          </a:bodyPr>
          <a:lstStyle/>
          <a:p>
            <a:pPr algn="l"/>
            <a:r>
              <a:rPr sz="3200" b="1">
                <a:solidFill>
                  <a:srgbClr val="0E8A78"/>
                </a:solidFill>
                <a:latin typeface="Meiryo UI"/>
              </a:rPr>
              <a:t>3</a:t>
            </a:r>
          </a:p>
        </p:txBody>
      </p:sp>
      <p:sp>
        <p:nvSpPr>
          <p:cNvPr id="19" name="TextBox 18"/>
          <p:cNvSpPr txBox="1"/>
          <p:nvPr/>
        </p:nvSpPr>
        <p:spPr>
          <a:xfrm>
            <a:off x="8247888" y="2971800"/>
            <a:ext cx="3090672" cy="502920"/>
          </a:xfrm>
          <a:prstGeom prst="rect">
            <a:avLst/>
          </a:prstGeom>
          <a:noFill/>
        </p:spPr>
        <p:txBody>
          <a:bodyPr wrap="square" anchor="t">
            <a:spAutoFit/>
          </a:bodyPr>
          <a:lstStyle/>
          <a:p>
            <a:pPr algn="l"/>
            <a:r>
              <a:rPr sz="1350" b="1">
                <a:solidFill>
                  <a:srgbClr val="1C2B27"/>
                </a:solidFill>
                <a:latin typeface="Meiryo UI"/>
              </a:rPr>
              <a:t>確定</a:t>
            </a:r>
          </a:p>
        </p:txBody>
      </p:sp>
      <p:sp>
        <p:nvSpPr>
          <p:cNvPr id="20" name="TextBox 19"/>
          <p:cNvSpPr txBox="1"/>
          <p:nvPr/>
        </p:nvSpPr>
        <p:spPr>
          <a:xfrm>
            <a:off x="8247888" y="3429000"/>
            <a:ext cx="3090672" cy="1051560"/>
          </a:xfrm>
          <a:prstGeom prst="rect">
            <a:avLst/>
          </a:prstGeom>
          <a:noFill/>
        </p:spPr>
        <p:txBody>
          <a:bodyPr wrap="square" anchor="t">
            <a:spAutoFit/>
          </a:bodyPr>
          <a:lstStyle/>
          <a:p>
            <a:pPr algn="l"/>
            <a:r>
              <a:rPr sz="1100" b="0">
                <a:solidFill>
                  <a:srgbClr val="5B6E68"/>
                </a:solidFill>
                <a:latin typeface="Meiryo UI"/>
              </a:rPr>
              <a:t>会社ごとに仕入確定→全社・全売上がそろったら月次確定。確定後はデータが固定されます。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MAIN TABS</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画面の3つのメインタブ</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Rectangle 7"/>
          <p:cNvSpPr/>
          <p:nvPr/>
        </p:nvSpPr>
        <p:spPr>
          <a:xfrm>
            <a:off x="640080" y="1828800"/>
            <a:ext cx="2651760"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28800"/>
            <a:ext cx="2651760" cy="502920"/>
          </a:xfrm>
          <a:prstGeom prst="rect">
            <a:avLst/>
          </a:prstGeom>
          <a:noFill/>
        </p:spPr>
        <p:txBody>
          <a:bodyPr wrap="square" anchor="ctr">
            <a:spAutoFit/>
          </a:bodyPr>
          <a:lstStyle/>
          <a:p>
            <a:pPr algn="ctr"/>
            <a:r>
              <a:rPr sz="1300" b="1">
                <a:solidFill>
                  <a:srgbClr val="5B6E68"/>
                </a:solidFill>
                <a:latin typeface="Meiryo UI"/>
              </a:rPr>
              <a:t>売上一覧 (1822)</a:t>
            </a:r>
          </a:p>
        </p:txBody>
      </p:sp>
      <p:sp>
        <p:nvSpPr>
          <p:cNvPr id="10" name="Rectangle 9"/>
          <p:cNvSpPr/>
          <p:nvPr/>
        </p:nvSpPr>
        <p:spPr>
          <a:xfrm>
            <a:off x="3429000" y="1828800"/>
            <a:ext cx="3017520" cy="50292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1828800"/>
            <a:ext cx="3017520" cy="502920"/>
          </a:xfrm>
          <a:prstGeom prst="rect">
            <a:avLst/>
          </a:prstGeom>
          <a:noFill/>
        </p:spPr>
        <p:txBody>
          <a:bodyPr wrap="square" anchor="ctr">
            <a:spAutoFit/>
          </a:bodyPr>
          <a:lstStyle/>
          <a:p>
            <a:pPr algn="ctr"/>
            <a:r>
              <a:rPr sz="1300" b="1">
                <a:solidFill>
                  <a:srgbClr val="FFFFFF"/>
                </a:solidFill>
                <a:latin typeface="Meiryo UI"/>
              </a:rPr>
              <a:t>請求書アップロード (5)</a:t>
            </a:r>
          </a:p>
        </p:txBody>
      </p:sp>
      <p:sp>
        <p:nvSpPr>
          <p:cNvPr id="12" name="Rectangle 11"/>
          <p:cNvSpPr/>
          <p:nvPr/>
        </p:nvSpPr>
        <p:spPr>
          <a:xfrm>
            <a:off x="6583680" y="1828800"/>
            <a:ext cx="2377440"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828800"/>
            <a:ext cx="2377440" cy="502920"/>
          </a:xfrm>
          <a:prstGeom prst="rect">
            <a:avLst/>
          </a:prstGeom>
          <a:noFill/>
        </p:spPr>
        <p:txBody>
          <a:bodyPr wrap="square" anchor="ctr">
            <a:spAutoFit/>
          </a:bodyPr>
          <a:lstStyle/>
          <a:p>
            <a:pPr algn="ctr"/>
            <a:r>
              <a:rPr sz="1300" b="1">
                <a:solidFill>
                  <a:srgbClr val="5B6E68"/>
                </a:solidFill>
                <a:latin typeface="Meiryo UI"/>
              </a:rPr>
              <a:t>突合結果</a:t>
            </a:r>
          </a:p>
        </p:txBody>
      </p:sp>
      <p:graphicFrame>
        <p:nvGraphicFramePr>
          <p:cNvPr id="14" name="Table 13"/>
          <p:cNvGraphicFramePr>
            <a:graphicFrameLocks noGrp="1"/>
          </p:cNvGraphicFramePr>
          <p:nvPr/>
        </p:nvGraphicFramePr>
        <p:xfrm>
          <a:off x="640080" y="2651760"/>
          <a:ext cx="10881360" cy="1737360"/>
        </p:xfrm>
        <a:graphic>
          <a:graphicData uri="http://schemas.openxmlformats.org/drawingml/2006/table">
            <a:tbl>
              <a:tblPr>
                <a:tableStyleId>{5C22544A-7EE6-4342-B048-85BDC9FD1C3A}</a:tableStyleId>
              </a:tblPr>
              <a:tblGrid>
                <a:gridCol w="2560320"/>
                <a:gridCol w="8321040"/>
              </a:tblGrid>
              <a:tr h="434340">
                <a:tc>
                  <a:txBody>
                    <a:bodyPr wrap="square"/>
                    <a:lstStyle/>
                    <a:p>
                      <a:pPr algn="l"/>
                      <a:r>
                        <a:rPr sz="1300" b="1">
                          <a:solidFill>
                            <a:srgbClr val="FFFFFF"/>
                          </a:solidFill>
                          <a:latin typeface="Meiryo UI"/>
                        </a:rPr>
                        <a:t>メインタブ</a:t>
                      </a:r>
                    </a:p>
                  </a:txBody>
                  <a:tcPr anchor="ctr" marL="91440" marR="73152" marT="27432" marB="27432">
                    <a:solidFill>
                      <a:srgbClr val="0E8A78"/>
                    </a:solidFill>
                  </a:tcPr>
                </a:tc>
                <a:tc>
                  <a:txBody>
                    <a:bodyPr wrap="square"/>
                    <a:lstStyle/>
                    <a:p>
                      <a:pPr algn="l"/>
                      <a:r>
                        <a:rPr sz="1300" b="1">
                          <a:solidFill>
                            <a:srgbClr val="FFFFFF"/>
                          </a:solidFill>
                          <a:latin typeface="Meiryo UI"/>
                        </a:rPr>
                        <a:t>できること</a:t>
                      </a:r>
                    </a:p>
                  </a:txBody>
                  <a:tcPr anchor="ctr" marL="91440" marR="73152" marT="27432" marB="27432">
                    <a:solidFill>
                      <a:srgbClr val="0E8A78"/>
                    </a:solidFill>
                  </a:tcPr>
                </a:tc>
              </a:tr>
              <a:tr h="434340">
                <a:tc>
                  <a:txBody>
                    <a:bodyPr wrap="square"/>
                    <a:lstStyle/>
                    <a:p>
                      <a:pPr algn="l"/>
                      <a:r>
                        <a:rPr sz="1300" b="1">
                          <a:solidFill>
                            <a:srgbClr val="1C2B27"/>
                          </a:solidFill>
                          <a:latin typeface="Meiryo UI"/>
                        </a:rPr>
                        <a:t>売上一覧</a:t>
                      </a:r>
                    </a:p>
                  </a:txBody>
                  <a:tcPr anchor="ctr" marL="91440" marR="73152" marT="27432" marB="27432">
                    <a:solidFill>
                      <a:srgbClr val="FFFFFF"/>
                    </a:solidFill>
                  </a:tcPr>
                </a:tc>
                <a:tc>
                  <a:txBody>
                    <a:bodyPr wrap="square"/>
                    <a:lstStyle/>
                    <a:p>
                      <a:pPr algn="l"/>
                      <a:r>
                        <a:rPr sz="1300" b="0">
                          <a:solidFill>
                            <a:srgbClr val="1C2B27"/>
                          </a:solidFill>
                          <a:latin typeface="Meiryo UI"/>
                        </a:rPr>
                        <a:t>選んだ月・事業所の当月売上（介護保険レンタル・自費レンタル・販売）を一覧確認するだけの画面</a:t>
                      </a:r>
                    </a:p>
                  </a:txBody>
                  <a:tcPr anchor="ctr" marL="91440" marR="73152" marT="27432" marB="27432">
                    <a:solidFill>
                      <a:srgbClr val="FFFFFF"/>
                    </a:solidFill>
                  </a:tcPr>
                </a:tc>
              </a:tr>
              <a:tr h="434340">
                <a:tc>
                  <a:txBody>
                    <a:bodyPr wrap="square"/>
                    <a:lstStyle/>
                    <a:p>
                      <a:pPr algn="l"/>
                      <a:r>
                        <a:rPr sz="1300" b="1">
                          <a:solidFill>
                            <a:srgbClr val="1C2B27"/>
                          </a:solidFill>
                          <a:latin typeface="Meiryo UI"/>
                        </a:rPr>
                        <a:t>請求書アップロード</a:t>
                      </a:r>
                    </a:p>
                  </a:txBody>
                  <a:tcPr anchor="ctr" marL="91440" marR="73152" marT="27432" marB="27432">
                    <a:solidFill>
                      <a:srgbClr val="E2F0EC"/>
                    </a:solidFill>
                  </a:tcPr>
                </a:tc>
                <a:tc>
                  <a:txBody>
                    <a:bodyPr wrap="square"/>
                    <a:lstStyle/>
                    <a:p>
                      <a:pPr algn="l"/>
                      <a:r>
                        <a:rPr sz="1300" b="0">
                          <a:solidFill>
                            <a:srgbClr val="1C2B27"/>
                          </a:solidFill>
                          <a:latin typeface="Meiryo UI"/>
                        </a:rPr>
                        <a:t>卸会社ごとに請求書PDF/CSVをアップロード・確認・「突合実行」ボタン</a:t>
                      </a:r>
                    </a:p>
                  </a:txBody>
                  <a:tcPr anchor="ctr" marL="91440" marR="73152" marT="27432" marB="27432">
                    <a:solidFill>
                      <a:srgbClr val="E2F0EC"/>
                    </a:solidFill>
                  </a:tcPr>
                </a:tc>
              </a:tr>
              <a:tr h="434340">
                <a:tc>
                  <a:txBody>
                    <a:bodyPr wrap="square"/>
                    <a:lstStyle/>
                    <a:p>
                      <a:pPr algn="l"/>
                      <a:r>
                        <a:rPr sz="1300" b="1">
                          <a:solidFill>
                            <a:srgbClr val="1C2B27"/>
                          </a:solidFill>
                          <a:latin typeface="Meiryo UI"/>
                        </a:rPr>
                        <a:t>突合結果</a:t>
                      </a:r>
                    </a:p>
                  </a:txBody>
                  <a:tcPr anchor="ctr" marL="91440" marR="73152" marT="27432" marB="27432">
                    <a:solidFill>
                      <a:srgbClr val="FFFFFF"/>
                    </a:solidFill>
                  </a:tcPr>
                </a:tc>
                <a:tc>
                  <a:txBody>
                    <a:bodyPr wrap="square"/>
                    <a:lstStyle/>
                    <a:p>
                      <a:pPr algn="l"/>
                      <a:r>
                        <a:rPr sz="1300" b="0">
                          <a:solidFill>
                            <a:srgbClr val="1C2B27"/>
                          </a:solidFill>
                          <a:latin typeface="Meiryo UI"/>
                        </a:rPr>
                        <a:t>紐づけの修正、利用者別突合セクション、CSV出力、確定作業。「突合実行」を押すまでは選べない（グレーアウト）</a:t>
                      </a:r>
                    </a:p>
                  </a:txBody>
                  <a:tcPr anchor="ctr" marL="91440" marR="73152" marT="27432" marB="27432">
                    <a:solidFill>
                      <a:srgbClr val="FFFFFF"/>
                    </a:solidFill>
                  </a:tcPr>
                </a:tc>
              </a:tr>
            </a:tbl>
          </a:graphicData>
        </a:graphic>
      </p:graphicFrame>
      <p:sp>
        <p:nvSpPr>
          <p:cNvPr id="15" name="Rectangle 14"/>
          <p:cNvSpPr/>
          <p:nvPr/>
        </p:nvSpPr>
        <p:spPr>
          <a:xfrm>
            <a:off x="640080" y="4572000"/>
            <a:ext cx="10881360" cy="137160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572000"/>
            <a:ext cx="73152" cy="137160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681728"/>
            <a:ext cx="10515600" cy="1188720"/>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「突合結果」タブがグレーで押せないときは異常ではありません</a:t>
            </a:r>
          </a:p>
          <a:p>
            <a:pPr algn="l">
              <a:lnSpc>
                <a:spcPct val="125000"/>
              </a:lnSpc>
              <a:spcAft>
                <a:spcPts val="400"/>
              </a:spcAft>
            </a:pPr>
            <a:r>
              <a:rPr sz="1300" b="0">
                <a:solidFill>
                  <a:srgbClr val="1C2B27"/>
                </a:solidFill>
                <a:latin typeface="Meiryo UI"/>
              </a:rPr>
              <a:t>まだ「突合実行」ボタンを押していないだけです。月度や事業所を切り替えるたびにこの結果はリセットされます。その都度「請求書アップロード」タブ下部の緑色「突合実行」ボタンを押してください。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COMPANIES</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対応している卸会社（7社）</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Rectangle 7"/>
          <p:cNvSpPr/>
          <p:nvPr/>
        </p:nvSpPr>
        <p:spPr>
          <a:xfrm>
            <a:off x="640080" y="1828800"/>
            <a:ext cx="5303520" cy="594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828800"/>
            <a:ext cx="3291840" cy="594360"/>
          </a:xfrm>
          <a:prstGeom prst="rect">
            <a:avLst/>
          </a:prstGeom>
          <a:noFill/>
        </p:spPr>
        <p:txBody>
          <a:bodyPr wrap="square" anchor="ctr">
            <a:spAutoFit/>
          </a:bodyPr>
          <a:lstStyle/>
          <a:p>
            <a:pPr algn="l"/>
            <a:r>
              <a:rPr sz="1300" b="1">
                <a:solidFill>
                  <a:srgbClr val="1C2B27"/>
                </a:solidFill>
                <a:latin typeface="Meiryo UI"/>
              </a:rPr>
              <a:t>日建リース工業株式会社</a:t>
            </a:r>
          </a:p>
        </p:txBody>
      </p:sp>
      <p:sp>
        <p:nvSpPr>
          <p:cNvPr id="10" name="Rectangle 9"/>
          <p:cNvSpPr/>
          <p:nvPr/>
        </p:nvSpPr>
        <p:spPr>
          <a:xfrm>
            <a:off x="4297680" y="1947672"/>
            <a:ext cx="1463040" cy="36576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947672"/>
            <a:ext cx="1463040" cy="365760"/>
          </a:xfrm>
          <a:prstGeom prst="rect">
            <a:avLst/>
          </a:prstGeom>
          <a:noFill/>
        </p:spPr>
        <p:txBody>
          <a:bodyPr wrap="square" anchor="ctr">
            <a:spAutoFit/>
          </a:bodyPr>
          <a:lstStyle/>
          <a:p>
            <a:pPr algn="ctr"/>
            <a:r>
              <a:rPr sz="1100" b="1">
                <a:solidFill>
                  <a:srgbClr val="2563EB"/>
                </a:solidFill>
                <a:latin typeface="Meiryo UI"/>
              </a:rPr>
              <a:t>PDF</a:t>
            </a:r>
          </a:p>
        </p:txBody>
      </p:sp>
      <p:sp>
        <p:nvSpPr>
          <p:cNvPr id="12" name="Rectangle 11"/>
          <p:cNvSpPr/>
          <p:nvPr/>
        </p:nvSpPr>
        <p:spPr>
          <a:xfrm>
            <a:off x="6126480" y="1828800"/>
            <a:ext cx="5303520" cy="594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828800"/>
            <a:ext cx="3291840" cy="594360"/>
          </a:xfrm>
          <a:prstGeom prst="rect">
            <a:avLst/>
          </a:prstGeom>
          <a:noFill/>
        </p:spPr>
        <p:txBody>
          <a:bodyPr wrap="square" anchor="ctr">
            <a:spAutoFit/>
          </a:bodyPr>
          <a:lstStyle/>
          <a:p>
            <a:pPr algn="l"/>
            <a:r>
              <a:rPr sz="1300" b="1">
                <a:solidFill>
                  <a:srgbClr val="1C2B27"/>
                </a:solidFill>
                <a:latin typeface="Meiryo UI"/>
              </a:rPr>
              <a:t>野口株式会社</a:t>
            </a:r>
          </a:p>
        </p:txBody>
      </p:sp>
      <p:sp>
        <p:nvSpPr>
          <p:cNvPr id="14" name="Rectangle 13"/>
          <p:cNvSpPr/>
          <p:nvPr/>
        </p:nvSpPr>
        <p:spPr>
          <a:xfrm>
            <a:off x="9784080" y="1947672"/>
            <a:ext cx="1463040" cy="36576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0" y="1947672"/>
            <a:ext cx="1463040" cy="365760"/>
          </a:xfrm>
          <a:prstGeom prst="rect">
            <a:avLst/>
          </a:prstGeom>
          <a:noFill/>
        </p:spPr>
        <p:txBody>
          <a:bodyPr wrap="square" anchor="ctr">
            <a:spAutoFit/>
          </a:bodyPr>
          <a:lstStyle/>
          <a:p>
            <a:pPr algn="ctr"/>
            <a:r>
              <a:rPr sz="1100" b="1">
                <a:solidFill>
                  <a:srgbClr val="2563EB"/>
                </a:solidFill>
                <a:latin typeface="Meiryo UI"/>
              </a:rPr>
              <a:t>PDF</a:t>
            </a:r>
          </a:p>
        </p:txBody>
      </p:sp>
      <p:sp>
        <p:nvSpPr>
          <p:cNvPr id="16" name="Rectangle 15"/>
          <p:cNvSpPr/>
          <p:nvPr/>
        </p:nvSpPr>
        <p:spPr>
          <a:xfrm>
            <a:off x="640080" y="2606040"/>
            <a:ext cx="5303520" cy="594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2606040"/>
            <a:ext cx="3291840" cy="594360"/>
          </a:xfrm>
          <a:prstGeom prst="rect">
            <a:avLst/>
          </a:prstGeom>
          <a:noFill/>
        </p:spPr>
        <p:txBody>
          <a:bodyPr wrap="square" anchor="ctr">
            <a:spAutoFit/>
          </a:bodyPr>
          <a:lstStyle/>
          <a:p>
            <a:pPr algn="l"/>
            <a:r>
              <a:rPr sz="1300" b="1">
                <a:solidFill>
                  <a:srgbClr val="1C2B27"/>
                </a:solidFill>
                <a:latin typeface="Meiryo UI"/>
              </a:rPr>
              <a:t>株式会社ニシケン</a:t>
            </a:r>
          </a:p>
        </p:txBody>
      </p:sp>
      <p:sp>
        <p:nvSpPr>
          <p:cNvPr id="18" name="Rectangle 17"/>
          <p:cNvSpPr/>
          <p:nvPr/>
        </p:nvSpPr>
        <p:spPr>
          <a:xfrm>
            <a:off x="4297680" y="2724912"/>
            <a:ext cx="1463040" cy="36576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2724912"/>
            <a:ext cx="1463040" cy="365760"/>
          </a:xfrm>
          <a:prstGeom prst="rect">
            <a:avLst/>
          </a:prstGeom>
          <a:noFill/>
        </p:spPr>
        <p:txBody>
          <a:bodyPr wrap="square" anchor="ctr">
            <a:spAutoFit/>
          </a:bodyPr>
          <a:lstStyle/>
          <a:p>
            <a:pPr algn="ctr"/>
            <a:r>
              <a:rPr sz="1100" b="1">
                <a:solidFill>
                  <a:srgbClr val="166534"/>
                </a:solidFill>
                <a:latin typeface="Meiryo UI"/>
              </a:rPr>
              <a:t>CSV/PDF</a:t>
            </a:r>
          </a:p>
        </p:txBody>
      </p:sp>
      <p:sp>
        <p:nvSpPr>
          <p:cNvPr id="20" name="Rectangle 19"/>
          <p:cNvSpPr/>
          <p:nvPr/>
        </p:nvSpPr>
        <p:spPr>
          <a:xfrm>
            <a:off x="6126480" y="2606040"/>
            <a:ext cx="5303520" cy="594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606040"/>
            <a:ext cx="3291840" cy="594360"/>
          </a:xfrm>
          <a:prstGeom prst="rect">
            <a:avLst/>
          </a:prstGeom>
          <a:noFill/>
        </p:spPr>
        <p:txBody>
          <a:bodyPr wrap="square" anchor="ctr">
            <a:spAutoFit/>
          </a:bodyPr>
          <a:lstStyle/>
          <a:p>
            <a:pPr algn="l"/>
            <a:r>
              <a:rPr sz="1300" b="1">
                <a:solidFill>
                  <a:srgbClr val="1C2B27"/>
                </a:solidFill>
                <a:latin typeface="Meiryo UI"/>
              </a:rPr>
              <a:t>パラマウントケアサービス</a:t>
            </a:r>
          </a:p>
        </p:txBody>
      </p:sp>
      <p:sp>
        <p:nvSpPr>
          <p:cNvPr id="22" name="Rectangle 21"/>
          <p:cNvSpPr/>
          <p:nvPr/>
        </p:nvSpPr>
        <p:spPr>
          <a:xfrm>
            <a:off x="9784080" y="2724912"/>
            <a:ext cx="1463040" cy="36576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2724912"/>
            <a:ext cx="1463040" cy="365760"/>
          </a:xfrm>
          <a:prstGeom prst="rect">
            <a:avLst/>
          </a:prstGeom>
          <a:noFill/>
        </p:spPr>
        <p:txBody>
          <a:bodyPr wrap="square" anchor="ctr">
            <a:spAutoFit/>
          </a:bodyPr>
          <a:lstStyle/>
          <a:p>
            <a:pPr algn="ctr"/>
            <a:r>
              <a:rPr sz="1100" b="1">
                <a:solidFill>
                  <a:srgbClr val="166534"/>
                </a:solidFill>
                <a:latin typeface="Meiryo UI"/>
              </a:rPr>
              <a:t>CSV/PDF</a:t>
            </a:r>
          </a:p>
        </p:txBody>
      </p:sp>
      <p:sp>
        <p:nvSpPr>
          <p:cNvPr id="24" name="Rectangle 23"/>
          <p:cNvSpPr/>
          <p:nvPr/>
        </p:nvSpPr>
        <p:spPr>
          <a:xfrm>
            <a:off x="640080" y="3383280"/>
            <a:ext cx="5303520" cy="594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3383280"/>
            <a:ext cx="3291840" cy="594360"/>
          </a:xfrm>
          <a:prstGeom prst="rect">
            <a:avLst/>
          </a:prstGeom>
          <a:noFill/>
        </p:spPr>
        <p:txBody>
          <a:bodyPr wrap="square" anchor="ctr">
            <a:spAutoFit/>
          </a:bodyPr>
          <a:lstStyle/>
          <a:p>
            <a:pPr algn="l"/>
            <a:r>
              <a:rPr sz="1300" b="1">
                <a:solidFill>
                  <a:srgbClr val="1C2B27"/>
                </a:solidFill>
                <a:latin typeface="Meiryo UI"/>
              </a:rPr>
              <a:t>日本ケアサプライ</a:t>
            </a:r>
          </a:p>
        </p:txBody>
      </p:sp>
      <p:sp>
        <p:nvSpPr>
          <p:cNvPr id="26" name="Rectangle 25"/>
          <p:cNvSpPr/>
          <p:nvPr/>
        </p:nvSpPr>
        <p:spPr>
          <a:xfrm>
            <a:off x="4297680" y="3502152"/>
            <a:ext cx="1463040" cy="36576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0" y="3502152"/>
            <a:ext cx="1463040" cy="365760"/>
          </a:xfrm>
          <a:prstGeom prst="rect">
            <a:avLst/>
          </a:prstGeom>
          <a:noFill/>
        </p:spPr>
        <p:txBody>
          <a:bodyPr wrap="square" anchor="ctr">
            <a:spAutoFit/>
          </a:bodyPr>
          <a:lstStyle/>
          <a:p>
            <a:pPr algn="ctr"/>
            <a:r>
              <a:rPr sz="1100" b="1">
                <a:solidFill>
                  <a:srgbClr val="166534"/>
                </a:solidFill>
                <a:latin typeface="Meiryo UI"/>
              </a:rPr>
              <a:t>CSV/PDF</a:t>
            </a:r>
          </a:p>
        </p:txBody>
      </p:sp>
      <p:sp>
        <p:nvSpPr>
          <p:cNvPr id="28" name="Rectangle 27"/>
          <p:cNvSpPr/>
          <p:nvPr/>
        </p:nvSpPr>
        <p:spPr>
          <a:xfrm>
            <a:off x="6126480" y="3383280"/>
            <a:ext cx="5303520" cy="594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3383280"/>
            <a:ext cx="3291840" cy="594360"/>
          </a:xfrm>
          <a:prstGeom prst="rect">
            <a:avLst/>
          </a:prstGeom>
          <a:noFill/>
        </p:spPr>
        <p:txBody>
          <a:bodyPr wrap="square" anchor="ctr">
            <a:spAutoFit/>
          </a:bodyPr>
          <a:lstStyle/>
          <a:p>
            <a:pPr algn="l"/>
            <a:r>
              <a:rPr sz="1300" b="1">
                <a:solidFill>
                  <a:srgbClr val="1C2B27"/>
                </a:solidFill>
                <a:latin typeface="Meiryo UI"/>
              </a:rPr>
              <a:t>株式会社キシヤ</a:t>
            </a:r>
          </a:p>
        </p:txBody>
      </p:sp>
      <p:sp>
        <p:nvSpPr>
          <p:cNvPr id="30" name="Rectangle 29"/>
          <p:cNvSpPr/>
          <p:nvPr/>
        </p:nvSpPr>
        <p:spPr>
          <a:xfrm>
            <a:off x="9784080" y="3502152"/>
            <a:ext cx="1463040" cy="36576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0" y="3502152"/>
            <a:ext cx="1463040" cy="365760"/>
          </a:xfrm>
          <a:prstGeom prst="rect">
            <a:avLst/>
          </a:prstGeom>
          <a:noFill/>
        </p:spPr>
        <p:txBody>
          <a:bodyPr wrap="square" anchor="ctr">
            <a:spAutoFit/>
          </a:bodyPr>
          <a:lstStyle/>
          <a:p>
            <a:pPr algn="ctr"/>
            <a:r>
              <a:rPr sz="1100" b="1">
                <a:solidFill>
                  <a:srgbClr val="2563EB"/>
                </a:solidFill>
                <a:latin typeface="Meiryo UI"/>
              </a:rPr>
              <a:t>PDF</a:t>
            </a:r>
          </a:p>
        </p:txBody>
      </p:sp>
      <p:sp>
        <p:nvSpPr>
          <p:cNvPr id="32" name="Rectangle 31"/>
          <p:cNvSpPr/>
          <p:nvPr/>
        </p:nvSpPr>
        <p:spPr>
          <a:xfrm>
            <a:off x="640080" y="4160520"/>
            <a:ext cx="5303520" cy="594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4160520"/>
            <a:ext cx="3291840" cy="594360"/>
          </a:xfrm>
          <a:prstGeom prst="rect">
            <a:avLst/>
          </a:prstGeom>
          <a:noFill/>
        </p:spPr>
        <p:txBody>
          <a:bodyPr wrap="square" anchor="ctr">
            <a:spAutoFit/>
          </a:bodyPr>
          <a:lstStyle/>
          <a:p>
            <a:pPr algn="l"/>
            <a:r>
              <a:rPr sz="1300" b="1">
                <a:solidFill>
                  <a:srgbClr val="1C2B27"/>
                </a:solidFill>
                <a:latin typeface="Meiryo UI"/>
              </a:rPr>
              <a:t>その他</a:t>
            </a:r>
          </a:p>
        </p:txBody>
      </p:sp>
      <p:sp>
        <p:nvSpPr>
          <p:cNvPr id="34" name="Rectangle 33"/>
          <p:cNvSpPr/>
          <p:nvPr/>
        </p:nvSpPr>
        <p:spPr>
          <a:xfrm>
            <a:off x="4297680" y="4279392"/>
            <a:ext cx="1463040" cy="36576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7680" y="4279392"/>
            <a:ext cx="1463040" cy="365760"/>
          </a:xfrm>
          <a:prstGeom prst="rect">
            <a:avLst/>
          </a:prstGeom>
          <a:noFill/>
        </p:spPr>
        <p:txBody>
          <a:bodyPr wrap="square" anchor="ctr">
            <a:spAutoFit/>
          </a:bodyPr>
          <a:lstStyle/>
          <a:p>
            <a:pPr algn="ctr"/>
            <a:r>
              <a:rPr sz="1100" b="1">
                <a:solidFill>
                  <a:srgbClr val="2563EB"/>
                </a:solidFill>
                <a:latin typeface="Meiryo UI"/>
              </a:rPr>
              <a:t>PDF/画像</a:t>
            </a:r>
          </a:p>
        </p:txBody>
      </p:sp>
      <p:sp>
        <p:nvSpPr>
          <p:cNvPr id="36" name="Rectangle 35"/>
          <p:cNvSpPr/>
          <p:nvPr/>
        </p:nvSpPr>
        <p:spPr>
          <a:xfrm>
            <a:off x="640080" y="5532120"/>
            <a:ext cx="10881360" cy="91440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 y="5532120"/>
            <a:ext cx="73152" cy="9144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641848"/>
            <a:ext cx="10515600" cy="73152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3社はCSV取込にも対応</a:t>
            </a:r>
          </a:p>
          <a:p>
            <a:pPr algn="l">
              <a:lnSpc>
                <a:spcPct val="125000"/>
              </a:lnSpc>
              <a:spcAft>
                <a:spcPts val="400"/>
              </a:spcAft>
            </a:pPr>
            <a:r>
              <a:rPr sz="1300" b="0">
                <a:solidFill>
                  <a:srgbClr val="1C2B27"/>
                </a:solidFill>
                <a:latin typeface="Meiryo UI"/>
              </a:rPr>
              <a:t>ニシケン・パラマウント・日本ケアサプライはCSVでの取込みが可能です（AIを使わず高速・正確）。可能な場合はCSV取込みをおすすめします。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UPLOAD</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請求書をアップロードする</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691640"/>
            <a:ext cx="10881360" cy="457200"/>
          </a:xfrm>
          <a:prstGeom prst="rect">
            <a:avLst/>
          </a:prstGeom>
          <a:noFill/>
        </p:spPr>
        <p:txBody>
          <a:bodyPr wrap="square" anchor="t">
            <a:spAutoFit/>
          </a:bodyPr>
          <a:lstStyle/>
          <a:p>
            <a:pPr algn="l"/>
            <a:r>
              <a:rPr sz="1350" b="0">
                <a:solidFill>
                  <a:srgbClr val="5B6E68"/>
                </a:solidFill>
                <a:latin typeface="Meiryo UI"/>
              </a:rPr>
              <a:t>「請求書アップロード」タブで、卸会社ごとのカードにファイルをドラッグ＆ドロップまたは選択します。</a:t>
            </a:r>
          </a:p>
        </p:txBody>
      </p:sp>
      <p:sp>
        <p:nvSpPr>
          <p:cNvPr id="9" name="Rectangle 8"/>
          <p:cNvSpPr/>
          <p:nvPr/>
        </p:nvSpPr>
        <p:spPr>
          <a:xfrm>
            <a:off x="640080" y="2286000"/>
            <a:ext cx="5257800" cy="173736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286000"/>
            <a:ext cx="73152" cy="17373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423160"/>
            <a:ext cx="4846320" cy="1508760"/>
          </a:xfrm>
          <a:prstGeom prst="rect">
            <a:avLst/>
          </a:prstGeom>
          <a:noFill/>
        </p:spPr>
        <p:txBody>
          <a:bodyPr wrap="square">
            <a:spAutoFit/>
          </a:bodyPr>
          <a:lstStyle/>
          <a:p>
            <a:pPr algn="l">
              <a:lnSpc>
                <a:spcPct val="125000"/>
              </a:lnSpc>
              <a:spcAft>
                <a:spcPts val="400"/>
              </a:spcAft>
            </a:pPr>
            <a:r>
              <a:rPr sz="1250" b="1">
                <a:solidFill>
                  <a:srgbClr val="2563EB"/>
                </a:solidFill>
                <a:latin typeface="Meiryo UI"/>
              </a:rPr>
              <a:t>📄 PDF・画像の場合</a:t>
            </a:r>
          </a:p>
          <a:p>
            <a:pPr algn="l">
              <a:lnSpc>
                <a:spcPct val="125000"/>
              </a:lnSpc>
              <a:spcAft>
                <a:spcPts val="400"/>
              </a:spcAft>
            </a:pPr>
            <a:r>
              <a:rPr sz="1250" b="0">
                <a:solidFill>
                  <a:srgbClr val="1C2B27"/>
                </a:solidFill>
                <a:latin typeface="Meiryo UI"/>
              </a:rPr>
              <a:t>AIが自動でテキストを読み取ります（約30〜60秒）。</a:t>
            </a:r>
          </a:p>
          <a:p>
            <a:pPr algn="l">
              <a:lnSpc>
                <a:spcPct val="125000"/>
              </a:lnSpc>
              <a:spcAft>
                <a:spcPts val="400"/>
              </a:spcAft>
            </a:pPr>
            <a:r>
              <a:rPr sz="1250" b="0">
                <a:solidFill>
                  <a:srgbClr val="1C2B27"/>
                </a:solidFill>
                <a:latin typeface="Meiryo UI"/>
              </a:rPr>
              <a:t>同じ会社のPDFを複数回に分けてアップロードすると自動マージ。</a:t>
            </a:r>
          </a:p>
          <a:p>
            <a:pPr algn="l">
              <a:lnSpc>
                <a:spcPct val="125000"/>
              </a:lnSpc>
              <a:spcAft>
                <a:spcPts val="400"/>
              </a:spcAft>
            </a:pPr>
            <a:r>
              <a:rPr sz="1250" b="0">
                <a:solidFill>
                  <a:srgbClr val="1C2B27"/>
                </a:solidFill>
                <a:latin typeface="Meiryo UI"/>
              </a:rPr>
              <a:t>金額記載のない請求書（キシヤ等）は仕入金額0円扱い。</a:t>
            </a:r>
          </a:p>
        </p:txBody>
      </p:sp>
      <p:sp>
        <p:nvSpPr>
          <p:cNvPr id="12" name="Rectangle 11"/>
          <p:cNvSpPr/>
          <p:nvPr/>
        </p:nvSpPr>
        <p:spPr>
          <a:xfrm>
            <a:off x="6263640" y="2286000"/>
            <a:ext cx="5257800" cy="173736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2286000"/>
            <a:ext cx="73152" cy="173736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23160"/>
            <a:ext cx="4846320" cy="1508760"/>
          </a:xfrm>
          <a:prstGeom prst="rect">
            <a:avLst/>
          </a:prstGeom>
          <a:noFill/>
        </p:spPr>
        <p:txBody>
          <a:bodyPr wrap="square">
            <a:spAutoFit/>
          </a:bodyPr>
          <a:lstStyle/>
          <a:p>
            <a:pPr algn="l">
              <a:lnSpc>
                <a:spcPct val="125000"/>
              </a:lnSpc>
              <a:spcAft>
                <a:spcPts val="400"/>
              </a:spcAft>
            </a:pPr>
            <a:r>
              <a:rPr sz="1250" b="1">
                <a:solidFill>
                  <a:srgbClr val="166534"/>
                </a:solidFill>
                <a:latin typeface="Meiryo UI"/>
              </a:rPr>
              <a:t>📊 CSVの場合</a:t>
            </a:r>
          </a:p>
          <a:p>
            <a:pPr algn="l">
              <a:lnSpc>
                <a:spcPct val="125000"/>
              </a:lnSpc>
              <a:spcAft>
                <a:spcPts val="400"/>
              </a:spcAft>
            </a:pPr>
            <a:r>
              <a:rPr sz="1250" b="0">
                <a:solidFill>
                  <a:srgbClr val="1C2B27"/>
                </a:solidFill>
                <a:latin typeface="Meiryo UI"/>
              </a:rPr>
              <a:t>ニシケン・パラマウント・日本ケアサプライの3社対応。</a:t>
            </a:r>
          </a:p>
          <a:p>
            <a:pPr algn="l">
              <a:lnSpc>
                <a:spcPct val="125000"/>
              </a:lnSpc>
              <a:spcAft>
                <a:spcPts val="400"/>
              </a:spcAft>
            </a:pPr>
            <a:r>
              <a:rPr sz="1250" b="0">
                <a:solidFill>
                  <a:srgbClr val="1C2B27"/>
                </a:solidFill>
                <a:latin typeface="Meiryo UI"/>
              </a:rPr>
              <a:t>AIを使わず自動でパースされ、速く正確です。</a:t>
            </a:r>
          </a:p>
        </p:txBody>
      </p:sp>
      <p:sp>
        <p:nvSpPr>
          <p:cNvPr id="15" name="Rectangle 14"/>
          <p:cNvSpPr/>
          <p:nvPr/>
        </p:nvSpPr>
        <p:spPr>
          <a:xfrm>
            <a:off x="640080" y="4206240"/>
            <a:ext cx="10881360" cy="100584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206240"/>
            <a:ext cx="73152" cy="100584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315968"/>
            <a:ext cx="10515600" cy="82296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アップロード後に金額の検証結果が表示されます</a:t>
            </a:r>
          </a:p>
          <a:p>
            <a:pPr algn="l">
              <a:lnSpc>
                <a:spcPct val="125000"/>
              </a:lnSpc>
              <a:spcAft>
                <a:spcPts val="400"/>
              </a:spcAft>
            </a:pPr>
            <a:r>
              <a:rPr sz="1300" b="0">
                <a:solidFill>
                  <a:srgbClr val="1C2B27"/>
                </a:solidFill>
                <a:latin typeface="Meiryo UI"/>
              </a:rPr>
              <a:t>「検証OK：請求書合計と一致」＝AI読み取りの合計と請求書の総額が一致（差額1,000円以内）。CSV取込は請求書合計自体がないため「CSV取込（請求書合計なし）」とグレー表示されます。</a:t>
            </a:r>
          </a:p>
        </p:txBody>
      </p:sp>
      <p:sp>
        <p:nvSpPr>
          <p:cNvPr id="18" name="Rectangle 17"/>
          <p:cNvSpPr/>
          <p:nvPr/>
        </p:nvSpPr>
        <p:spPr>
          <a:xfrm>
            <a:off x="640080" y="5349240"/>
            <a:ext cx="10881360" cy="86868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5349240"/>
            <a:ext cx="73152" cy="86868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458968"/>
            <a:ext cx="10515600" cy="685800"/>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確定済みの卸会社にはアップロードできません</a:t>
            </a:r>
          </a:p>
          <a:p>
            <a:pPr algn="l">
              <a:lnSpc>
                <a:spcPct val="125000"/>
              </a:lnSpc>
              <a:spcAft>
                <a:spcPts val="400"/>
              </a:spcAft>
            </a:pPr>
            <a:r>
              <a:rPr sz="1300" b="0">
                <a:solidFill>
                  <a:srgbClr val="1C2B27"/>
                </a:solidFill>
                <a:latin typeface="Meiryo UI"/>
              </a:rPr>
              <a:t>「確定済みのため編集不可」と出た場合は、先にその会社の仕入確定を解除してください。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RUN MATCHING</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突合実行</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828800"/>
            <a:ext cx="10881360" cy="365760"/>
          </a:xfrm>
          <a:prstGeom prst="rect">
            <a:avLst/>
          </a:prstGeom>
          <a:noFill/>
        </p:spPr>
        <p:txBody>
          <a:bodyPr wrap="square" anchor="t">
            <a:spAutoFit/>
          </a:bodyPr>
          <a:lstStyle/>
          <a:p>
            <a:pPr algn="l"/>
            <a:r>
              <a:rPr sz="1400" b="0">
                <a:solidFill>
                  <a:srgbClr val="5B6E68"/>
                </a:solidFill>
                <a:latin typeface="Meiryo UI"/>
              </a:rPr>
              <a:t>請求書アップロードタブの一番下にある緑色の大きなボタンです。</a:t>
            </a:r>
          </a:p>
        </p:txBody>
      </p:sp>
      <p:sp>
        <p:nvSpPr>
          <p:cNvPr id="9" name="Rectangle 8"/>
          <p:cNvSpPr/>
          <p:nvPr/>
        </p:nvSpPr>
        <p:spPr>
          <a:xfrm>
            <a:off x="640080" y="2468880"/>
            <a:ext cx="7315200" cy="6858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68880"/>
            <a:ext cx="7315200" cy="685800"/>
          </a:xfrm>
          <a:prstGeom prst="rect">
            <a:avLst/>
          </a:prstGeom>
          <a:noFill/>
        </p:spPr>
        <p:txBody>
          <a:bodyPr wrap="square" anchor="ctr">
            <a:spAutoFit/>
          </a:bodyPr>
          <a:lstStyle/>
          <a:p>
            <a:pPr algn="ctr"/>
            <a:r>
              <a:rPr sz="1600" b="1">
                <a:solidFill>
                  <a:srgbClr val="FFFFFF"/>
                </a:solidFill>
                <a:latin typeface="Meiryo UI"/>
              </a:rPr>
              <a:t>⇄  突合実行（売上1822件 × 請求書5社）</a:t>
            </a:r>
          </a:p>
        </p:txBody>
      </p:sp>
      <p:sp>
        <p:nvSpPr>
          <p:cNvPr id="11" name="Rectangle 10"/>
          <p:cNvSpPr/>
          <p:nvPr/>
        </p:nvSpPr>
        <p:spPr>
          <a:xfrm>
            <a:off x="640080" y="3520440"/>
            <a:ext cx="10881360" cy="109728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520440"/>
            <a:ext cx="73152" cy="10972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630168"/>
            <a:ext cx="10515600" cy="91440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このボタンを押すと</a:t>
            </a:r>
          </a:p>
          <a:p>
            <a:pPr algn="l">
              <a:lnSpc>
                <a:spcPct val="125000"/>
              </a:lnSpc>
              <a:spcAft>
                <a:spcPts val="400"/>
              </a:spcAft>
            </a:pPr>
            <a:r>
              <a:rPr sz="1300" b="0">
                <a:solidFill>
                  <a:srgbClr val="1C2B27"/>
                </a:solidFill>
                <a:latin typeface="Meiryo UI"/>
              </a:rPr>
              <a:t>その時点の当月売上データとアップロード済み全社の請求書を照合し、「突合結果」タブに結果が表示されます。ボタンはアップロード済みの請求書が1社以上あれば押せます。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RESULT TABS</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突合結果タブの構成（重要な仕様）</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691640"/>
            <a:ext cx="10881360" cy="365760"/>
          </a:xfrm>
          <a:prstGeom prst="rect">
            <a:avLst/>
          </a:prstGeom>
          <a:noFill/>
        </p:spPr>
        <p:txBody>
          <a:bodyPr wrap="square" anchor="t">
            <a:spAutoFit/>
          </a:bodyPr>
          <a:lstStyle/>
          <a:p>
            <a:pPr algn="l"/>
            <a:r>
              <a:rPr sz="1350" b="0">
                <a:solidFill>
                  <a:srgbClr val="5B6E68"/>
                </a:solidFill>
                <a:latin typeface="Meiryo UI"/>
              </a:rPr>
              <a:t>「突合結果」タブの中には、さらに3つのサブタブがあります。</a:t>
            </a:r>
          </a:p>
        </p:txBody>
      </p:sp>
      <p:sp>
        <p:nvSpPr>
          <p:cNvPr id="9" name="Rectangle 8"/>
          <p:cNvSpPr/>
          <p:nvPr/>
        </p:nvSpPr>
        <p:spPr>
          <a:xfrm>
            <a:off x="640080" y="2148840"/>
            <a:ext cx="3017520" cy="50292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017520" cy="502920"/>
          </a:xfrm>
          <a:prstGeom prst="rect">
            <a:avLst/>
          </a:prstGeom>
          <a:noFill/>
        </p:spPr>
        <p:txBody>
          <a:bodyPr wrap="square" anchor="ctr">
            <a:spAutoFit/>
          </a:bodyPr>
          <a:lstStyle/>
          <a:p>
            <a:pPr algn="ctr"/>
            <a:r>
              <a:rPr sz="1250" b="1">
                <a:solidFill>
                  <a:srgbClr val="FFFFFF"/>
                </a:solidFill>
                <a:latin typeface="Meiryo UI"/>
              </a:rPr>
              <a:t>突合済み (2173)</a:t>
            </a:r>
          </a:p>
        </p:txBody>
      </p:sp>
      <p:sp>
        <p:nvSpPr>
          <p:cNvPr id="11" name="Rectangle 10"/>
          <p:cNvSpPr/>
          <p:nvPr/>
        </p:nvSpPr>
        <p:spPr>
          <a:xfrm>
            <a:off x="3794760" y="2148840"/>
            <a:ext cx="2743200"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94760" y="2148840"/>
            <a:ext cx="2743200" cy="502920"/>
          </a:xfrm>
          <a:prstGeom prst="rect">
            <a:avLst/>
          </a:prstGeom>
          <a:noFill/>
        </p:spPr>
        <p:txBody>
          <a:bodyPr wrap="square" anchor="ctr">
            <a:spAutoFit/>
          </a:bodyPr>
          <a:lstStyle/>
          <a:p>
            <a:pPr algn="ctr"/>
            <a:r>
              <a:rPr sz="1250" b="1">
                <a:solidFill>
                  <a:srgbClr val="5B6E68"/>
                </a:solidFill>
                <a:latin typeface="Meiryo UI"/>
              </a:rPr>
              <a:t>売上のみ (261)</a:t>
            </a:r>
          </a:p>
        </p:txBody>
      </p:sp>
      <p:sp>
        <p:nvSpPr>
          <p:cNvPr id="13" name="Rectangle 12"/>
          <p:cNvSpPr/>
          <p:nvPr/>
        </p:nvSpPr>
        <p:spPr>
          <a:xfrm>
            <a:off x="6675120" y="2148840"/>
            <a:ext cx="2743200"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2148840"/>
            <a:ext cx="2743200" cy="502920"/>
          </a:xfrm>
          <a:prstGeom prst="rect">
            <a:avLst/>
          </a:prstGeom>
          <a:noFill/>
        </p:spPr>
        <p:txBody>
          <a:bodyPr wrap="square" anchor="ctr">
            <a:spAutoFit/>
          </a:bodyPr>
          <a:lstStyle/>
          <a:p>
            <a:pPr algn="ctr"/>
            <a:r>
              <a:rPr sz="1250" b="1">
                <a:solidFill>
                  <a:srgbClr val="5B6E68"/>
                </a:solidFill>
                <a:latin typeface="Meiryo UI"/>
              </a:rPr>
              <a:t>仕入のみ (243)</a:t>
            </a:r>
          </a:p>
        </p:txBody>
      </p:sp>
      <p:sp>
        <p:nvSpPr>
          <p:cNvPr id="15" name="Rectangle 14"/>
          <p:cNvSpPr/>
          <p:nvPr/>
        </p:nvSpPr>
        <p:spPr>
          <a:xfrm>
            <a:off x="640080" y="2880360"/>
            <a:ext cx="10881360" cy="155448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880360"/>
            <a:ext cx="73152" cy="15544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017520"/>
            <a:ext cx="10424160" cy="1371600"/>
          </a:xfrm>
          <a:prstGeom prst="rect">
            <a:avLst/>
          </a:prstGeom>
          <a:noFill/>
        </p:spPr>
        <p:txBody>
          <a:bodyPr wrap="square">
            <a:spAutoFit/>
          </a:bodyPr>
          <a:lstStyle/>
          <a:p>
            <a:pPr algn="l">
              <a:lnSpc>
                <a:spcPct val="125000"/>
              </a:lnSpc>
              <a:spcAft>
                <a:spcPts val="400"/>
              </a:spcAft>
            </a:pPr>
            <a:r>
              <a:rPr sz="1300" b="1">
                <a:solidFill>
                  <a:srgbClr val="B45309"/>
                </a:solidFill>
                <a:latin typeface="Meiryo UI"/>
              </a:rPr>
              <a:t>📌 件数バッジに数字があっても「突合済み」「売上のみ」の表は空欄が正常です</a:t>
            </a:r>
          </a:p>
          <a:p>
            <a:pPr algn="l">
              <a:lnSpc>
                <a:spcPct val="125000"/>
              </a:lnSpc>
              <a:spcAft>
                <a:spcPts val="400"/>
              </a:spcAft>
            </a:pPr>
            <a:r>
              <a:rPr sz="1300" b="0">
                <a:solidFill>
                  <a:srgbClr val="1C2B27"/>
                </a:solidFill>
                <a:latin typeface="Meiryo UI"/>
              </a:rPr>
              <a:t>このアプリの売上は介護保険レンタル・自費レンタル・販売の3種類のみですが、</a:t>
            </a:r>
          </a:p>
          <a:p>
            <a:pPr algn="l">
              <a:lnSpc>
                <a:spcPct val="125000"/>
              </a:lnSpc>
              <a:spcAft>
                <a:spcPts val="400"/>
              </a:spcAft>
            </a:pPr>
            <a:r>
              <a:rPr sz="1300" b="0">
                <a:solidFill>
                  <a:srgbClr val="1C2B27"/>
                </a:solidFill>
                <a:latin typeface="Meiryo UI"/>
              </a:rPr>
              <a:t>これら3種類は下部の専用「利用者別突合セクション」で個別に管理される仕組みのため、</a:t>
            </a:r>
          </a:p>
          <a:p>
            <a:pPr algn="l">
              <a:lnSpc>
                <a:spcPct val="125000"/>
              </a:lnSpc>
              <a:spcAft>
                <a:spcPts val="400"/>
              </a:spcAft>
            </a:pPr>
            <a:r>
              <a:rPr sz="1300" b="0">
                <a:solidFill>
                  <a:srgbClr val="1C2B27"/>
                </a:solidFill>
                <a:latin typeface="Meiryo UI"/>
              </a:rPr>
              <a:t>この上部の表からは常に除外されます。結果として2タブは実質いつも空欄になります。</a:t>
            </a:r>
          </a:p>
        </p:txBody>
      </p:sp>
      <p:sp>
        <p:nvSpPr>
          <p:cNvPr id="18" name="Rectangle 17"/>
          <p:cNvSpPr/>
          <p:nvPr/>
        </p:nvSpPr>
        <p:spPr>
          <a:xfrm>
            <a:off x="640080" y="4617720"/>
            <a:ext cx="10881360" cy="82296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617720"/>
            <a:ext cx="73152" cy="82296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727448"/>
            <a:ext cx="10515600" cy="64008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「仕入のみ」タブだけは実際に使います</a:t>
            </a:r>
          </a:p>
          <a:p>
            <a:pPr algn="l">
              <a:lnSpc>
                <a:spcPct val="125000"/>
              </a:lnSpc>
              <a:spcAft>
                <a:spcPts val="400"/>
              </a:spcAft>
            </a:pPr>
            <a:r>
              <a:rPr sz="1300" b="0">
                <a:solidFill>
                  <a:srgbClr val="1C2B27"/>
                </a:solidFill>
                <a:latin typeface="Meiryo UI"/>
              </a:rPr>
              <a:t>まだどの利用者にも紐づいていない、または当月の売上に対応が見つからない仕入データが表示されます。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INLINE EDIT</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インライン紐づけ編集</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691640"/>
            <a:ext cx="10881360" cy="365760"/>
          </a:xfrm>
          <a:prstGeom prst="rect">
            <a:avLst/>
          </a:prstGeom>
          <a:noFill/>
        </p:spPr>
        <p:txBody>
          <a:bodyPr wrap="square" anchor="t">
            <a:spAutoFit/>
          </a:bodyPr>
          <a:lstStyle/>
          <a:p>
            <a:pPr algn="l"/>
            <a:r>
              <a:rPr sz="1350" b="0">
                <a:solidFill>
                  <a:srgbClr val="5B6E68"/>
                </a:solidFill>
                <a:latin typeface="Meiryo UI"/>
              </a:rPr>
              <a:t>CSV出力→修正→再インポートの手間なく、画面上でそのまま紐づけを直せます。</a:t>
            </a:r>
          </a:p>
        </p:txBody>
      </p:sp>
      <p:sp>
        <p:nvSpPr>
          <p:cNvPr id="9" name="Rectangle 8"/>
          <p:cNvSpPr/>
          <p:nvPr/>
        </p:nvSpPr>
        <p:spPr>
          <a:xfrm>
            <a:off x="640080" y="2194560"/>
            <a:ext cx="10881360" cy="54864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4114800" cy="548640"/>
          </a:xfrm>
          <a:prstGeom prst="rect">
            <a:avLst/>
          </a:prstGeom>
          <a:noFill/>
        </p:spPr>
        <p:txBody>
          <a:bodyPr wrap="square" anchor="ctr">
            <a:spAutoFit/>
          </a:bodyPr>
          <a:lstStyle/>
          <a:p>
            <a:pPr algn="l"/>
            <a:r>
              <a:rPr sz="1200" b="0">
                <a:solidFill>
                  <a:srgbClr val="1C2B27"/>
                </a:solidFill>
                <a:latin typeface="Meiryo UI"/>
              </a:rPr>
              <a:t>瓜生健次様 → 瓜生 健次 (9155)</a:t>
            </a:r>
          </a:p>
        </p:txBody>
      </p:sp>
      <p:sp>
        <p:nvSpPr>
          <p:cNvPr id="11" name="TextBox 10"/>
          <p:cNvSpPr txBox="1"/>
          <p:nvPr/>
        </p:nvSpPr>
        <p:spPr>
          <a:xfrm>
            <a:off x="5120640" y="2194560"/>
            <a:ext cx="914400" cy="548640"/>
          </a:xfrm>
          <a:prstGeom prst="rect">
            <a:avLst/>
          </a:prstGeom>
          <a:noFill/>
        </p:spPr>
        <p:txBody>
          <a:bodyPr wrap="square" anchor="ctr">
            <a:spAutoFit/>
          </a:bodyPr>
          <a:lstStyle/>
          <a:p>
            <a:pPr algn="r"/>
            <a:r>
              <a:rPr sz="1200" b="0">
                <a:solidFill>
                  <a:srgbClr val="1C2B27"/>
                </a:solidFill>
                <a:latin typeface="Meiryo UI"/>
              </a:rPr>
              <a:t>¥0</a:t>
            </a:r>
          </a:p>
        </p:txBody>
      </p:sp>
      <p:sp>
        <p:nvSpPr>
          <p:cNvPr id="12" name="TextBox 11"/>
          <p:cNvSpPr txBox="1"/>
          <p:nvPr/>
        </p:nvSpPr>
        <p:spPr>
          <a:xfrm>
            <a:off x="6217920" y="2194560"/>
            <a:ext cx="2560320" cy="548640"/>
          </a:xfrm>
          <a:prstGeom prst="rect">
            <a:avLst/>
          </a:prstGeom>
          <a:noFill/>
        </p:spPr>
        <p:txBody>
          <a:bodyPr wrap="square" anchor="ctr">
            <a:spAutoFit/>
          </a:bodyPr>
          <a:lstStyle/>
          <a:p>
            <a:pPr algn="l"/>
            <a:r>
              <a:rPr sz="1100" b="0">
                <a:solidFill>
                  <a:srgbClr val="5B6E68"/>
                </a:solidFill>
                <a:latin typeface="Meiryo UI"/>
              </a:rPr>
              <a:t>日建リース工業株式会社</a:t>
            </a:r>
          </a:p>
        </p:txBody>
      </p:sp>
      <p:sp>
        <p:nvSpPr>
          <p:cNvPr id="13" name="Rectangle 12"/>
          <p:cNvSpPr/>
          <p:nvPr/>
        </p:nvSpPr>
        <p:spPr>
          <a:xfrm>
            <a:off x="8961120" y="2313432"/>
            <a:ext cx="822960" cy="32004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2313432"/>
            <a:ext cx="822960" cy="320040"/>
          </a:xfrm>
          <a:prstGeom prst="rect">
            <a:avLst/>
          </a:prstGeom>
          <a:noFill/>
        </p:spPr>
        <p:txBody>
          <a:bodyPr wrap="square" anchor="ctr">
            <a:spAutoFit/>
          </a:bodyPr>
          <a:lstStyle/>
          <a:p>
            <a:pPr algn="ctr"/>
            <a:r>
              <a:rPr sz="1050" b="1">
                <a:solidFill>
                  <a:srgbClr val="166534"/>
                </a:solidFill>
                <a:latin typeface="Meiryo UI"/>
              </a:rPr>
              <a:t>変更</a:t>
            </a:r>
          </a:p>
        </p:txBody>
      </p:sp>
      <p:sp>
        <p:nvSpPr>
          <p:cNvPr id="15" name="Rectangle 14"/>
          <p:cNvSpPr/>
          <p:nvPr/>
        </p:nvSpPr>
        <p:spPr>
          <a:xfrm>
            <a:off x="9875520" y="2313432"/>
            <a:ext cx="914400" cy="320040"/>
          </a:xfrm>
          <a:prstGeom prst="rect">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0" y="2313432"/>
            <a:ext cx="914400" cy="320040"/>
          </a:xfrm>
          <a:prstGeom prst="rect">
            <a:avLst/>
          </a:prstGeom>
          <a:noFill/>
        </p:spPr>
        <p:txBody>
          <a:bodyPr wrap="square" anchor="ctr">
            <a:spAutoFit/>
          </a:bodyPr>
          <a:lstStyle/>
          <a:p>
            <a:pPr algn="ctr"/>
            <a:r>
              <a:rPr sz="1050" b="1">
                <a:solidFill>
                  <a:srgbClr val="B45309"/>
                </a:solidFill>
                <a:latin typeface="Meiryo UI"/>
              </a:rPr>
              <a:t>対象月</a:t>
            </a:r>
          </a:p>
        </p:txBody>
      </p:sp>
      <p:graphicFrame>
        <p:nvGraphicFramePr>
          <p:cNvPr id="17" name="Table 16"/>
          <p:cNvGraphicFramePr>
            <a:graphicFrameLocks noGrp="1"/>
          </p:cNvGraphicFramePr>
          <p:nvPr/>
        </p:nvGraphicFramePr>
        <p:xfrm>
          <a:off x="640080" y="2971800"/>
          <a:ext cx="10881360" cy="1737360"/>
        </p:xfrm>
        <a:graphic>
          <a:graphicData uri="http://schemas.openxmlformats.org/drawingml/2006/table">
            <a:tbl>
              <a:tblPr>
                <a:tableStyleId>{5C22544A-7EE6-4342-B048-85BDC9FD1C3A}</a:tableStyleId>
              </a:tblPr>
              <a:tblGrid>
                <a:gridCol w="1828800"/>
                <a:gridCol w="3108960"/>
                <a:gridCol w="5943600"/>
              </a:tblGrid>
              <a:tr h="434340">
                <a:tc>
                  <a:txBody>
                    <a:bodyPr wrap="square"/>
                    <a:lstStyle/>
                    <a:p>
                      <a:pPr algn="l"/>
                      <a:r>
                        <a:rPr sz="1250" b="1">
                          <a:solidFill>
                            <a:srgbClr val="FFFFFF"/>
                          </a:solidFill>
                          <a:latin typeface="Meiryo UI"/>
                        </a:rPr>
                        <a:t>タブ</a:t>
                      </a:r>
                    </a:p>
                  </a:txBody>
                  <a:tcPr anchor="ctr" marL="91440" marR="73152" marT="27432" marB="27432">
                    <a:solidFill>
                      <a:srgbClr val="0E8A78"/>
                    </a:solidFill>
                  </a:tcPr>
                </a:tc>
                <a:tc>
                  <a:txBody>
                    <a:bodyPr wrap="square"/>
                    <a:lstStyle/>
                    <a:p>
                      <a:pPr algn="l"/>
                      <a:r>
                        <a:rPr sz="1250" b="1">
                          <a:solidFill>
                            <a:srgbClr val="FFFFFF"/>
                          </a:solidFill>
                          <a:latin typeface="Meiryo UI"/>
                        </a:rPr>
                        <a:t>操作</a:t>
                      </a:r>
                    </a:p>
                  </a:txBody>
                  <a:tcPr anchor="ctr" marL="91440" marR="73152" marT="27432" marB="27432">
                    <a:solidFill>
                      <a:srgbClr val="0E8A78"/>
                    </a:solidFill>
                  </a:tcPr>
                </a:tc>
                <a:tc>
                  <a:txBody>
                    <a:bodyPr wrap="square"/>
                    <a:lstStyle/>
                    <a:p>
                      <a:pPr algn="l"/>
                      <a:r>
                        <a:rPr sz="1250" b="1">
                          <a:solidFill>
                            <a:srgbClr val="FFFFFF"/>
                          </a:solidFill>
                          <a:latin typeface="Meiryo UI"/>
                        </a:rPr>
                        <a:t>できること</a:t>
                      </a:r>
                    </a:p>
                  </a:txBody>
                  <a:tcPr anchor="ctr" marL="91440" marR="73152" marT="27432" marB="27432">
                    <a:solidFill>
                      <a:srgbClr val="0E8A78"/>
                    </a:solidFill>
                  </a:tcPr>
                </a:tc>
              </a:tr>
              <a:tr h="434340">
                <a:tc>
                  <a:txBody>
                    <a:bodyPr wrap="square"/>
                    <a:lstStyle/>
                    <a:p>
                      <a:pPr algn="l"/>
                      <a:r>
                        <a:rPr sz="1250" b="1">
                          <a:solidFill>
                            <a:srgbClr val="1C2B27"/>
                          </a:solidFill>
                          <a:latin typeface="Meiryo UI"/>
                        </a:rPr>
                        <a:t>仕入のみ</a:t>
                      </a:r>
                    </a:p>
                  </a:txBody>
                  <a:tcPr anchor="ctr" marL="91440" marR="73152" marT="27432" marB="27432">
                    <a:solidFill>
                      <a:srgbClr val="FFFFFF"/>
                    </a:solidFill>
                  </a:tcPr>
                </a:tc>
                <a:tc>
                  <a:txBody>
                    <a:bodyPr wrap="square"/>
                    <a:lstStyle/>
                    <a:p>
                      <a:pPr algn="l"/>
                      <a:r>
                        <a:rPr sz="1250" b="0">
                          <a:solidFill>
                            <a:srgbClr val="1C2B27"/>
                          </a:solidFill>
                          <a:latin typeface="Meiryo UI"/>
                        </a:rPr>
                        <a:t>「紐づけ」／「変更」ボタン</a:t>
                      </a:r>
                    </a:p>
                  </a:txBody>
                  <a:tcPr anchor="ctr" marL="91440" marR="73152" marT="27432" marB="27432">
                    <a:solidFill>
                      <a:srgbClr val="FFFFFF"/>
                    </a:solidFill>
                  </a:tcPr>
                </a:tc>
                <a:tc>
                  <a:txBody>
                    <a:bodyPr wrap="square"/>
                    <a:lstStyle/>
                    <a:p>
                      <a:pPr algn="l"/>
                      <a:r>
                        <a:rPr sz="1250" b="0">
                          <a:solidFill>
                            <a:srgbClr val="1C2B27"/>
                          </a:solidFill>
                          <a:latin typeface="Meiryo UI"/>
                        </a:rPr>
                        <a:t>未紐づけの仕入を利用者に紐づける。紐づけ済みは「変更」（緑）で変更・解除</a:t>
                      </a:r>
                    </a:p>
                  </a:txBody>
                  <a:tcPr anchor="ctr" marL="91440" marR="73152" marT="27432" marB="27432">
                    <a:solidFill>
                      <a:srgbClr val="FFFFFF"/>
                    </a:solidFill>
                  </a:tcPr>
                </a:tc>
              </a:tr>
              <a:tr h="434340">
                <a:tc>
                  <a:txBody>
                    <a:bodyPr wrap="square"/>
                    <a:lstStyle/>
                    <a:p>
                      <a:pPr algn="l"/>
                      <a:r>
                        <a:rPr sz="1250" b="1">
                          <a:solidFill>
                            <a:srgbClr val="1C2B27"/>
                          </a:solidFill>
                          <a:latin typeface="Meiryo UI"/>
                        </a:rPr>
                        <a:t>突合済み</a:t>
                      </a:r>
                    </a:p>
                  </a:txBody>
                  <a:tcPr anchor="ctr" marL="91440" marR="73152" marT="27432" marB="27432">
                    <a:solidFill>
                      <a:srgbClr val="E2F0EC"/>
                    </a:solidFill>
                  </a:tcPr>
                </a:tc>
                <a:tc>
                  <a:txBody>
                    <a:bodyPr wrap="square"/>
                    <a:lstStyle/>
                    <a:p>
                      <a:pPr algn="l"/>
                      <a:r>
                        <a:rPr sz="1250" b="0">
                          <a:solidFill>
                            <a:srgbClr val="1C2B27"/>
                          </a:solidFill>
                          <a:latin typeface="Meiryo UI"/>
                        </a:rPr>
                        <a:t>鉛筆アイコン</a:t>
                      </a:r>
                    </a:p>
                  </a:txBody>
                  <a:tcPr anchor="ctr" marL="91440" marR="73152" marT="27432" marB="27432">
                    <a:solidFill>
                      <a:srgbClr val="E2F0EC"/>
                    </a:solidFill>
                  </a:tcPr>
                </a:tc>
                <a:tc>
                  <a:txBody>
                    <a:bodyPr wrap="square"/>
                    <a:lstStyle/>
                    <a:p>
                      <a:pPr algn="l"/>
                      <a:r>
                        <a:rPr sz="1250" b="0">
                          <a:solidFill>
                            <a:srgbClr val="1C2B27"/>
                          </a:solidFill>
                          <a:latin typeface="Meiryo UI"/>
                        </a:rPr>
                        <a:t>紐づけの変更・解除</a:t>
                      </a:r>
                    </a:p>
                  </a:txBody>
                  <a:tcPr anchor="ctr" marL="91440" marR="73152" marT="27432" marB="27432">
                    <a:solidFill>
                      <a:srgbClr val="E2F0EC"/>
                    </a:solidFill>
                  </a:tcPr>
                </a:tc>
              </a:tr>
              <a:tr h="434340">
                <a:tc>
                  <a:txBody>
                    <a:bodyPr wrap="square"/>
                    <a:lstStyle/>
                    <a:p>
                      <a:pPr algn="l"/>
                      <a:r>
                        <a:rPr sz="1250" b="1">
                          <a:solidFill>
                            <a:srgbClr val="1C2B27"/>
                          </a:solidFill>
                          <a:latin typeface="Meiryo UI"/>
                        </a:rPr>
                        <a:t>売上のみ</a:t>
                      </a:r>
                    </a:p>
                  </a:txBody>
                  <a:tcPr anchor="ctr" marL="91440" marR="73152" marT="27432" marB="27432">
                    <a:solidFill>
                      <a:srgbClr val="FFFFFF"/>
                    </a:solidFill>
                  </a:tcPr>
                </a:tc>
                <a:tc>
                  <a:txBody>
                    <a:bodyPr wrap="square"/>
                    <a:lstStyle/>
                    <a:p>
                      <a:pPr algn="l"/>
                      <a:r>
                        <a:rPr sz="1250" b="0">
                          <a:solidFill>
                            <a:srgbClr val="1C2B27"/>
                          </a:solidFill>
                          <a:latin typeface="Meiryo UI"/>
                        </a:rPr>
                        <a:t>「仕入紐づけ」ボタン</a:t>
                      </a:r>
                    </a:p>
                  </a:txBody>
                  <a:tcPr anchor="ctr" marL="91440" marR="73152" marT="27432" marB="27432">
                    <a:solidFill>
                      <a:srgbClr val="FFFFFF"/>
                    </a:solidFill>
                  </a:tcPr>
                </a:tc>
                <a:tc>
                  <a:txBody>
                    <a:bodyPr wrap="square"/>
                    <a:lstStyle/>
                    <a:p>
                      <a:pPr algn="l"/>
                      <a:r>
                        <a:rPr sz="1250" b="0">
                          <a:solidFill>
                            <a:srgbClr val="1C2B27"/>
                          </a:solidFill>
                          <a:latin typeface="Meiryo UI"/>
                        </a:rPr>
                        <a:t>売上に対応する仕入データを手動で選択</a:t>
                      </a:r>
                    </a:p>
                  </a:txBody>
                  <a:tcPr anchor="ctr" marL="91440" marR="73152" marT="27432" marB="27432">
                    <a:solidFill>
                      <a:srgbClr val="FFFFFF"/>
                    </a:solidFill>
                  </a:tcPr>
                </a:tc>
              </a:tr>
            </a:tbl>
          </a:graphicData>
        </a:graphic>
      </p:graphicFrame>
      <p:sp>
        <p:nvSpPr>
          <p:cNvPr id="18" name="Rectangle 17"/>
          <p:cNvSpPr/>
          <p:nvPr/>
        </p:nvSpPr>
        <p:spPr>
          <a:xfrm>
            <a:off x="640080" y="4892040"/>
            <a:ext cx="10881360" cy="105156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892040"/>
            <a:ext cx="73152" cy="105156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01768"/>
            <a:ext cx="10515600" cy="868680"/>
          </a:xfrm>
          <a:prstGeom prst="rect">
            <a:avLst/>
          </a:prstGeom>
          <a:noFill/>
        </p:spPr>
        <p:txBody>
          <a:bodyPr wrap="square">
            <a:spAutoFit/>
          </a:bodyPr>
          <a:lstStyle/>
          <a:p>
            <a:pPr algn="l">
              <a:lnSpc>
                <a:spcPct val="125000"/>
              </a:lnSpc>
              <a:spcAft>
                <a:spcPts val="400"/>
              </a:spcAft>
            </a:pPr>
            <a:r>
              <a:rPr sz="1300" b="1">
                <a:solidFill>
                  <a:srgbClr val="E2714A"/>
                </a:solidFill>
                <a:latin typeface="Meiryo UI"/>
              </a:rPr>
              <a:t>🔒 確定済みの卸会社は編集不可</a:t>
            </a:r>
          </a:p>
          <a:p>
            <a:pPr algn="l">
              <a:lnSpc>
                <a:spcPct val="125000"/>
              </a:lnSpc>
              <a:spcAft>
                <a:spcPts val="400"/>
              </a:spcAft>
            </a:pPr>
            <a:r>
              <a:rPr sz="1300" b="0">
                <a:solidFill>
                  <a:srgbClr val="1C2B27"/>
                </a:solidFill>
                <a:latin typeface="Meiryo UI"/>
              </a:rPr>
              <a:t>その卸会社の請求書が「確定済み」の間はボタンが薄いグレーで押せません。先に「請求書アップロード」タブで「解除」を押してください。解除しても請求書の金額データは消えません。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B45309"/>
                </a:solidFill>
                <a:latin typeface="Meiryo UI"/>
              </a:rPr>
              <a:t>TARGET MONTH</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対象月度タグ（月をまたぐ遅れ請求）</a:t>
            </a:r>
          </a:p>
        </p:txBody>
      </p:sp>
      <p:sp>
        <p:nvSpPr>
          <p:cNvPr id="6" name="Rectangle 5"/>
          <p:cNvSpPr/>
          <p:nvPr/>
        </p:nvSpPr>
        <p:spPr>
          <a:xfrm>
            <a:off x="640080" y="1444752"/>
            <a:ext cx="128016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691640"/>
            <a:ext cx="10881360" cy="548640"/>
          </a:xfrm>
          <a:prstGeom prst="rect">
            <a:avLst/>
          </a:prstGeom>
          <a:noFill/>
        </p:spPr>
        <p:txBody>
          <a:bodyPr wrap="square" anchor="t">
            <a:spAutoFit/>
          </a:bodyPr>
          <a:lstStyle/>
          <a:p>
            <a:pPr algn="l"/>
            <a:r>
              <a:rPr sz="1300" b="0">
                <a:solidFill>
                  <a:srgbClr val="5B6E68"/>
                </a:solidFill>
                <a:latin typeface="Meiryo UI"/>
              </a:rPr>
              <a:t>卸会社が前月以前の売上分をまとめて今月の請求書に含めてくることがあります。品目ごとに「本来の対象月度」を指定できる機能です。</a:t>
            </a:r>
          </a:p>
        </p:txBody>
      </p:sp>
      <p:sp>
        <p:nvSpPr>
          <p:cNvPr id="9" name="Rectangle 8"/>
          <p:cNvSpPr/>
          <p:nvPr/>
        </p:nvSpPr>
        <p:spPr>
          <a:xfrm>
            <a:off x="640080" y="2377440"/>
            <a:ext cx="5312664" cy="1737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68880"/>
            <a:ext cx="914400" cy="685800"/>
          </a:xfrm>
          <a:prstGeom prst="rect">
            <a:avLst/>
          </a:prstGeom>
          <a:noFill/>
        </p:spPr>
        <p:txBody>
          <a:bodyPr wrap="square" anchor="t">
            <a:spAutoFit/>
          </a:bodyPr>
          <a:lstStyle/>
          <a:p>
            <a:pPr algn="l"/>
            <a:r>
              <a:rPr sz="3200" b="1">
                <a:solidFill>
                  <a:srgbClr val="0E8A78"/>
                </a:solidFill>
                <a:latin typeface="Meiryo UI"/>
              </a:rPr>
              <a:t>1</a:t>
            </a:r>
          </a:p>
        </p:txBody>
      </p:sp>
      <p:sp>
        <p:nvSpPr>
          <p:cNvPr id="11" name="TextBox 10"/>
          <p:cNvSpPr txBox="1"/>
          <p:nvPr/>
        </p:nvSpPr>
        <p:spPr>
          <a:xfrm>
            <a:off x="822959" y="3154680"/>
            <a:ext cx="4946904" cy="502920"/>
          </a:xfrm>
          <a:prstGeom prst="rect">
            <a:avLst/>
          </a:prstGeom>
          <a:noFill/>
        </p:spPr>
        <p:txBody>
          <a:bodyPr wrap="square" anchor="t">
            <a:spAutoFit/>
          </a:bodyPr>
          <a:lstStyle/>
          <a:p>
            <a:pPr algn="l"/>
            <a:r>
              <a:rPr sz="1350" b="1">
                <a:solidFill>
                  <a:srgbClr val="1C2B27"/>
                </a:solidFill>
                <a:latin typeface="Meiryo UI"/>
              </a:rPr>
              <a:t>「対象月」ボタンを押す</a:t>
            </a:r>
          </a:p>
        </p:txBody>
      </p:sp>
      <p:sp>
        <p:nvSpPr>
          <p:cNvPr id="12" name="TextBox 11"/>
          <p:cNvSpPr txBox="1"/>
          <p:nvPr/>
        </p:nvSpPr>
        <p:spPr>
          <a:xfrm>
            <a:off x="822959" y="3611880"/>
            <a:ext cx="4946904" cy="411479"/>
          </a:xfrm>
          <a:prstGeom prst="rect">
            <a:avLst/>
          </a:prstGeom>
          <a:noFill/>
        </p:spPr>
        <p:txBody>
          <a:bodyPr wrap="square" anchor="t">
            <a:spAutoFit/>
          </a:bodyPr>
          <a:lstStyle/>
          <a:p>
            <a:pPr algn="l"/>
            <a:r>
              <a:rPr sz="1100" b="0">
                <a:solidFill>
                  <a:srgbClr val="5B6E68"/>
                </a:solidFill>
                <a:latin typeface="Meiryo UI"/>
              </a:rPr>
              <a:t>「仕入のみ」タブの行にある黄色い「対象月」ボタンを押すと、月選択の入力欄が現れます。</a:t>
            </a:r>
          </a:p>
        </p:txBody>
      </p:sp>
      <p:sp>
        <p:nvSpPr>
          <p:cNvPr id="13" name="Rectangle 12"/>
          <p:cNvSpPr/>
          <p:nvPr/>
        </p:nvSpPr>
        <p:spPr>
          <a:xfrm>
            <a:off x="6208776" y="2377440"/>
            <a:ext cx="5312664" cy="1737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1656" y="2468880"/>
            <a:ext cx="914400" cy="685800"/>
          </a:xfrm>
          <a:prstGeom prst="rect">
            <a:avLst/>
          </a:prstGeom>
          <a:noFill/>
        </p:spPr>
        <p:txBody>
          <a:bodyPr wrap="square" anchor="t">
            <a:spAutoFit/>
          </a:bodyPr>
          <a:lstStyle/>
          <a:p>
            <a:pPr algn="l"/>
            <a:r>
              <a:rPr sz="3200" b="1">
                <a:solidFill>
                  <a:srgbClr val="0E8A78"/>
                </a:solidFill>
                <a:latin typeface="Meiryo UI"/>
              </a:rPr>
              <a:t>2</a:t>
            </a:r>
          </a:p>
        </p:txBody>
      </p:sp>
      <p:sp>
        <p:nvSpPr>
          <p:cNvPr id="15" name="TextBox 14"/>
          <p:cNvSpPr txBox="1"/>
          <p:nvPr/>
        </p:nvSpPr>
        <p:spPr>
          <a:xfrm>
            <a:off x="6391656" y="3154680"/>
            <a:ext cx="4946904" cy="502920"/>
          </a:xfrm>
          <a:prstGeom prst="rect">
            <a:avLst/>
          </a:prstGeom>
          <a:noFill/>
        </p:spPr>
        <p:txBody>
          <a:bodyPr wrap="square" anchor="t">
            <a:spAutoFit/>
          </a:bodyPr>
          <a:lstStyle/>
          <a:p>
            <a:pPr algn="l"/>
            <a:r>
              <a:rPr sz="1350" b="1">
                <a:solidFill>
                  <a:srgbClr val="1C2B27"/>
                </a:solidFill>
                <a:latin typeface="Meiryo UI"/>
              </a:rPr>
              <a:t>本来の月度を選ぶ</a:t>
            </a:r>
          </a:p>
        </p:txBody>
      </p:sp>
      <p:sp>
        <p:nvSpPr>
          <p:cNvPr id="16" name="TextBox 15"/>
          <p:cNvSpPr txBox="1"/>
          <p:nvPr/>
        </p:nvSpPr>
        <p:spPr>
          <a:xfrm>
            <a:off x="6391656" y="3611880"/>
            <a:ext cx="4946904" cy="411479"/>
          </a:xfrm>
          <a:prstGeom prst="rect">
            <a:avLst/>
          </a:prstGeom>
          <a:noFill/>
        </p:spPr>
        <p:txBody>
          <a:bodyPr wrap="square" anchor="t">
            <a:spAutoFit/>
          </a:bodyPr>
          <a:lstStyle/>
          <a:p>
            <a:pPr algn="l"/>
            <a:r>
              <a:rPr sz="1100" b="0">
                <a:solidFill>
                  <a:srgbClr val="5B6E68"/>
                </a:solidFill>
                <a:latin typeface="Meiryo UI"/>
              </a:rPr>
              <a:t>例：今月（6月）にアップロードされた請求書だが、実際は5月分の売上に対する請求なら「2026年05月」を選びます。</a:t>
            </a:r>
          </a:p>
        </p:txBody>
      </p:sp>
      <p:sp>
        <p:nvSpPr>
          <p:cNvPr id="17" name="Rectangle 16"/>
          <p:cNvSpPr/>
          <p:nvPr/>
        </p:nvSpPr>
        <p:spPr>
          <a:xfrm>
            <a:off x="640080" y="4297680"/>
            <a:ext cx="10881360" cy="86868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297680"/>
            <a:ext cx="73152" cy="86868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407408"/>
            <a:ext cx="10424160" cy="731520"/>
          </a:xfrm>
          <a:prstGeom prst="rect">
            <a:avLst/>
          </a:prstGeom>
          <a:noFill/>
        </p:spPr>
        <p:txBody>
          <a:bodyPr wrap="square">
            <a:spAutoFit/>
          </a:bodyPr>
          <a:lstStyle/>
          <a:p>
            <a:pPr algn="l">
              <a:lnSpc>
                <a:spcPct val="125000"/>
              </a:lnSpc>
              <a:spcAft>
                <a:spcPts val="400"/>
              </a:spcAft>
            </a:pPr>
            <a:r>
              <a:rPr sz="1250" b="1">
                <a:solidFill>
                  <a:srgbClr val="0E8A78"/>
                </a:solidFill>
                <a:latin typeface="Meiryo UI"/>
              </a:rPr>
              <a:t>設定すると利用者名の横に「対象:2026年05月」バッジが表示されます。</a:t>
            </a:r>
          </a:p>
          <a:p>
            <a:pPr algn="l">
              <a:lnSpc>
                <a:spcPct val="125000"/>
              </a:lnSpc>
              <a:spcAft>
                <a:spcPts val="400"/>
              </a:spcAft>
            </a:pPr>
            <a:r>
              <a:rPr sz="1250" b="0">
                <a:solidFill>
                  <a:srgbClr val="1C2B27"/>
                </a:solidFill>
                <a:latin typeface="Meiryo UI"/>
              </a:rPr>
              <a:t>「販売」「自費レンタル」の利用者別突合セクションでは、その月の売上データも合算して差額を再計算します。今月の請求書合計は変わりません。</a:t>
            </a:r>
          </a:p>
        </p:txBody>
      </p:sp>
      <p:sp>
        <p:nvSpPr>
          <p:cNvPr id="20" name="Rectangle 19"/>
          <p:cNvSpPr/>
          <p:nvPr/>
        </p:nvSpPr>
        <p:spPr>
          <a:xfrm>
            <a:off x="640080" y="5303520"/>
            <a:ext cx="10881360" cy="118872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5303520"/>
            <a:ext cx="73152" cy="118872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413248"/>
            <a:ext cx="10424160" cy="1051560"/>
          </a:xfrm>
          <a:prstGeom prst="rect">
            <a:avLst/>
          </a:prstGeom>
          <a:noFill/>
        </p:spPr>
        <p:txBody>
          <a:bodyPr wrap="square">
            <a:spAutoFit/>
          </a:bodyPr>
          <a:lstStyle/>
          <a:p>
            <a:pPr algn="l">
              <a:lnSpc>
                <a:spcPct val="125000"/>
              </a:lnSpc>
              <a:spcAft>
                <a:spcPts val="400"/>
              </a:spcAft>
            </a:pPr>
            <a:r>
              <a:rPr sz="1200" b="1">
                <a:solidFill>
                  <a:srgbClr val="E2714A"/>
                </a:solidFill>
                <a:latin typeface="Meiryo UI"/>
              </a:rPr>
              <a:t>⚠ 2つの制約：①対象月度側の画面を直接開いても自動では表示されません（アップロードした月の画面で処理した場合のみ正しく見える）</a:t>
            </a:r>
          </a:p>
          <a:p>
            <a:pPr algn="l">
              <a:lnSpc>
                <a:spcPct val="125000"/>
              </a:lnSpc>
              <a:spcAft>
                <a:spcPts val="400"/>
              </a:spcAft>
            </a:pPr>
            <a:r>
              <a:rPr sz="1200" b="0">
                <a:solidFill>
                  <a:srgbClr val="1C2B27"/>
                </a:solidFill>
                <a:latin typeface="Meiryo UI"/>
              </a:rPr>
              <a:t>②介護保険レンタルの給付対象金額は毎月上書きされる単一値のため、過去月の正確な金額を遡って再現できません。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CLIENT SECTIONS</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利用者別突合セクション（1）対象条件</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691640"/>
            <a:ext cx="10881360" cy="457200"/>
          </a:xfrm>
          <a:prstGeom prst="rect">
            <a:avLst/>
          </a:prstGeom>
          <a:noFill/>
        </p:spPr>
        <p:txBody>
          <a:bodyPr wrap="square" anchor="t">
            <a:spAutoFit/>
          </a:bodyPr>
          <a:lstStyle/>
          <a:p>
            <a:pPr algn="l"/>
            <a:r>
              <a:rPr sz="1350" b="0">
                <a:solidFill>
                  <a:srgbClr val="5B6E68"/>
                </a:solidFill>
                <a:latin typeface="Meiryo UI"/>
              </a:rPr>
              <a:t>突合結果タブの下部に、3種類の専用セクションが表示されます。実務ではここが突合作業の中心です。</a:t>
            </a:r>
          </a:p>
        </p:txBody>
      </p:sp>
      <p:graphicFrame>
        <p:nvGraphicFramePr>
          <p:cNvPr id="9" name="Table 8"/>
          <p:cNvGraphicFramePr>
            <a:graphicFrameLocks noGrp="1"/>
          </p:cNvGraphicFramePr>
          <p:nvPr/>
        </p:nvGraphicFramePr>
        <p:xfrm>
          <a:off x="640080" y="2286000"/>
          <a:ext cx="10881360" cy="1737360"/>
        </p:xfrm>
        <a:graphic>
          <a:graphicData uri="http://schemas.openxmlformats.org/drawingml/2006/table">
            <a:tbl>
              <a:tblPr>
                <a:tableStyleId>{5C22544A-7EE6-4342-B048-85BDC9FD1C3A}</a:tableStyleId>
              </a:tblPr>
              <a:tblGrid>
                <a:gridCol w="2743200"/>
                <a:gridCol w="1554480"/>
                <a:gridCol w="6583680"/>
              </a:tblGrid>
              <a:tr h="434340">
                <a:tc>
                  <a:txBody>
                    <a:bodyPr wrap="square"/>
                    <a:lstStyle/>
                    <a:p>
                      <a:pPr algn="l"/>
                      <a:r>
                        <a:rPr sz="1300" b="1">
                          <a:solidFill>
                            <a:srgbClr val="FFFFFF"/>
                          </a:solidFill>
                          <a:latin typeface="Meiryo UI"/>
                        </a:rPr>
                        <a:t>セクション</a:t>
                      </a:r>
                    </a:p>
                  </a:txBody>
                  <a:tcPr anchor="ctr" marL="91440" marR="73152" marT="27432" marB="27432">
                    <a:solidFill>
                      <a:srgbClr val="0E8A78"/>
                    </a:solidFill>
                  </a:tcPr>
                </a:tc>
                <a:tc>
                  <a:txBody>
                    <a:bodyPr wrap="square"/>
                    <a:lstStyle/>
                    <a:p>
                      <a:pPr algn="l"/>
                      <a:r>
                        <a:rPr sz="1300" b="1">
                          <a:solidFill>
                            <a:srgbClr val="FFFFFF"/>
                          </a:solidFill>
                          <a:latin typeface="Meiryo UI"/>
                        </a:rPr>
                        <a:t>色</a:t>
                      </a:r>
                    </a:p>
                  </a:txBody>
                  <a:tcPr anchor="ctr" marL="91440" marR="73152" marT="27432" marB="27432">
                    <a:solidFill>
                      <a:srgbClr val="0E8A78"/>
                    </a:solidFill>
                  </a:tcPr>
                </a:tc>
                <a:tc>
                  <a:txBody>
                    <a:bodyPr wrap="square"/>
                    <a:lstStyle/>
                    <a:p>
                      <a:pPr algn="l"/>
                      <a:r>
                        <a:rPr sz="1300" b="1">
                          <a:solidFill>
                            <a:srgbClr val="FFFFFF"/>
                          </a:solidFill>
                          <a:latin typeface="Meiryo UI"/>
                        </a:rPr>
                        <a:t>対象利用者</a:t>
                      </a:r>
                    </a:p>
                  </a:txBody>
                  <a:tcPr anchor="ctr" marL="91440" marR="73152" marT="27432" marB="27432">
                    <a:solidFill>
                      <a:srgbClr val="0E8A78"/>
                    </a:solidFill>
                  </a:tcPr>
                </a:tc>
              </a:tr>
              <a:tr h="434340">
                <a:tc>
                  <a:txBody>
                    <a:bodyPr wrap="square"/>
                    <a:lstStyle/>
                    <a:p>
                      <a:pPr algn="l"/>
                      <a:r>
                        <a:rPr sz="1300" b="1">
                          <a:solidFill>
                            <a:srgbClr val="1C2B27"/>
                          </a:solidFill>
                          <a:latin typeface="Meiryo UI"/>
                        </a:rPr>
                        <a:t>介護保険レンタル</a:t>
                      </a:r>
                    </a:p>
                  </a:txBody>
                  <a:tcPr anchor="ctr" marL="91440" marR="73152" marT="27432" marB="27432">
                    <a:solidFill>
                      <a:srgbClr val="FFFFFF"/>
                    </a:solidFill>
                  </a:tcPr>
                </a:tc>
                <a:tc>
                  <a:txBody>
                    <a:bodyPr wrap="square"/>
                    <a:lstStyle/>
                    <a:p>
                      <a:pPr algn="l"/>
                      <a:r>
                        <a:rPr sz="1300" b="0">
                          <a:solidFill>
                            <a:srgbClr val="1C2B27"/>
                          </a:solidFill>
                          <a:latin typeface="Meiryo UI"/>
                        </a:rPr>
                        <a:t>青</a:t>
                      </a:r>
                    </a:p>
                  </a:txBody>
                  <a:tcPr anchor="ctr" marL="91440" marR="73152" marT="27432" marB="27432">
                    <a:solidFill>
                      <a:srgbClr val="FFFFFF"/>
                    </a:solidFill>
                  </a:tcPr>
                </a:tc>
                <a:tc>
                  <a:txBody>
                    <a:bodyPr wrap="square"/>
                    <a:lstStyle/>
                    <a:p>
                      <a:pPr algn="l"/>
                      <a:r>
                        <a:rPr sz="1300" b="0">
                          <a:solidFill>
                            <a:srgbClr val="1C2B27"/>
                          </a:solidFill>
                          <a:latin typeface="Meiryo UI"/>
                        </a:rPr>
                        <a:t>当月アクティブな介護保険レンタルがある利用者（＋対象月度タグ分）</a:t>
                      </a:r>
                    </a:p>
                  </a:txBody>
                  <a:tcPr anchor="ctr" marL="91440" marR="73152" marT="27432" marB="27432">
                    <a:solidFill>
                      <a:srgbClr val="FFFFFF"/>
                    </a:solidFill>
                  </a:tcPr>
                </a:tc>
              </a:tr>
              <a:tr h="434340">
                <a:tc>
                  <a:txBody>
                    <a:bodyPr wrap="square"/>
                    <a:lstStyle/>
                    <a:p>
                      <a:pPr algn="l"/>
                      <a:r>
                        <a:rPr sz="1300" b="1">
                          <a:solidFill>
                            <a:srgbClr val="1C2B27"/>
                          </a:solidFill>
                          <a:latin typeface="Meiryo UI"/>
                        </a:rPr>
                        <a:t>販売</a:t>
                      </a:r>
                    </a:p>
                  </a:txBody>
                  <a:tcPr anchor="ctr" marL="91440" marR="73152" marT="27432" marB="27432">
                    <a:solidFill>
                      <a:srgbClr val="E2F0EC"/>
                    </a:solidFill>
                  </a:tcPr>
                </a:tc>
                <a:tc>
                  <a:txBody>
                    <a:bodyPr wrap="square"/>
                    <a:lstStyle/>
                    <a:p>
                      <a:pPr algn="l"/>
                      <a:r>
                        <a:rPr sz="1300" b="0">
                          <a:solidFill>
                            <a:srgbClr val="1C2B27"/>
                          </a:solidFill>
                          <a:latin typeface="Meiryo UI"/>
                        </a:rPr>
                        <a:t>紫</a:t>
                      </a:r>
                    </a:p>
                  </a:txBody>
                  <a:tcPr anchor="ctr" marL="91440" marR="73152" marT="27432" marB="27432">
                    <a:solidFill>
                      <a:srgbClr val="E2F0EC"/>
                    </a:solidFill>
                  </a:tcPr>
                </a:tc>
                <a:tc>
                  <a:txBody>
                    <a:bodyPr wrap="square"/>
                    <a:lstStyle/>
                    <a:p>
                      <a:pPr algn="l"/>
                      <a:r>
                        <a:rPr sz="1300" b="0">
                          <a:solidFill>
                            <a:srgbClr val="1C2B27"/>
                          </a:solidFill>
                          <a:latin typeface="Meiryo UI"/>
                        </a:rPr>
                        <a:t>当月納品日の販売品目がある利用者（＋対象月度タグ分）</a:t>
                      </a:r>
                    </a:p>
                  </a:txBody>
                  <a:tcPr anchor="ctr" marL="91440" marR="73152" marT="27432" marB="27432">
                    <a:solidFill>
                      <a:srgbClr val="E2F0EC"/>
                    </a:solidFill>
                  </a:tcPr>
                </a:tc>
              </a:tr>
              <a:tr h="434340">
                <a:tc>
                  <a:txBody>
                    <a:bodyPr wrap="square"/>
                    <a:lstStyle/>
                    <a:p>
                      <a:pPr algn="l"/>
                      <a:r>
                        <a:rPr sz="1300" b="1">
                          <a:solidFill>
                            <a:srgbClr val="1C2B27"/>
                          </a:solidFill>
                          <a:latin typeface="Meiryo UI"/>
                        </a:rPr>
                        <a:t>自費レンタル</a:t>
                      </a:r>
                    </a:p>
                  </a:txBody>
                  <a:tcPr anchor="ctr" marL="91440" marR="73152" marT="27432" marB="27432">
                    <a:solidFill>
                      <a:srgbClr val="FFFFFF"/>
                    </a:solidFill>
                  </a:tcPr>
                </a:tc>
                <a:tc>
                  <a:txBody>
                    <a:bodyPr wrap="square"/>
                    <a:lstStyle/>
                    <a:p>
                      <a:pPr algn="l"/>
                      <a:r>
                        <a:rPr sz="1300" b="0">
                          <a:solidFill>
                            <a:srgbClr val="1C2B27"/>
                          </a:solidFill>
                          <a:latin typeface="Meiryo UI"/>
                        </a:rPr>
                        <a:t>ティール</a:t>
                      </a:r>
                    </a:p>
                  </a:txBody>
                  <a:tcPr anchor="ctr" marL="91440" marR="73152" marT="27432" marB="27432">
                    <a:solidFill>
                      <a:srgbClr val="FFFFFF"/>
                    </a:solidFill>
                  </a:tcPr>
                </a:tc>
                <a:tc>
                  <a:txBody>
                    <a:bodyPr wrap="square"/>
                    <a:lstStyle/>
                    <a:p>
                      <a:pPr algn="l"/>
                      <a:r>
                        <a:rPr sz="1300" b="0">
                          <a:solidFill>
                            <a:srgbClr val="1C2B27"/>
                          </a:solidFill>
                          <a:latin typeface="Meiryo UI"/>
                        </a:rPr>
                        <a:t>当月アクティブな自費レンタルがある利用者（＋対象月度タグ分）</a:t>
                      </a:r>
                    </a:p>
                  </a:txBody>
                  <a:tcPr anchor="ctr" marL="91440" marR="73152" marT="27432" marB="27432">
                    <a:solidFill>
                      <a:srgbClr val="FFFFFF"/>
                    </a:solidFill>
                  </a:tcPr>
                </a:tc>
              </a:tr>
            </a:tbl>
          </a:graphicData>
        </a:graphic>
      </p:graphicFrame>
      <p:sp>
        <p:nvSpPr>
          <p:cNvPr id="10" name="Rectangle 9"/>
          <p:cNvSpPr/>
          <p:nvPr/>
        </p:nvSpPr>
        <p:spPr>
          <a:xfrm>
            <a:off x="640080" y="4206240"/>
            <a:ext cx="10881360" cy="777240"/>
          </a:xfrm>
          <a:prstGeom prst="rect">
            <a:avLst/>
          </a:prstGeom>
          <a:solidFill>
            <a:srgbClr val="F9FAFB"/>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51960"/>
            <a:ext cx="3657600" cy="320040"/>
          </a:xfrm>
          <a:prstGeom prst="rect">
            <a:avLst/>
          </a:prstGeom>
          <a:noFill/>
        </p:spPr>
        <p:txBody>
          <a:bodyPr wrap="square" anchor="t">
            <a:spAutoFit/>
          </a:bodyPr>
          <a:lstStyle/>
          <a:p>
            <a:pPr algn="l"/>
            <a:r>
              <a:rPr sz="1300" b="1">
                <a:solidFill>
                  <a:srgbClr val="1C2B27"/>
                </a:solidFill>
                <a:latin typeface="Meiryo UI"/>
              </a:rPr>
              <a:t>株式会社日本ケアサプライ</a:t>
            </a:r>
          </a:p>
        </p:txBody>
      </p:sp>
      <p:sp>
        <p:nvSpPr>
          <p:cNvPr id="12" name="Rectangle 11"/>
          <p:cNvSpPr/>
          <p:nvPr/>
        </p:nvSpPr>
        <p:spPr>
          <a:xfrm>
            <a:off x="4572000" y="4315968"/>
            <a:ext cx="1463040" cy="292608"/>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315968"/>
            <a:ext cx="1463040" cy="292608"/>
          </a:xfrm>
          <a:prstGeom prst="rect">
            <a:avLst/>
          </a:prstGeom>
          <a:noFill/>
        </p:spPr>
        <p:txBody>
          <a:bodyPr wrap="square" anchor="ctr">
            <a:spAutoFit/>
          </a:bodyPr>
          <a:lstStyle/>
          <a:p>
            <a:pPr algn="ctr"/>
            <a:r>
              <a:rPr sz="1050" b="1">
                <a:solidFill>
                  <a:srgbClr val="DC2626"/>
                </a:solidFill>
                <a:latin typeface="Meiryo UI"/>
              </a:rPr>
              <a:t>差額あり 8件</a:t>
            </a:r>
          </a:p>
        </p:txBody>
      </p:sp>
      <p:sp>
        <p:nvSpPr>
          <p:cNvPr id="14" name="TextBox 13"/>
          <p:cNvSpPr txBox="1"/>
          <p:nvPr/>
        </p:nvSpPr>
        <p:spPr>
          <a:xfrm>
            <a:off x="822960" y="4617720"/>
            <a:ext cx="5486400" cy="274320"/>
          </a:xfrm>
          <a:prstGeom prst="rect">
            <a:avLst/>
          </a:prstGeom>
          <a:noFill/>
        </p:spPr>
        <p:txBody>
          <a:bodyPr wrap="square" anchor="t">
            <a:spAutoFit/>
          </a:bodyPr>
          <a:lstStyle/>
          <a:p>
            <a:pPr algn="l"/>
            <a:r>
              <a:rPr sz="1100" b="0">
                <a:solidFill>
                  <a:srgbClr val="5B6E68"/>
                </a:solidFill>
                <a:latin typeface="Meiryo UI"/>
              </a:rPr>
              <a:t>8名 ／ 弊社計：¥232,400 ／ 卸計：¥65,665</a:t>
            </a:r>
          </a:p>
        </p:txBody>
      </p:sp>
      <p:sp>
        <p:nvSpPr>
          <p:cNvPr id="15" name="Rectangle 14"/>
          <p:cNvSpPr/>
          <p:nvPr/>
        </p:nvSpPr>
        <p:spPr>
          <a:xfrm>
            <a:off x="9418320" y="4315968"/>
            <a:ext cx="137160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0" y="4315968"/>
            <a:ext cx="1371600" cy="384048"/>
          </a:xfrm>
          <a:prstGeom prst="rect">
            <a:avLst/>
          </a:prstGeom>
          <a:noFill/>
        </p:spPr>
        <p:txBody>
          <a:bodyPr wrap="square" anchor="ctr">
            <a:spAutoFit/>
          </a:bodyPr>
          <a:lstStyle/>
          <a:p>
            <a:pPr algn="ctr"/>
            <a:r>
              <a:rPr sz="1150" b="1">
                <a:solidFill>
                  <a:srgbClr val="FFFFFF"/>
                </a:solidFill>
                <a:latin typeface="Meiryo UI"/>
              </a:rPr>
              <a:t>確定する</a:t>
            </a:r>
          </a:p>
        </p:txBody>
      </p:sp>
      <p:sp>
        <p:nvSpPr>
          <p:cNvPr id="17" name="Rectangle 16"/>
          <p:cNvSpPr/>
          <p:nvPr/>
        </p:nvSpPr>
        <p:spPr>
          <a:xfrm>
            <a:off x="640080" y="5166360"/>
            <a:ext cx="10881360" cy="105156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5166360"/>
            <a:ext cx="73152" cy="105156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276088"/>
            <a:ext cx="10515600" cy="86868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会社名クリックで利用者一覧が展開</a:t>
            </a:r>
          </a:p>
          <a:p>
            <a:pPr algn="l">
              <a:lnSpc>
                <a:spcPct val="125000"/>
              </a:lnSpc>
              <a:spcAft>
                <a:spcPts val="400"/>
              </a:spcAft>
            </a:pPr>
            <a:r>
              <a:rPr sz="1300" b="0">
                <a:solidFill>
                  <a:srgbClr val="1C2B27"/>
                </a:solidFill>
                <a:latin typeface="Meiryo UI"/>
              </a:rPr>
              <a:t>差額がある行は赤背景、紐づけ保存済みは緑背景＋「紐づけ済」バッジ。行の「詳細」／「確認・編集」ボタンで品目突合モーダルが開きます。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ITEM MATCHING</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利用者別突合セクション（2）品目突合モーダル</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Rectangle 7"/>
          <p:cNvSpPr/>
          <p:nvPr/>
        </p:nvSpPr>
        <p:spPr>
          <a:xfrm>
            <a:off x="640080" y="1783080"/>
            <a:ext cx="10881360" cy="237744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874519"/>
            <a:ext cx="10515600" cy="365760"/>
          </a:xfrm>
          <a:prstGeom prst="rect">
            <a:avLst/>
          </a:prstGeom>
          <a:noFill/>
        </p:spPr>
        <p:txBody>
          <a:bodyPr wrap="square" anchor="t">
            <a:spAutoFit/>
          </a:bodyPr>
          <a:lstStyle/>
          <a:p>
            <a:pPr algn="l"/>
            <a:r>
              <a:rPr sz="1300" b="1">
                <a:solidFill>
                  <a:srgbClr val="1C2B27"/>
                </a:solidFill>
                <a:latin typeface="Meiryo UI"/>
              </a:rPr>
              <a:t>サービス付き高齢者向け住宅あおぞら東千石 ー 品目突合</a:t>
            </a:r>
          </a:p>
        </p:txBody>
      </p:sp>
      <p:sp>
        <p:nvSpPr>
          <p:cNvPr id="10" name="Rectangle 9"/>
          <p:cNvSpPr/>
          <p:nvPr/>
        </p:nvSpPr>
        <p:spPr>
          <a:xfrm>
            <a:off x="640080" y="2286000"/>
            <a:ext cx="10881360" cy="365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86000"/>
            <a:ext cx="10515600" cy="365760"/>
          </a:xfrm>
          <a:prstGeom prst="rect">
            <a:avLst/>
          </a:prstGeom>
          <a:noFill/>
        </p:spPr>
        <p:txBody>
          <a:bodyPr wrap="square" anchor="ctr">
            <a:spAutoFit/>
          </a:bodyPr>
          <a:lstStyle/>
          <a:p>
            <a:pPr algn="l"/>
            <a:r>
              <a:rPr sz="1150" b="0">
                <a:solidFill>
                  <a:srgbClr val="1C2B27"/>
                </a:solidFill>
                <a:latin typeface="Meiryo UI"/>
              </a:rPr>
              <a:t>販売合計：¥3,800　　卸請求合計：¥0　　差額：+3,800円</a:t>
            </a:r>
          </a:p>
        </p:txBody>
      </p:sp>
      <p:sp>
        <p:nvSpPr>
          <p:cNvPr id="12" name="Rectangle 11"/>
          <p:cNvSpPr/>
          <p:nvPr/>
        </p:nvSpPr>
        <p:spPr>
          <a:xfrm>
            <a:off x="822960" y="2834640"/>
            <a:ext cx="9966960" cy="77724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971800"/>
            <a:ext cx="3657600" cy="502920"/>
          </a:xfrm>
          <a:prstGeom prst="rect">
            <a:avLst/>
          </a:prstGeom>
          <a:noFill/>
        </p:spPr>
        <p:txBody>
          <a:bodyPr wrap="square" anchor="ctr">
            <a:spAutoFit/>
          </a:bodyPr>
          <a:lstStyle/>
          <a:p>
            <a:pPr algn="l"/>
            <a:r>
              <a:rPr sz="1200" b="0">
                <a:solidFill>
                  <a:srgbClr val="1C2B27"/>
                </a:solidFill>
                <a:latin typeface="Meiryo UI"/>
              </a:rPr>
              <a:t>優肌絆 EasyCutホワイト 25mm×7m</a:t>
            </a:r>
          </a:p>
        </p:txBody>
      </p:sp>
      <p:sp>
        <p:nvSpPr>
          <p:cNvPr id="14" name="TextBox 13"/>
          <p:cNvSpPr txBox="1"/>
          <p:nvPr/>
        </p:nvSpPr>
        <p:spPr>
          <a:xfrm>
            <a:off x="4846320" y="2971800"/>
            <a:ext cx="365760" cy="502920"/>
          </a:xfrm>
          <a:prstGeom prst="rect">
            <a:avLst/>
          </a:prstGeom>
          <a:noFill/>
        </p:spPr>
        <p:txBody>
          <a:bodyPr wrap="square" anchor="ctr">
            <a:spAutoFit/>
          </a:bodyPr>
          <a:lstStyle/>
          <a:p>
            <a:pPr algn="ctr"/>
            <a:r>
              <a:rPr sz="1600" b="0">
                <a:solidFill>
                  <a:srgbClr val="5B6E68"/>
                </a:solidFill>
                <a:latin typeface="Meiryo UI"/>
              </a:rPr>
              <a:t>→</a:t>
            </a:r>
          </a:p>
        </p:txBody>
      </p:sp>
      <p:sp>
        <p:nvSpPr>
          <p:cNvPr id="15" name="Rectangle 14"/>
          <p:cNvSpPr/>
          <p:nvPr/>
        </p:nvSpPr>
        <p:spPr>
          <a:xfrm>
            <a:off x="5394960" y="2971800"/>
            <a:ext cx="5120640" cy="502920"/>
          </a:xfrm>
          <a:prstGeom prst="rect">
            <a:avLst/>
          </a:prstGeom>
          <a:solidFill>
            <a:srgbClr val="FFFFFF"/>
          </a:solidFill>
          <a:ln w="12700">
            <a:solidFill>
              <a:srgbClr val="DCF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2971800"/>
            <a:ext cx="4937760" cy="502920"/>
          </a:xfrm>
          <a:prstGeom prst="rect">
            <a:avLst/>
          </a:prstGeom>
          <a:noFill/>
        </p:spPr>
        <p:txBody>
          <a:bodyPr wrap="square" anchor="ctr">
            <a:spAutoFit/>
          </a:bodyPr>
          <a:lstStyle/>
          <a:p>
            <a:pPr algn="l"/>
            <a:r>
              <a:rPr sz="1150" b="0">
                <a:solidFill>
                  <a:srgbClr val="1C2B27"/>
                </a:solidFill>
                <a:latin typeface="Meiryo UI"/>
              </a:rPr>
              <a:t>優肌絆 EasyCutホワイト MM3262　¥4,568</a:t>
            </a:r>
          </a:p>
        </p:txBody>
      </p:sp>
      <p:sp>
        <p:nvSpPr>
          <p:cNvPr id="17" name="Rectangle 16"/>
          <p:cNvSpPr/>
          <p:nvPr/>
        </p:nvSpPr>
        <p:spPr>
          <a:xfrm>
            <a:off x="640080" y="4343400"/>
            <a:ext cx="10881360" cy="141732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343400"/>
            <a:ext cx="73152" cy="141732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453128"/>
            <a:ext cx="10515600" cy="123444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できること</a:t>
            </a:r>
          </a:p>
          <a:p>
            <a:pPr algn="l">
              <a:lnSpc>
                <a:spcPct val="125000"/>
              </a:lnSpc>
              <a:spcAft>
                <a:spcPts val="400"/>
              </a:spcAft>
            </a:pPr>
            <a:r>
              <a:rPr sz="1300" b="0">
                <a:solidFill>
                  <a:srgbClr val="1C2B27"/>
                </a:solidFill>
                <a:latin typeface="Meiryo UI"/>
              </a:rPr>
              <a:t>「卸品目を追加」（ドロップダウン選択）で品目追加、卸品目タグ右の「×」で解除。1つの弊社品目に複数の卸品目を紐づけ可能（1:N対応・附属品など）。「紐づけを保存」を押すと翌月以降も自動的に同じ紐づけが適用され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COMPANY-OWNED</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自社ベッド（仕入不要）の表示</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783080"/>
            <a:ext cx="10881360" cy="1554480"/>
          </a:xfrm>
          <a:prstGeom prst="rect">
            <a:avLst/>
          </a:prstGeom>
          <a:noFill/>
        </p:spPr>
        <p:txBody>
          <a:bodyPr wrap="square">
            <a:spAutoFit/>
          </a:bodyPr>
          <a:lstStyle/>
          <a:p>
            <a:pPr algn="l">
              <a:lnSpc>
                <a:spcPct val="125000"/>
              </a:lnSpc>
              <a:spcAft>
                <a:spcPts val="400"/>
              </a:spcAft>
            </a:pPr>
            <a:r>
              <a:rPr sz="1400" b="0">
                <a:solidFill>
                  <a:srgbClr val="1C2B27"/>
                </a:solidFill>
                <a:latin typeface="Meiryo UI"/>
              </a:rPr>
              <a:t>機器編集モーダルで「物件属性」を「自社物件」に設定した品目は、</a:t>
            </a:r>
          </a:p>
          <a:p>
            <a:pPr algn="l">
              <a:lnSpc>
                <a:spcPct val="125000"/>
              </a:lnSpc>
              <a:spcAft>
                <a:spcPts val="400"/>
              </a:spcAft>
            </a:pPr>
            <a:r>
              <a:rPr sz="1400" b="0">
                <a:solidFill>
                  <a:srgbClr val="1C2B27"/>
                </a:solidFill>
                <a:latin typeface="Meiryo UI"/>
              </a:rPr>
              <a:t>品目突合モーダルで紫色の背景＋「自社ベッド」バッジとなり、</a:t>
            </a:r>
          </a:p>
          <a:p>
            <a:pPr algn="l">
              <a:lnSpc>
                <a:spcPct val="125000"/>
              </a:lnSpc>
              <a:spcAft>
                <a:spcPts val="400"/>
              </a:spcAft>
            </a:pPr>
            <a:r>
              <a:rPr sz="1400" b="0">
                <a:solidFill>
                  <a:srgbClr val="1C2B27"/>
                </a:solidFill>
                <a:latin typeface="Meiryo UI"/>
              </a:rPr>
              <a:t>「仕入不要（自社ベッド）」と表示されます（卸品目追加ボタンは出ません）。</a:t>
            </a:r>
          </a:p>
          <a:p>
            <a:pPr algn="l">
              <a:lnSpc>
                <a:spcPct val="125000"/>
              </a:lnSpc>
              <a:spcAft>
                <a:spcPts val="400"/>
              </a:spcAft>
            </a:pPr>
            <a:r>
              <a:rPr sz="1400" b="1">
                <a:solidFill>
                  <a:srgbClr val="7C3AED"/>
                </a:solidFill>
                <a:latin typeface="Meiryo UI"/>
              </a:rPr>
              <a:t>この品目は卸請求合計の計算から自動的に除外されます。</a:t>
            </a:r>
          </a:p>
        </p:txBody>
      </p:sp>
      <p:sp>
        <p:nvSpPr>
          <p:cNvPr id="9" name="Rectangle 8"/>
          <p:cNvSpPr/>
          <p:nvPr/>
        </p:nvSpPr>
        <p:spPr>
          <a:xfrm>
            <a:off x="640080" y="3474720"/>
            <a:ext cx="10881360" cy="1188720"/>
          </a:xfrm>
          <a:prstGeom prst="rect">
            <a:avLst/>
          </a:prstGeom>
          <a:solidFill>
            <a:srgbClr val="FBE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474720"/>
            <a:ext cx="73152" cy="1188720"/>
          </a:xfrm>
          <a:prstGeom prst="rect">
            <a:avLst/>
          </a:prstGeom>
          <a:solidFill>
            <a:srgbClr val="E27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584448"/>
            <a:ext cx="10424160" cy="1051560"/>
          </a:xfrm>
          <a:prstGeom prst="rect">
            <a:avLst/>
          </a:prstGeom>
          <a:noFill/>
        </p:spPr>
        <p:txBody>
          <a:bodyPr wrap="square">
            <a:spAutoFit/>
          </a:bodyPr>
          <a:lstStyle/>
          <a:p>
            <a:pPr algn="l">
              <a:lnSpc>
                <a:spcPct val="125000"/>
              </a:lnSpc>
              <a:spcAft>
                <a:spcPts val="400"/>
              </a:spcAft>
            </a:pPr>
            <a:r>
              <a:rPr sz="1250" b="1">
                <a:solidFill>
                  <a:srgbClr val="E2714A"/>
                </a:solidFill>
                <a:latin typeface="Meiryo UI"/>
              </a:rPr>
              <a:t>⚠ 「物件属性」はベッドに限らず、どの機器種別にも設定できます</a:t>
            </a:r>
          </a:p>
          <a:p>
            <a:pPr algn="l">
              <a:lnSpc>
                <a:spcPct val="125000"/>
              </a:lnSpc>
              <a:spcAft>
                <a:spcPts val="400"/>
              </a:spcAft>
            </a:pPr>
            <a:r>
              <a:rPr sz="1250" b="0">
                <a:solidFill>
                  <a:srgbClr val="1C2B27"/>
                </a:solidFill>
                <a:latin typeface="Meiryo UI"/>
              </a:rPr>
              <a:t>ベッド以外の消耗品などに誤って設定すると、実際には仕入が発生している品目が</a:t>
            </a:r>
          </a:p>
          <a:p>
            <a:pPr algn="l">
              <a:lnSpc>
                <a:spcPct val="125000"/>
              </a:lnSpc>
              <a:spcAft>
                <a:spcPts val="400"/>
              </a:spcAft>
            </a:pPr>
            <a:r>
              <a:rPr sz="1250" b="0">
                <a:solidFill>
                  <a:srgbClr val="1C2B27"/>
                </a:solidFill>
                <a:latin typeface="Meiryo UI"/>
              </a:rPr>
              <a:t>「仕入不要」扱いになり、卸請求合計から漏れてしまいます。品目突合モーダルで</a:t>
            </a:r>
          </a:p>
          <a:p>
            <a:pPr algn="l">
              <a:lnSpc>
                <a:spcPct val="125000"/>
              </a:lnSpc>
              <a:spcAft>
                <a:spcPts val="400"/>
              </a:spcAft>
            </a:pPr>
            <a:r>
              <a:rPr sz="1250" b="0">
                <a:solidFill>
                  <a:srgbClr val="1C2B27"/>
                </a:solidFill>
                <a:latin typeface="Meiryo UI"/>
              </a:rPr>
              <a:t>「自社ベッド」バッジがついた品目が本当に自社所有物件か、時々見直してください。</a:t>
            </a:r>
          </a:p>
        </p:txBody>
      </p:sp>
      <p:sp>
        <p:nvSpPr>
          <p:cNvPr id="12" name="Rectangle 11"/>
          <p:cNvSpPr/>
          <p:nvPr/>
        </p:nvSpPr>
        <p:spPr>
          <a:xfrm>
            <a:off x="640080" y="4846320"/>
            <a:ext cx="10881360" cy="100584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846320"/>
            <a:ext cx="73152" cy="100584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956048"/>
            <a:ext cx="10515600" cy="82296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会社単位の確定</a:t>
            </a:r>
          </a:p>
          <a:p>
            <a:pPr algn="l">
              <a:lnSpc>
                <a:spcPct val="125000"/>
              </a:lnSpc>
              <a:spcAft>
                <a:spcPts val="400"/>
              </a:spcAft>
            </a:pPr>
            <a:r>
              <a:rPr sz="1300" b="0">
                <a:solidFill>
                  <a:srgbClr val="1C2B27"/>
                </a:solidFill>
                <a:latin typeface="Meiryo UI"/>
              </a:rPr>
              <a:t>セクション内の全利用者を確認し終えたら「確定する」ボタン（紫）で会社単位を確定。確定後は「確定解除」で解除できます。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UNMATCHED CHECK</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卸品目未紐づけ一覧</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TextBox 7"/>
          <p:cNvSpPr txBox="1"/>
          <p:nvPr/>
        </p:nvSpPr>
        <p:spPr>
          <a:xfrm>
            <a:off x="640080" y="1737360"/>
            <a:ext cx="10881360" cy="365760"/>
          </a:xfrm>
          <a:prstGeom prst="rect">
            <a:avLst/>
          </a:prstGeom>
          <a:noFill/>
        </p:spPr>
        <p:txBody>
          <a:bodyPr wrap="square" anchor="t">
            <a:spAutoFit/>
          </a:bodyPr>
          <a:lstStyle/>
          <a:p>
            <a:pPr algn="l"/>
            <a:r>
              <a:rPr sz="1350" b="0">
                <a:solidFill>
                  <a:srgbClr val="5B6E68"/>
                </a:solidFill>
                <a:latin typeface="Meiryo UI"/>
              </a:rPr>
              <a:t>利用者別突合セクションのさらに下部にある、月次確定前の最終チェック用セクションです。</a:t>
            </a:r>
          </a:p>
        </p:txBody>
      </p:sp>
      <p:sp>
        <p:nvSpPr>
          <p:cNvPr id="9" name="Rectangle 8"/>
          <p:cNvSpPr/>
          <p:nvPr/>
        </p:nvSpPr>
        <p:spPr>
          <a:xfrm>
            <a:off x="640080" y="2286000"/>
            <a:ext cx="5312664" cy="1737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77440"/>
            <a:ext cx="914400" cy="685800"/>
          </a:xfrm>
          <a:prstGeom prst="rect">
            <a:avLst/>
          </a:prstGeom>
          <a:noFill/>
        </p:spPr>
        <p:txBody>
          <a:bodyPr wrap="square" anchor="t">
            <a:spAutoFit/>
          </a:bodyPr>
          <a:lstStyle/>
          <a:p>
            <a:pPr algn="l"/>
            <a:r>
              <a:rPr sz="3200" b="1">
                <a:solidFill>
                  <a:srgbClr val="0E8A78"/>
                </a:solidFill>
                <a:latin typeface="Meiryo UI"/>
              </a:rPr>
              <a:t>1</a:t>
            </a:r>
          </a:p>
        </p:txBody>
      </p:sp>
      <p:sp>
        <p:nvSpPr>
          <p:cNvPr id="11" name="TextBox 10"/>
          <p:cNvSpPr txBox="1"/>
          <p:nvPr/>
        </p:nvSpPr>
        <p:spPr>
          <a:xfrm>
            <a:off x="822959" y="3063240"/>
            <a:ext cx="4946904" cy="502920"/>
          </a:xfrm>
          <a:prstGeom prst="rect">
            <a:avLst/>
          </a:prstGeom>
          <a:noFill/>
        </p:spPr>
        <p:txBody>
          <a:bodyPr wrap="square" anchor="t">
            <a:spAutoFit/>
          </a:bodyPr>
          <a:lstStyle/>
          <a:p>
            <a:pPr algn="l"/>
            <a:r>
              <a:rPr sz="1350" b="1">
                <a:solidFill>
                  <a:srgbClr val="1C2B27"/>
                </a:solidFill>
                <a:latin typeface="Meiryo UI"/>
              </a:rPr>
              <a:t>「読み込む」ボタンを押す</a:t>
            </a:r>
          </a:p>
        </p:txBody>
      </p:sp>
      <p:sp>
        <p:nvSpPr>
          <p:cNvPr id="12" name="TextBox 11"/>
          <p:cNvSpPr txBox="1"/>
          <p:nvPr/>
        </p:nvSpPr>
        <p:spPr>
          <a:xfrm>
            <a:off x="822959" y="3520440"/>
            <a:ext cx="4946904" cy="411479"/>
          </a:xfrm>
          <a:prstGeom prst="rect">
            <a:avLst/>
          </a:prstGeom>
          <a:noFill/>
        </p:spPr>
        <p:txBody>
          <a:bodyPr wrap="square" anchor="t">
            <a:spAutoFit/>
          </a:bodyPr>
          <a:lstStyle/>
          <a:p>
            <a:pPr algn="l"/>
            <a:r>
              <a:rPr sz="1100" b="0">
                <a:solidFill>
                  <a:srgbClr val="5B6E68"/>
                </a:solidFill>
                <a:latin typeface="Meiryo UI"/>
              </a:rPr>
              <a:t>Firestoreから紐づけ情報を取得し、まだ弊社品目に紐づいていない卸請求品目を一覧表示します。</a:t>
            </a:r>
          </a:p>
        </p:txBody>
      </p:sp>
      <p:sp>
        <p:nvSpPr>
          <p:cNvPr id="13" name="Rectangle 12"/>
          <p:cNvSpPr/>
          <p:nvPr/>
        </p:nvSpPr>
        <p:spPr>
          <a:xfrm>
            <a:off x="6208776" y="2286000"/>
            <a:ext cx="5312664" cy="173736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1656" y="2377440"/>
            <a:ext cx="914400" cy="685800"/>
          </a:xfrm>
          <a:prstGeom prst="rect">
            <a:avLst/>
          </a:prstGeom>
          <a:noFill/>
        </p:spPr>
        <p:txBody>
          <a:bodyPr wrap="square" anchor="t">
            <a:spAutoFit/>
          </a:bodyPr>
          <a:lstStyle/>
          <a:p>
            <a:pPr algn="l"/>
            <a:r>
              <a:rPr sz="3200" b="1">
                <a:solidFill>
                  <a:srgbClr val="0E8A78"/>
                </a:solidFill>
                <a:latin typeface="Meiryo UI"/>
              </a:rPr>
              <a:t>2</a:t>
            </a:r>
          </a:p>
        </p:txBody>
      </p:sp>
      <p:sp>
        <p:nvSpPr>
          <p:cNvPr id="15" name="TextBox 14"/>
          <p:cNvSpPr txBox="1"/>
          <p:nvPr/>
        </p:nvSpPr>
        <p:spPr>
          <a:xfrm>
            <a:off x="6391656" y="3063240"/>
            <a:ext cx="4946904" cy="502920"/>
          </a:xfrm>
          <a:prstGeom prst="rect">
            <a:avLst/>
          </a:prstGeom>
          <a:noFill/>
        </p:spPr>
        <p:txBody>
          <a:bodyPr wrap="square" anchor="t">
            <a:spAutoFit/>
          </a:bodyPr>
          <a:lstStyle/>
          <a:p>
            <a:pPr algn="l"/>
            <a:r>
              <a:rPr sz="1350" b="1">
                <a:solidFill>
                  <a:srgbClr val="1C2B27"/>
                </a:solidFill>
                <a:latin typeface="Meiryo UI"/>
              </a:rPr>
              <a:t>紐づけ漏れを確認</a:t>
            </a:r>
          </a:p>
        </p:txBody>
      </p:sp>
      <p:sp>
        <p:nvSpPr>
          <p:cNvPr id="16" name="TextBox 15"/>
          <p:cNvSpPr txBox="1"/>
          <p:nvPr/>
        </p:nvSpPr>
        <p:spPr>
          <a:xfrm>
            <a:off x="6391656" y="3520440"/>
            <a:ext cx="4946904" cy="411479"/>
          </a:xfrm>
          <a:prstGeom prst="rect">
            <a:avLst/>
          </a:prstGeom>
          <a:noFill/>
        </p:spPr>
        <p:txBody>
          <a:bodyPr wrap="square" anchor="t">
            <a:spAutoFit/>
          </a:bodyPr>
          <a:lstStyle/>
          <a:p>
            <a:pPr algn="l"/>
            <a:r>
              <a:rPr sz="1100" b="0">
                <a:solidFill>
                  <a:srgbClr val="5B6E68"/>
                </a:solidFill>
                <a:latin typeface="Meiryo UI"/>
              </a:rPr>
              <a:t>種別・利用者名・施設名・弊社品目・卸品目・卸金額・卸会社が一覧に。CSV出力も可能です。</a:t>
            </a:r>
          </a:p>
        </p:txBody>
      </p:sp>
      <p:sp>
        <p:nvSpPr>
          <p:cNvPr id="17" name="Rectangle 16"/>
          <p:cNvSpPr/>
          <p:nvPr/>
        </p:nvSpPr>
        <p:spPr>
          <a:xfrm>
            <a:off x="640080" y="4206240"/>
            <a:ext cx="10881360" cy="91440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206240"/>
            <a:ext cx="73152" cy="9144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15968"/>
            <a:ext cx="10515600" cy="731520"/>
          </a:xfrm>
          <a:prstGeom prst="rect">
            <a:avLst/>
          </a:prstGeom>
          <a:noFill/>
        </p:spPr>
        <p:txBody>
          <a:bodyPr wrap="square">
            <a:spAutoFit/>
          </a:bodyPr>
          <a:lstStyle/>
          <a:p>
            <a:pPr algn="l">
              <a:lnSpc>
                <a:spcPct val="125000"/>
              </a:lnSpc>
              <a:spcAft>
                <a:spcPts val="400"/>
              </a:spcAft>
            </a:pPr>
            <a:r>
              <a:rPr sz="1300" b="1">
                <a:solidFill>
                  <a:srgbClr val="0E8A78"/>
                </a:solidFill>
                <a:latin typeface="Meiryo UI"/>
              </a:rPr>
              <a:t>💡 一覧の更新は自動ではありません</a:t>
            </a:r>
          </a:p>
          <a:p>
            <a:pPr algn="l">
              <a:lnSpc>
                <a:spcPct val="125000"/>
              </a:lnSpc>
              <a:spcAft>
                <a:spcPts val="400"/>
              </a:spcAft>
            </a:pPr>
            <a:r>
              <a:rPr sz="1300" b="0">
                <a:solidFill>
                  <a:srgbClr val="1C2B27"/>
                </a:solidFill>
                <a:latin typeface="Meiryo UI"/>
              </a:rPr>
              <a:t>紐づけ作業を進めたあとは、もう一度「読み込む」を押して一覧を更新してください。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CONFIRM FLOW</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確定の流れ（3段階）</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Rectangle 7"/>
          <p:cNvSpPr/>
          <p:nvPr/>
        </p:nvSpPr>
        <p:spPr>
          <a:xfrm>
            <a:off x="640080" y="1783080"/>
            <a:ext cx="10881360" cy="96012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947672"/>
            <a:ext cx="457200" cy="4572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47672"/>
            <a:ext cx="457200" cy="457200"/>
          </a:xfrm>
          <a:prstGeom prst="rect">
            <a:avLst/>
          </a:prstGeom>
          <a:noFill/>
        </p:spPr>
        <p:txBody>
          <a:bodyPr wrap="square" anchor="ctr">
            <a:spAutoFit/>
          </a:bodyPr>
          <a:lstStyle/>
          <a:p>
            <a:pPr algn="ctr"/>
            <a:r>
              <a:rPr sz="1800" b="1">
                <a:solidFill>
                  <a:srgbClr val="FFFFFF"/>
                </a:solidFill>
                <a:latin typeface="Meiryo UI"/>
              </a:rPr>
              <a:t>1</a:t>
            </a:r>
          </a:p>
        </p:txBody>
      </p:sp>
      <p:sp>
        <p:nvSpPr>
          <p:cNvPr id="11" name="TextBox 10"/>
          <p:cNvSpPr txBox="1"/>
          <p:nvPr/>
        </p:nvSpPr>
        <p:spPr>
          <a:xfrm>
            <a:off x="1463040" y="1892807"/>
            <a:ext cx="8686800" cy="365760"/>
          </a:xfrm>
          <a:prstGeom prst="rect">
            <a:avLst/>
          </a:prstGeom>
          <a:noFill/>
        </p:spPr>
        <p:txBody>
          <a:bodyPr wrap="square" anchor="t">
            <a:spAutoFit/>
          </a:bodyPr>
          <a:lstStyle/>
          <a:p>
            <a:pPr algn="l"/>
            <a:r>
              <a:rPr sz="1500" b="1">
                <a:solidFill>
                  <a:srgbClr val="1C2B27"/>
                </a:solidFill>
                <a:latin typeface="Meiryo UI"/>
              </a:rPr>
              <a:t>売上確定（3種類）</a:t>
            </a:r>
          </a:p>
        </p:txBody>
      </p:sp>
      <p:sp>
        <p:nvSpPr>
          <p:cNvPr id="12" name="TextBox 11"/>
          <p:cNvSpPr txBox="1"/>
          <p:nvPr/>
        </p:nvSpPr>
        <p:spPr>
          <a:xfrm>
            <a:off x="1463040" y="2258568"/>
            <a:ext cx="9052560" cy="411480"/>
          </a:xfrm>
          <a:prstGeom prst="rect">
            <a:avLst/>
          </a:prstGeom>
          <a:noFill/>
        </p:spPr>
        <p:txBody>
          <a:bodyPr wrap="square" anchor="t">
            <a:spAutoFit/>
          </a:bodyPr>
          <a:lstStyle/>
          <a:p>
            <a:pPr algn="l"/>
            <a:r>
              <a:rPr sz="1200" b="0">
                <a:solidFill>
                  <a:srgbClr val="5B6E68"/>
                </a:solidFill>
                <a:latin typeface="Meiryo UI"/>
              </a:rPr>
              <a:t>「月次売上処理」タブで介護保険レンタル・自費レンタル・販売をそれぞれ確定</a:t>
            </a:r>
          </a:p>
        </p:txBody>
      </p:sp>
      <p:sp>
        <p:nvSpPr>
          <p:cNvPr id="13" name="TextBox 12"/>
          <p:cNvSpPr txBox="1"/>
          <p:nvPr/>
        </p:nvSpPr>
        <p:spPr>
          <a:xfrm>
            <a:off x="822960" y="2743200"/>
            <a:ext cx="457200" cy="274320"/>
          </a:xfrm>
          <a:prstGeom prst="rect">
            <a:avLst/>
          </a:prstGeom>
          <a:noFill/>
        </p:spPr>
        <p:txBody>
          <a:bodyPr wrap="square" anchor="t">
            <a:spAutoFit/>
          </a:bodyPr>
          <a:lstStyle/>
          <a:p>
            <a:pPr algn="ctr"/>
            <a:r>
              <a:rPr sz="1400" b="0">
                <a:solidFill>
                  <a:srgbClr val="5B6E68"/>
                </a:solidFill>
                <a:latin typeface="Meiryo UI"/>
              </a:rPr>
              <a:t>↓</a:t>
            </a:r>
          </a:p>
        </p:txBody>
      </p:sp>
      <p:sp>
        <p:nvSpPr>
          <p:cNvPr id="14" name="Rectangle 13"/>
          <p:cNvSpPr/>
          <p:nvPr/>
        </p:nvSpPr>
        <p:spPr>
          <a:xfrm>
            <a:off x="640080" y="2880360"/>
            <a:ext cx="10881360" cy="96012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44952"/>
            <a:ext cx="457200" cy="4572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044952"/>
            <a:ext cx="457200" cy="457200"/>
          </a:xfrm>
          <a:prstGeom prst="rect">
            <a:avLst/>
          </a:prstGeom>
          <a:noFill/>
        </p:spPr>
        <p:txBody>
          <a:bodyPr wrap="square" anchor="ctr">
            <a:spAutoFit/>
          </a:bodyPr>
          <a:lstStyle/>
          <a:p>
            <a:pPr algn="ctr"/>
            <a:r>
              <a:rPr sz="1800" b="1">
                <a:solidFill>
                  <a:srgbClr val="FFFFFF"/>
                </a:solidFill>
                <a:latin typeface="Meiryo UI"/>
              </a:rPr>
              <a:t>2</a:t>
            </a:r>
          </a:p>
        </p:txBody>
      </p:sp>
      <p:sp>
        <p:nvSpPr>
          <p:cNvPr id="17" name="TextBox 16"/>
          <p:cNvSpPr txBox="1"/>
          <p:nvPr/>
        </p:nvSpPr>
        <p:spPr>
          <a:xfrm>
            <a:off x="1463040" y="2990088"/>
            <a:ext cx="8686800" cy="365760"/>
          </a:xfrm>
          <a:prstGeom prst="rect">
            <a:avLst/>
          </a:prstGeom>
          <a:noFill/>
        </p:spPr>
        <p:txBody>
          <a:bodyPr wrap="square" anchor="t">
            <a:spAutoFit/>
          </a:bodyPr>
          <a:lstStyle/>
          <a:p>
            <a:pPr algn="l"/>
            <a:r>
              <a:rPr sz="1500" b="1">
                <a:solidFill>
                  <a:srgbClr val="1C2B27"/>
                </a:solidFill>
                <a:latin typeface="Meiryo UI"/>
              </a:rPr>
              <a:t>仕入確定（卸会社ごと）</a:t>
            </a:r>
          </a:p>
        </p:txBody>
      </p:sp>
      <p:sp>
        <p:nvSpPr>
          <p:cNvPr id="18" name="TextBox 17"/>
          <p:cNvSpPr txBox="1"/>
          <p:nvPr/>
        </p:nvSpPr>
        <p:spPr>
          <a:xfrm>
            <a:off x="1463040" y="3355848"/>
            <a:ext cx="9052560" cy="411480"/>
          </a:xfrm>
          <a:prstGeom prst="rect">
            <a:avLst/>
          </a:prstGeom>
          <a:noFill/>
        </p:spPr>
        <p:txBody>
          <a:bodyPr wrap="square" anchor="t">
            <a:spAutoFit/>
          </a:bodyPr>
          <a:lstStyle/>
          <a:p>
            <a:pPr algn="l"/>
            <a:r>
              <a:rPr sz="1200" b="0">
                <a:solidFill>
                  <a:srgbClr val="5B6E68"/>
                </a:solidFill>
                <a:latin typeface="Meiryo UI"/>
              </a:rPr>
              <a:t>この画面でアップロード済みの卸会社を1社ずつ確定</a:t>
            </a:r>
          </a:p>
        </p:txBody>
      </p:sp>
      <p:sp>
        <p:nvSpPr>
          <p:cNvPr id="19" name="TextBox 18"/>
          <p:cNvSpPr txBox="1"/>
          <p:nvPr/>
        </p:nvSpPr>
        <p:spPr>
          <a:xfrm>
            <a:off x="822960" y="3840479"/>
            <a:ext cx="457200" cy="274320"/>
          </a:xfrm>
          <a:prstGeom prst="rect">
            <a:avLst/>
          </a:prstGeom>
          <a:noFill/>
        </p:spPr>
        <p:txBody>
          <a:bodyPr wrap="square" anchor="t">
            <a:spAutoFit/>
          </a:bodyPr>
          <a:lstStyle/>
          <a:p>
            <a:pPr algn="ctr"/>
            <a:r>
              <a:rPr sz="1400" b="0">
                <a:solidFill>
                  <a:srgbClr val="5B6E68"/>
                </a:solidFill>
                <a:latin typeface="Meiryo UI"/>
              </a:rPr>
              <a:t>↓</a:t>
            </a:r>
          </a:p>
        </p:txBody>
      </p:sp>
      <p:sp>
        <p:nvSpPr>
          <p:cNvPr id="20" name="Rectangle 19"/>
          <p:cNvSpPr/>
          <p:nvPr/>
        </p:nvSpPr>
        <p:spPr>
          <a:xfrm>
            <a:off x="640080" y="3977639"/>
            <a:ext cx="10881360" cy="96012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142231"/>
            <a:ext cx="457200" cy="4572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142231"/>
            <a:ext cx="457200" cy="457200"/>
          </a:xfrm>
          <a:prstGeom prst="rect">
            <a:avLst/>
          </a:prstGeom>
          <a:noFill/>
        </p:spPr>
        <p:txBody>
          <a:bodyPr wrap="square" anchor="ctr">
            <a:spAutoFit/>
          </a:bodyPr>
          <a:lstStyle/>
          <a:p>
            <a:pPr algn="ctr"/>
            <a:r>
              <a:rPr sz="1800" b="1">
                <a:solidFill>
                  <a:srgbClr val="FFFFFF"/>
                </a:solidFill>
                <a:latin typeface="Meiryo UI"/>
              </a:rPr>
              <a:t>3</a:t>
            </a:r>
          </a:p>
        </p:txBody>
      </p:sp>
      <p:sp>
        <p:nvSpPr>
          <p:cNvPr id="23" name="TextBox 22"/>
          <p:cNvSpPr txBox="1"/>
          <p:nvPr/>
        </p:nvSpPr>
        <p:spPr>
          <a:xfrm>
            <a:off x="1463040" y="4087368"/>
            <a:ext cx="8686800" cy="365760"/>
          </a:xfrm>
          <a:prstGeom prst="rect">
            <a:avLst/>
          </a:prstGeom>
          <a:noFill/>
        </p:spPr>
        <p:txBody>
          <a:bodyPr wrap="square" anchor="t">
            <a:spAutoFit/>
          </a:bodyPr>
          <a:lstStyle/>
          <a:p>
            <a:pPr algn="l"/>
            <a:r>
              <a:rPr sz="1500" b="1">
                <a:solidFill>
                  <a:srgbClr val="1C2B27"/>
                </a:solidFill>
                <a:latin typeface="Meiryo UI"/>
              </a:rPr>
              <a:t>月次確定</a:t>
            </a:r>
          </a:p>
        </p:txBody>
      </p:sp>
      <p:sp>
        <p:nvSpPr>
          <p:cNvPr id="24" name="TextBox 23"/>
          <p:cNvSpPr txBox="1"/>
          <p:nvPr/>
        </p:nvSpPr>
        <p:spPr>
          <a:xfrm>
            <a:off x="1463040" y="4453127"/>
            <a:ext cx="9052560" cy="411480"/>
          </a:xfrm>
          <a:prstGeom prst="rect">
            <a:avLst/>
          </a:prstGeom>
          <a:noFill/>
        </p:spPr>
        <p:txBody>
          <a:bodyPr wrap="square" anchor="t">
            <a:spAutoFit/>
          </a:bodyPr>
          <a:lstStyle/>
          <a:p>
            <a:pPr algn="l"/>
            <a:r>
              <a:rPr sz="1200" b="0">
                <a:solidFill>
                  <a:srgbClr val="5B6E68"/>
                </a:solidFill>
                <a:latin typeface="Meiryo UI"/>
              </a:rPr>
              <a:t>売上3種類＋仕入全社が確定済みのときだけ押せる、その月度の最終確定</a:t>
            </a:r>
          </a:p>
        </p:txBody>
      </p:sp>
      <p:sp>
        <p:nvSpPr>
          <p:cNvPr id="25" name="Rectangle 24"/>
          <p:cNvSpPr/>
          <p:nvPr/>
        </p:nvSpPr>
        <p:spPr>
          <a:xfrm>
            <a:off x="640080" y="5166360"/>
            <a:ext cx="10881360" cy="1234440"/>
          </a:xfrm>
          <a:prstGeom prst="rect">
            <a:avLst/>
          </a:prstGeom>
          <a:solidFill>
            <a:srgbClr val="E2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5166360"/>
            <a:ext cx="73152" cy="123444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285232"/>
            <a:ext cx="10424160" cy="1097280"/>
          </a:xfrm>
          <a:prstGeom prst="rect">
            <a:avLst/>
          </a:prstGeom>
          <a:noFill/>
        </p:spPr>
        <p:txBody>
          <a:bodyPr wrap="square">
            <a:spAutoFit/>
          </a:bodyPr>
          <a:lstStyle/>
          <a:p>
            <a:pPr algn="l">
              <a:lnSpc>
                <a:spcPct val="125000"/>
              </a:lnSpc>
              <a:spcAft>
                <a:spcPts val="400"/>
              </a:spcAft>
            </a:pPr>
            <a:r>
              <a:rPr sz="1250" b="1">
                <a:solidFill>
                  <a:srgbClr val="0E8A78"/>
                </a:solidFill>
                <a:latin typeface="Meiryo UI"/>
              </a:rPr>
              <a:t>🔓 解除は逆順（月次→個別）です</a:t>
            </a:r>
          </a:p>
          <a:p>
            <a:pPr algn="l">
              <a:lnSpc>
                <a:spcPct val="125000"/>
              </a:lnSpc>
              <a:spcAft>
                <a:spcPts val="400"/>
              </a:spcAft>
            </a:pPr>
            <a:r>
              <a:rPr sz="1250" b="0">
                <a:solidFill>
                  <a:srgbClr val="1C2B27"/>
                </a:solidFill>
                <a:latin typeface="Meiryo UI"/>
              </a:rPr>
              <a:t>月次確定を解除しないと個別の売上確定・仕入確定は解除できません。</a:t>
            </a:r>
          </a:p>
          <a:p>
            <a:pPr algn="l">
              <a:lnSpc>
                <a:spcPct val="125000"/>
              </a:lnSpc>
              <a:spcAft>
                <a:spcPts val="400"/>
              </a:spcAft>
            </a:pPr>
            <a:r>
              <a:rPr sz="1250" b="0">
                <a:solidFill>
                  <a:srgbClr val="1C2B27"/>
                </a:solidFill>
                <a:latin typeface="Meiryo UI"/>
              </a:rPr>
              <a:t>「解除」自体はデータや金額を変更しません。修正のために一時的に解除するのは安全です。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CSV</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CSV出力と再インポート</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Rectangle 7"/>
          <p:cNvSpPr/>
          <p:nvPr/>
        </p:nvSpPr>
        <p:spPr>
          <a:xfrm>
            <a:off x="640080" y="2103120"/>
            <a:ext cx="5312664" cy="201168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94560"/>
            <a:ext cx="914400" cy="685800"/>
          </a:xfrm>
          <a:prstGeom prst="rect">
            <a:avLst/>
          </a:prstGeom>
          <a:noFill/>
        </p:spPr>
        <p:txBody>
          <a:bodyPr wrap="square" anchor="t">
            <a:spAutoFit/>
          </a:bodyPr>
          <a:lstStyle/>
          <a:p>
            <a:pPr algn="l"/>
            <a:r>
              <a:rPr sz="3200" b="1">
                <a:solidFill>
                  <a:srgbClr val="0E8A78"/>
                </a:solidFill>
                <a:latin typeface="Meiryo UI"/>
              </a:rPr>
              <a:t>1</a:t>
            </a:r>
          </a:p>
        </p:txBody>
      </p:sp>
      <p:sp>
        <p:nvSpPr>
          <p:cNvPr id="10" name="TextBox 9"/>
          <p:cNvSpPr txBox="1"/>
          <p:nvPr/>
        </p:nvSpPr>
        <p:spPr>
          <a:xfrm>
            <a:off x="822959" y="2880360"/>
            <a:ext cx="4946904" cy="502920"/>
          </a:xfrm>
          <a:prstGeom prst="rect">
            <a:avLst/>
          </a:prstGeom>
          <a:noFill/>
        </p:spPr>
        <p:txBody>
          <a:bodyPr wrap="square" anchor="t">
            <a:spAutoFit/>
          </a:bodyPr>
          <a:lstStyle/>
          <a:p>
            <a:pPr algn="l"/>
            <a:r>
              <a:rPr sz="1350" b="1">
                <a:solidFill>
                  <a:srgbClr val="1C2B27"/>
                </a:solidFill>
                <a:latin typeface="Meiryo UI"/>
              </a:rPr>
              <a:t>CSV出力</a:t>
            </a:r>
          </a:p>
        </p:txBody>
      </p:sp>
      <p:sp>
        <p:nvSpPr>
          <p:cNvPr id="11" name="TextBox 10"/>
          <p:cNvSpPr txBox="1"/>
          <p:nvPr/>
        </p:nvSpPr>
        <p:spPr>
          <a:xfrm>
            <a:off x="822959" y="3337560"/>
            <a:ext cx="4946904" cy="685800"/>
          </a:xfrm>
          <a:prstGeom prst="rect">
            <a:avLst/>
          </a:prstGeom>
          <a:noFill/>
        </p:spPr>
        <p:txBody>
          <a:bodyPr wrap="square" anchor="t">
            <a:spAutoFit/>
          </a:bodyPr>
          <a:lstStyle/>
          <a:p>
            <a:pPr algn="l"/>
            <a:r>
              <a:rPr sz="1100" b="0">
                <a:solidFill>
                  <a:srgbClr val="5B6E68"/>
                </a:solidFill>
                <a:latin typeface="Meiryo UI"/>
              </a:rPr>
              <a:t>「突合結果」タブの「CSVエクスポート」ボタンで、統一ヘッダー（あおぞらID・利用者名・商品名・種別・売上金額・仕入金額・粗利・粗利率・卸会社）のCSVを保存。</a:t>
            </a:r>
          </a:p>
        </p:txBody>
      </p:sp>
      <p:sp>
        <p:nvSpPr>
          <p:cNvPr id="12" name="Rectangle 11"/>
          <p:cNvSpPr/>
          <p:nvPr/>
        </p:nvSpPr>
        <p:spPr>
          <a:xfrm>
            <a:off x="6208776" y="2103120"/>
            <a:ext cx="5312664" cy="2011680"/>
          </a:xfrm>
          <a:prstGeom prst="rect">
            <a:avLst/>
          </a:prstGeom>
          <a:solidFill>
            <a:srgbClr val="FFFFFF"/>
          </a:solidFill>
          <a:ln w="1270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194560"/>
            <a:ext cx="914400" cy="685800"/>
          </a:xfrm>
          <a:prstGeom prst="rect">
            <a:avLst/>
          </a:prstGeom>
          <a:noFill/>
        </p:spPr>
        <p:txBody>
          <a:bodyPr wrap="square" anchor="t">
            <a:spAutoFit/>
          </a:bodyPr>
          <a:lstStyle/>
          <a:p>
            <a:pPr algn="l"/>
            <a:r>
              <a:rPr sz="3200" b="1">
                <a:solidFill>
                  <a:srgbClr val="0E8A78"/>
                </a:solidFill>
                <a:latin typeface="Meiryo UI"/>
              </a:rPr>
              <a:t>2</a:t>
            </a:r>
          </a:p>
        </p:txBody>
      </p:sp>
      <p:sp>
        <p:nvSpPr>
          <p:cNvPr id="14" name="TextBox 13"/>
          <p:cNvSpPr txBox="1"/>
          <p:nvPr/>
        </p:nvSpPr>
        <p:spPr>
          <a:xfrm>
            <a:off x="6391656" y="2880360"/>
            <a:ext cx="4946904" cy="502920"/>
          </a:xfrm>
          <a:prstGeom prst="rect">
            <a:avLst/>
          </a:prstGeom>
          <a:noFill/>
        </p:spPr>
        <p:txBody>
          <a:bodyPr wrap="square" anchor="t">
            <a:spAutoFit/>
          </a:bodyPr>
          <a:lstStyle/>
          <a:p>
            <a:pPr algn="l"/>
            <a:r>
              <a:rPr sz="1350" b="1">
                <a:solidFill>
                  <a:srgbClr val="1C2B27"/>
                </a:solidFill>
                <a:latin typeface="Meiryo UI"/>
              </a:rPr>
              <a:t>修正して再インポート</a:t>
            </a:r>
          </a:p>
        </p:txBody>
      </p:sp>
      <p:sp>
        <p:nvSpPr>
          <p:cNvPr id="15" name="TextBox 14"/>
          <p:cNvSpPr txBox="1"/>
          <p:nvPr/>
        </p:nvSpPr>
        <p:spPr>
          <a:xfrm>
            <a:off x="6391656" y="3337560"/>
            <a:ext cx="4946904" cy="685800"/>
          </a:xfrm>
          <a:prstGeom prst="rect">
            <a:avLst/>
          </a:prstGeom>
          <a:noFill/>
        </p:spPr>
        <p:txBody>
          <a:bodyPr wrap="square" anchor="t">
            <a:spAutoFit/>
          </a:bodyPr>
          <a:lstStyle/>
          <a:p>
            <a:pPr algn="l"/>
            <a:r>
              <a:rPr sz="1100" b="0">
                <a:solidFill>
                  <a:srgbClr val="5B6E68"/>
                </a:solidFill>
                <a:latin typeface="Meiryo UI"/>
              </a:rPr>
              <a:t>ExcelであおぞらIDを追記・修正し、「突合CSVインポート」で取り込むと紐づけが反映されます。あおぞらIDがある行は名前マッチングをスキップして直接紐づけ。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CHECKLIST</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毎月の作業チェックリスト</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Rectangle 7"/>
          <p:cNvSpPr/>
          <p:nvPr/>
        </p:nvSpPr>
        <p:spPr>
          <a:xfrm>
            <a:off x="640080" y="1737360"/>
            <a:ext cx="10881360" cy="53035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874519"/>
            <a:ext cx="256032" cy="256032"/>
          </a:xfrm>
          <a:prstGeom prst="rect">
            <a:avLst/>
          </a:prstGeom>
          <a:noFill/>
          <a:ln w="1905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1737360"/>
            <a:ext cx="10058400" cy="530352"/>
          </a:xfrm>
          <a:prstGeom prst="rect">
            <a:avLst/>
          </a:prstGeom>
          <a:noFill/>
        </p:spPr>
        <p:txBody>
          <a:bodyPr wrap="square" anchor="ctr">
            <a:spAutoFit/>
          </a:bodyPr>
          <a:lstStyle/>
          <a:p>
            <a:pPr algn="l"/>
            <a:r>
              <a:rPr sz="1250" b="0">
                <a:solidFill>
                  <a:srgbClr val="1C2B27"/>
                </a:solidFill>
                <a:latin typeface="Meiryo UI"/>
              </a:rPr>
              <a:t>「月次売上処理」タブで3種類の売上を確定した</a:t>
            </a:r>
          </a:p>
        </p:txBody>
      </p:sp>
      <p:sp>
        <p:nvSpPr>
          <p:cNvPr id="11" name="Rectangle 10"/>
          <p:cNvSpPr/>
          <p:nvPr/>
        </p:nvSpPr>
        <p:spPr>
          <a:xfrm>
            <a:off x="640080" y="2350008"/>
            <a:ext cx="10881360" cy="53035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487168"/>
            <a:ext cx="256032" cy="256032"/>
          </a:xfrm>
          <a:prstGeom prst="rect">
            <a:avLst/>
          </a:prstGeom>
          <a:noFill/>
          <a:ln w="1905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2350008"/>
            <a:ext cx="10058400" cy="530352"/>
          </a:xfrm>
          <a:prstGeom prst="rect">
            <a:avLst/>
          </a:prstGeom>
          <a:noFill/>
        </p:spPr>
        <p:txBody>
          <a:bodyPr wrap="square" anchor="ctr">
            <a:spAutoFit/>
          </a:bodyPr>
          <a:lstStyle/>
          <a:p>
            <a:pPr algn="l"/>
            <a:r>
              <a:rPr sz="1250" b="0">
                <a:solidFill>
                  <a:srgbClr val="1C2B27"/>
                </a:solidFill>
                <a:latin typeface="Meiryo UI"/>
              </a:rPr>
              <a:t>対象月の請求書を全社分アップロードし、検証OKになっているか確認した</a:t>
            </a:r>
          </a:p>
        </p:txBody>
      </p:sp>
      <p:sp>
        <p:nvSpPr>
          <p:cNvPr id="14" name="Rectangle 13"/>
          <p:cNvSpPr/>
          <p:nvPr/>
        </p:nvSpPr>
        <p:spPr>
          <a:xfrm>
            <a:off x="640080" y="2962656"/>
            <a:ext cx="10881360" cy="53035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99815"/>
            <a:ext cx="256032" cy="256032"/>
          </a:xfrm>
          <a:prstGeom prst="rect">
            <a:avLst/>
          </a:prstGeom>
          <a:noFill/>
          <a:ln w="1905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962656"/>
            <a:ext cx="10058400" cy="530352"/>
          </a:xfrm>
          <a:prstGeom prst="rect">
            <a:avLst/>
          </a:prstGeom>
          <a:noFill/>
        </p:spPr>
        <p:txBody>
          <a:bodyPr wrap="square" anchor="ctr">
            <a:spAutoFit/>
          </a:bodyPr>
          <a:lstStyle/>
          <a:p>
            <a:pPr algn="l"/>
            <a:r>
              <a:rPr sz="1250" b="0">
                <a:solidFill>
                  <a:srgbClr val="1C2B27"/>
                </a:solidFill>
                <a:latin typeface="Meiryo UI"/>
              </a:rPr>
              <a:t>「突合実行」を押して突合結果タブを開けるようにした</a:t>
            </a:r>
          </a:p>
        </p:txBody>
      </p:sp>
      <p:sp>
        <p:nvSpPr>
          <p:cNvPr id="17" name="Rectangle 16"/>
          <p:cNvSpPr/>
          <p:nvPr/>
        </p:nvSpPr>
        <p:spPr>
          <a:xfrm>
            <a:off x="640080" y="3575303"/>
            <a:ext cx="10881360" cy="53035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3712463"/>
            <a:ext cx="256032" cy="256032"/>
          </a:xfrm>
          <a:prstGeom prst="rect">
            <a:avLst/>
          </a:prstGeom>
          <a:noFill/>
          <a:ln w="1905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3575303"/>
            <a:ext cx="10058400" cy="530352"/>
          </a:xfrm>
          <a:prstGeom prst="rect">
            <a:avLst/>
          </a:prstGeom>
          <a:noFill/>
        </p:spPr>
        <p:txBody>
          <a:bodyPr wrap="square" anchor="ctr">
            <a:spAutoFit/>
          </a:bodyPr>
          <a:lstStyle/>
          <a:p>
            <a:pPr algn="l"/>
            <a:r>
              <a:rPr sz="1250" b="0">
                <a:solidFill>
                  <a:srgbClr val="1C2B27"/>
                </a:solidFill>
                <a:latin typeface="Meiryo UI"/>
              </a:rPr>
              <a:t>利用者別突合セクション（3種類）で差額のある利用者を確認・紐づけ修正した</a:t>
            </a:r>
          </a:p>
        </p:txBody>
      </p:sp>
      <p:sp>
        <p:nvSpPr>
          <p:cNvPr id="20" name="Rectangle 19"/>
          <p:cNvSpPr/>
          <p:nvPr/>
        </p:nvSpPr>
        <p:spPr>
          <a:xfrm>
            <a:off x="640080" y="4187952"/>
            <a:ext cx="10881360" cy="53035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325112"/>
            <a:ext cx="256032" cy="256032"/>
          </a:xfrm>
          <a:prstGeom prst="rect">
            <a:avLst/>
          </a:prstGeom>
          <a:noFill/>
          <a:ln w="1905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40" y="4187952"/>
            <a:ext cx="10058400" cy="530352"/>
          </a:xfrm>
          <a:prstGeom prst="rect">
            <a:avLst/>
          </a:prstGeom>
          <a:noFill/>
        </p:spPr>
        <p:txBody>
          <a:bodyPr wrap="square" anchor="ctr">
            <a:spAutoFit/>
          </a:bodyPr>
          <a:lstStyle/>
          <a:p>
            <a:pPr algn="l"/>
            <a:r>
              <a:rPr sz="1250" b="0">
                <a:solidFill>
                  <a:srgbClr val="1C2B27"/>
                </a:solidFill>
                <a:latin typeface="Meiryo UI"/>
              </a:rPr>
              <a:t>月をまたぐ遅れ請求があれば「対象月」でタグ付けした</a:t>
            </a:r>
          </a:p>
        </p:txBody>
      </p:sp>
      <p:sp>
        <p:nvSpPr>
          <p:cNvPr id="23" name="Rectangle 22"/>
          <p:cNvSpPr/>
          <p:nvPr/>
        </p:nvSpPr>
        <p:spPr>
          <a:xfrm>
            <a:off x="640080" y="4800600"/>
            <a:ext cx="10881360" cy="53035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937760"/>
            <a:ext cx="256032" cy="256032"/>
          </a:xfrm>
          <a:prstGeom prst="rect">
            <a:avLst/>
          </a:prstGeom>
          <a:noFill/>
          <a:ln w="1905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34440" y="4800600"/>
            <a:ext cx="10058400" cy="530352"/>
          </a:xfrm>
          <a:prstGeom prst="rect">
            <a:avLst/>
          </a:prstGeom>
          <a:noFill/>
        </p:spPr>
        <p:txBody>
          <a:bodyPr wrap="square" anchor="ctr">
            <a:spAutoFit/>
          </a:bodyPr>
          <a:lstStyle/>
          <a:p>
            <a:pPr algn="l"/>
            <a:r>
              <a:rPr sz="1250" b="0">
                <a:solidFill>
                  <a:srgbClr val="1C2B27"/>
                </a:solidFill>
                <a:latin typeface="Meiryo UI"/>
              </a:rPr>
              <a:t>「卸品目未紐づけ一覧」を確認し、紐づけ漏れがないか見た</a:t>
            </a:r>
          </a:p>
        </p:txBody>
      </p:sp>
      <p:sp>
        <p:nvSpPr>
          <p:cNvPr id="26" name="Rectangle 25"/>
          <p:cNvSpPr/>
          <p:nvPr/>
        </p:nvSpPr>
        <p:spPr>
          <a:xfrm>
            <a:off x="640080" y="5413248"/>
            <a:ext cx="10881360" cy="530352"/>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5550408"/>
            <a:ext cx="256032" cy="256032"/>
          </a:xfrm>
          <a:prstGeom prst="rect">
            <a:avLst/>
          </a:prstGeom>
          <a:noFill/>
          <a:ln w="19050">
            <a:solidFill>
              <a:srgbClr val="0E8A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4440" y="5413248"/>
            <a:ext cx="10058400" cy="530352"/>
          </a:xfrm>
          <a:prstGeom prst="rect">
            <a:avLst/>
          </a:prstGeom>
          <a:noFill/>
        </p:spPr>
        <p:txBody>
          <a:bodyPr wrap="square" anchor="ctr">
            <a:spAutoFit/>
          </a:bodyPr>
          <a:lstStyle/>
          <a:p>
            <a:pPr algn="l"/>
            <a:r>
              <a:rPr sz="1250" b="0">
                <a:solidFill>
                  <a:srgbClr val="1C2B27"/>
                </a:solidFill>
                <a:latin typeface="Meiryo UI"/>
              </a:rPr>
              <a:t>卸会社を1社ずつ仕入確定し、全社・全売上がそろったら月次確定した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365760"/>
          </a:xfrm>
          <a:prstGeom prst="rect">
            <a:avLst/>
          </a:prstGeom>
          <a:noFill/>
        </p:spPr>
        <p:txBody>
          <a:bodyPr wrap="square" anchor="t">
            <a:spAutoFit/>
          </a:bodyPr>
          <a:lstStyle/>
          <a:p>
            <a:pPr algn="l"/>
            <a:r>
              <a:rPr sz="1300" b="1">
                <a:solidFill>
                  <a:srgbClr val="0E8A78"/>
                </a:solidFill>
                <a:latin typeface="Meiryo UI"/>
              </a:rPr>
              <a:t>FAQ</a:t>
            </a:r>
          </a:p>
        </p:txBody>
      </p:sp>
      <p:sp>
        <p:nvSpPr>
          <p:cNvPr id="5" name="TextBox 4"/>
          <p:cNvSpPr txBox="1"/>
          <p:nvPr/>
        </p:nvSpPr>
        <p:spPr>
          <a:xfrm>
            <a:off x="603504" y="658368"/>
            <a:ext cx="10972800" cy="822960"/>
          </a:xfrm>
          <a:prstGeom prst="rect">
            <a:avLst/>
          </a:prstGeom>
          <a:noFill/>
        </p:spPr>
        <p:txBody>
          <a:bodyPr wrap="square" anchor="t">
            <a:spAutoFit/>
          </a:bodyPr>
          <a:lstStyle/>
          <a:p>
            <a:pPr algn="l"/>
            <a:r>
              <a:rPr sz="2700" b="1">
                <a:solidFill>
                  <a:srgbClr val="1C2B27"/>
                </a:solidFill>
                <a:latin typeface="Meiryo UI"/>
              </a:rPr>
              <a:t>よくある質問・トラブルシューティング</a:t>
            </a:r>
          </a:p>
        </p:txBody>
      </p:sp>
      <p:sp>
        <p:nvSpPr>
          <p:cNvPr id="6" name="Rectangle 5"/>
          <p:cNvSpPr/>
          <p:nvPr/>
        </p:nvSpPr>
        <p:spPr>
          <a:xfrm>
            <a:off x="640080" y="1444752"/>
            <a:ext cx="1280160" cy="54864"/>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46520"/>
            <a:ext cx="10972800" cy="320040"/>
          </a:xfrm>
          <a:prstGeom prst="rect">
            <a:avLst/>
          </a:prstGeom>
          <a:noFill/>
        </p:spPr>
        <p:txBody>
          <a:bodyPr wrap="square" anchor="t">
            <a:spAutoFit/>
          </a:bodyPr>
          <a:lstStyle/>
          <a:p>
            <a:pPr algn="r"/>
            <a:r>
              <a:rPr sz="1000" b="0">
                <a:solidFill>
                  <a:srgbClr val="5B6E68"/>
                </a:solidFill>
                <a:latin typeface="Meiryo UI"/>
              </a:rPr>
              <a:t>WelfareAssist Pro ｜ 売上・仕入突合タブ 操作マニュアル</a:t>
            </a:r>
          </a:p>
        </p:txBody>
      </p:sp>
      <p:sp>
        <p:nvSpPr>
          <p:cNvPr id="8" name="Rectangle 7"/>
          <p:cNvSpPr/>
          <p:nvPr/>
        </p:nvSpPr>
        <p:spPr>
          <a:xfrm>
            <a:off x="640080" y="1737360"/>
            <a:ext cx="10881360" cy="886968"/>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54864" cy="886968"/>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28800"/>
            <a:ext cx="457200" cy="704088"/>
          </a:xfrm>
          <a:prstGeom prst="rect">
            <a:avLst/>
          </a:prstGeom>
          <a:noFill/>
        </p:spPr>
        <p:txBody>
          <a:bodyPr wrap="square" anchor="t">
            <a:spAutoFit/>
          </a:bodyPr>
          <a:lstStyle/>
          <a:p>
            <a:pPr algn="l"/>
            <a:r>
              <a:rPr sz="1500" b="1">
                <a:solidFill>
                  <a:srgbClr val="0E8A78"/>
                </a:solidFill>
                <a:latin typeface="Meiryo UI"/>
              </a:rPr>
              <a:t>Q</a:t>
            </a:r>
          </a:p>
        </p:txBody>
      </p:sp>
      <p:sp>
        <p:nvSpPr>
          <p:cNvPr id="11" name="TextBox 10"/>
          <p:cNvSpPr txBox="1"/>
          <p:nvPr/>
        </p:nvSpPr>
        <p:spPr>
          <a:xfrm>
            <a:off x="1188720" y="1783080"/>
            <a:ext cx="9966960" cy="365760"/>
          </a:xfrm>
          <a:prstGeom prst="rect">
            <a:avLst/>
          </a:prstGeom>
          <a:noFill/>
        </p:spPr>
        <p:txBody>
          <a:bodyPr wrap="square" anchor="t">
            <a:spAutoFit/>
          </a:bodyPr>
          <a:lstStyle/>
          <a:p>
            <a:pPr algn="l"/>
            <a:r>
              <a:rPr sz="1300" b="1">
                <a:solidFill>
                  <a:srgbClr val="1C2B27"/>
                </a:solidFill>
                <a:latin typeface="Meiryo UI"/>
              </a:rPr>
              <a:t>「突合結果」タブがグレーで押せません</a:t>
            </a:r>
          </a:p>
        </p:txBody>
      </p:sp>
      <p:sp>
        <p:nvSpPr>
          <p:cNvPr id="12" name="TextBox 11"/>
          <p:cNvSpPr txBox="1"/>
          <p:nvPr/>
        </p:nvSpPr>
        <p:spPr>
          <a:xfrm>
            <a:off x="1188720" y="2148840"/>
            <a:ext cx="9966960" cy="429768"/>
          </a:xfrm>
          <a:prstGeom prst="rect">
            <a:avLst/>
          </a:prstGeom>
          <a:noFill/>
        </p:spPr>
        <p:txBody>
          <a:bodyPr wrap="square" anchor="t">
            <a:spAutoFit/>
          </a:bodyPr>
          <a:lstStyle/>
          <a:p>
            <a:pPr algn="l"/>
            <a:r>
              <a:rPr sz="1150" b="0">
                <a:solidFill>
                  <a:srgbClr val="5B6E68"/>
                </a:solidFill>
                <a:latin typeface="Meiryo UI"/>
              </a:rPr>
              <a:t>「請求書アップロード」タブに戻り、下部の緑色「突合実行」ボタンを押してください。</a:t>
            </a:r>
          </a:p>
        </p:txBody>
      </p:sp>
      <p:sp>
        <p:nvSpPr>
          <p:cNvPr id="13" name="Rectangle 12"/>
          <p:cNvSpPr/>
          <p:nvPr/>
        </p:nvSpPr>
        <p:spPr>
          <a:xfrm>
            <a:off x="640080" y="2679191"/>
            <a:ext cx="10881360" cy="886968"/>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679191"/>
            <a:ext cx="54864" cy="886968"/>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770632"/>
            <a:ext cx="457200" cy="704088"/>
          </a:xfrm>
          <a:prstGeom prst="rect">
            <a:avLst/>
          </a:prstGeom>
          <a:noFill/>
        </p:spPr>
        <p:txBody>
          <a:bodyPr wrap="square" anchor="t">
            <a:spAutoFit/>
          </a:bodyPr>
          <a:lstStyle/>
          <a:p>
            <a:pPr algn="l"/>
            <a:r>
              <a:rPr sz="1500" b="1">
                <a:solidFill>
                  <a:srgbClr val="0E8A78"/>
                </a:solidFill>
                <a:latin typeface="Meiryo UI"/>
              </a:rPr>
              <a:t>Q</a:t>
            </a:r>
          </a:p>
        </p:txBody>
      </p:sp>
      <p:sp>
        <p:nvSpPr>
          <p:cNvPr id="16" name="TextBox 15"/>
          <p:cNvSpPr txBox="1"/>
          <p:nvPr/>
        </p:nvSpPr>
        <p:spPr>
          <a:xfrm>
            <a:off x="1188720" y="2724911"/>
            <a:ext cx="9966960" cy="365760"/>
          </a:xfrm>
          <a:prstGeom prst="rect">
            <a:avLst/>
          </a:prstGeom>
          <a:noFill/>
        </p:spPr>
        <p:txBody>
          <a:bodyPr wrap="square" anchor="t">
            <a:spAutoFit/>
          </a:bodyPr>
          <a:lstStyle/>
          <a:p>
            <a:pPr algn="l"/>
            <a:r>
              <a:rPr sz="1300" b="1">
                <a:solidFill>
                  <a:srgbClr val="1C2B27"/>
                </a:solidFill>
                <a:latin typeface="Meiryo UI"/>
              </a:rPr>
              <a:t>「突合済み」「売上のみ」タブが空欄です</a:t>
            </a:r>
          </a:p>
        </p:txBody>
      </p:sp>
      <p:sp>
        <p:nvSpPr>
          <p:cNvPr id="17" name="TextBox 16"/>
          <p:cNvSpPr txBox="1"/>
          <p:nvPr/>
        </p:nvSpPr>
        <p:spPr>
          <a:xfrm>
            <a:off x="1188720" y="3090672"/>
            <a:ext cx="9966960" cy="429768"/>
          </a:xfrm>
          <a:prstGeom prst="rect">
            <a:avLst/>
          </a:prstGeom>
          <a:noFill/>
        </p:spPr>
        <p:txBody>
          <a:bodyPr wrap="square" anchor="t">
            <a:spAutoFit/>
          </a:bodyPr>
          <a:lstStyle/>
          <a:p>
            <a:pPr algn="l"/>
            <a:r>
              <a:rPr sz="1150" b="0">
                <a:solidFill>
                  <a:srgbClr val="5B6E68"/>
                </a:solidFill>
                <a:latin typeface="Meiryo UI"/>
              </a:rPr>
              <a:t>正常です。3種類の売上は下の「利用者別突合セクション」で管理されるため、この2タブは常に空欄になります。</a:t>
            </a:r>
          </a:p>
        </p:txBody>
      </p:sp>
      <p:sp>
        <p:nvSpPr>
          <p:cNvPr id="18" name="Rectangle 17"/>
          <p:cNvSpPr/>
          <p:nvPr/>
        </p:nvSpPr>
        <p:spPr>
          <a:xfrm>
            <a:off x="640080" y="3621024"/>
            <a:ext cx="10881360" cy="886968"/>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621024"/>
            <a:ext cx="54864" cy="886968"/>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712463"/>
            <a:ext cx="457200" cy="704088"/>
          </a:xfrm>
          <a:prstGeom prst="rect">
            <a:avLst/>
          </a:prstGeom>
          <a:noFill/>
        </p:spPr>
        <p:txBody>
          <a:bodyPr wrap="square" anchor="t">
            <a:spAutoFit/>
          </a:bodyPr>
          <a:lstStyle/>
          <a:p>
            <a:pPr algn="l"/>
            <a:r>
              <a:rPr sz="1500" b="1">
                <a:solidFill>
                  <a:srgbClr val="0E8A78"/>
                </a:solidFill>
                <a:latin typeface="Meiryo UI"/>
              </a:rPr>
              <a:t>Q</a:t>
            </a:r>
          </a:p>
        </p:txBody>
      </p:sp>
      <p:sp>
        <p:nvSpPr>
          <p:cNvPr id="21" name="TextBox 20"/>
          <p:cNvSpPr txBox="1"/>
          <p:nvPr/>
        </p:nvSpPr>
        <p:spPr>
          <a:xfrm>
            <a:off x="1188720" y="3666744"/>
            <a:ext cx="9966960" cy="365760"/>
          </a:xfrm>
          <a:prstGeom prst="rect">
            <a:avLst/>
          </a:prstGeom>
          <a:noFill/>
        </p:spPr>
        <p:txBody>
          <a:bodyPr wrap="square" anchor="t">
            <a:spAutoFit/>
          </a:bodyPr>
          <a:lstStyle/>
          <a:p>
            <a:pPr algn="l"/>
            <a:r>
              <a:rPr sz="1300" b="1">
                <a:solidFill>
                  <a:srgbClr val="1C2B27"/>
                </a:solidFill>
                <a:latin typeface="Meiryo UI"/>
              </a:rPr>
              <a:t>紐づけを変更したいのにボタンが押せません</a:t>
            </a:r>
          </a:p>
        </p:txBody>
      </p:sp>
      <p:sp>
        <p:nvSpPr>
          <p:cNvPr id="22" name="TextBox 21"/>
          <p:cNvSpPr txBox="1"/>
          <p:nvPr/>
        </p:nvSpPr>
        <p:spPr>
          <a:xfrm>
            <a:off x="1188720" y="4032504"/>
            <a:ext cx="9966960" cy="429768"/>
          </a:xfrm>
          <a:prstGeom prst="rect">
            <a:avLst/>
          </a:prstGeom>
          <a:noFill/>
        </p:spPr>
        <p:txBody>
          <a:bodyPr wrap="square" anchor="t">
            <a:spAutoFit/>
          </a:bodyPr>
          <a:lstStyle/>
          <a:p>
            <a:pPr algn="l"/>
            <a:r>
              <a:rPr sz="1150" b="0">
                <a:solidFill>
                  <a:srgbClr val="5B6E68"/>
                </a:solidFill>
                <a:latin typeface="Meiryo UI"/>
              </a:rPr>
              <a:t>その卸会社の請求書が「確定済み」です。「解除」を押してから再度お試しください。金額データは消えません。</a:t>
            </a:r>
          </a:p>
        </p:txBody>
      </p:sp>
      <p:sp>
        <p:nvSpPr>
          <p:cNvPr id="23" name="Rectangle 22"/>
          <p:cNvSpPr/>
          <p:nvPr/>
        </p:nvSpPr>
        <p:spPr>
          <a:xfrm>
            <a:off x="640080" y="4562856"/>
            <a:ext cx="10881360" cy="886968"/>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562856"/>
            <a:ext cx="54864" cy="886968"/>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654296"/>
            <a:ext cx="457200" cy="704088"/>
          </a:xfrm>
          <a:prstGeom prst="rect">
            <a:avLst/>
          </a:prstGeom>
          <a:noFill/>
        </p:spPr>
        <p:txBody>
          <a:bodyPr wrap="square" anchor="t">
            <a:spAutoFit/>
          </a:bodyPr>
          <a:lstStyle/>
          <a:p>
            <a:pPr algn="l"/>
            <a:r>
              <a:rPr sz="1500" b="1">
                <a:solidFill>
                  <a:srgbClr val="0E8A78"/>
                </a:solidFill>
                <a:latin typeface="Meiryo UI"/>
              </a:rPr>
              <a:t>Q</a:t>
            </a:r>
          </a:p>
        </p:txBody>
      </p:sp>
      <p:sp>
        <p:nvSpPr>
          <p:cNvPr id="26" name="TextBox 25"/>
          <p:cNvSpPr txBox="1"/>
          <p:nvPr/>
        </p:nvSpPr>
        <p:spPr>
          <a:xfrm>
            <a:off x="1188720" y="4608576"/>
            <a:ext cx="9966960" cy="365760"/>
          </a:xfrm>
          <a:prstGeom prst="rect">
            <a:avLst/>
          </a:prstGeom>
          <a:noFill/>
        </p:spPr>
        <p:txBody>
          <a:bodyPr wrap="square" anchor="t">
            <a:spAutoFit/>
          </a:bodyPr>
          <a:lstStyle/>
          <a:p>
            <a:pPr algn="l"/>
            <a:r>
              <a:rPr sz="1300" b="1">
                <a:solidFill>
                  <a:srgbClr val="1C2B27"/>
                </a:solidFill>
                <a:latin typeface="Meiryo UI"/>
              </a:rPr>
              <a:t>前月分の遅れ請求が混ざっていました</a:t>
            </a:r>
          </a:p>
        </p:txBody>
      </p:sp>
      <p:sp>
        <p:nvSpPr>
          <p:cNvPr id="27" name="TextBox 26"/>
          <p:cNvSpPr txBox="1"/>
          <p:nvPr/>
        </p:nvSpPr>
        <p:spPr>
          <a:xfrm>
            <a:off x="1188720" y="4974336"/>
            <a:ext cx="9966960" cy="429768"/>
          </a:xfrm>
          <a:prstGeom prst="rect">
            <a:avLst/>
          </a:prstGeom>
          <a:noFill/>
        </p:spPr>
        <p:txBody>
          <a:bodyPr wrap="square" anchor="t">
            <a:spAutoFit/>
          </a:bodyPr>
          <a:lstStyle/>
          <a:p>
            <a:pPr algn="l"/>
            <a:r>
              <a:rPr sz="1150" b="0">
                <a:solidFill>
                  <a:srgbClr val="5B6E68"/>
                </a:solidFill>
                <a:latin typeface="Meiryo UI"/>
              </a:rPr>
              <a:t>「仕入のみ」タブでその行に「対象月」を設定してください。今月の請求合計は変わりません。</a:t>
            </a:r>
          </a:p>
        </p:txBody>
      </p:sp>
      <p:sp>
        <p:nvSpPr>
          <p:cNvPr id="28" name="Rectangle 27"/>
          <p:cNvSpPr/>
          <p:nvPr/>
        </p:nvSpPr>
        <p:spPr>
          <a:xfrm>
            <a:off x="640080" y="5504688"/>
            <a:ext cx="10881360" cy="886968"/>
          </a:xfrm>
          <a:prstGeom prst="rect">
            <a:avLst/>
          </a:prstGeom>
          <a:solidFill>
            <a:srgbClr val="FFFFFF"/>
          </a:solidFill>
          <a:ln w="6350">
            <a:solidFill>
              <a:srgbClr val="D7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5504688"/>
            <a:ext cx="54864" cy="886968"/>
          </a:xfrm>
          <a:prstGeom prst="rect">
            <a:avLst/>
          </a:prstGeom>
          <a:solidFill>
            <a:srgbClr val="0E8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596128"/>
            <a:ext cx="457200" cy="704088"/>
          </a:xfrm>
          <a:prstGeom prst="rect">
            <a:avLst/>
          </a:prstGeom>
          <a:noFill/>
        </p:spPr>
        <p:txBody>
          <a:bodyPr wrap="square" anchor="t">
            <a:spAutoFit/>
          </a:bodyPr>
          <a:lstStyle/>
          <a:p>
            <a:pPr algn="l"/>
            <a:r>
              <a:rPr sz="1500" b="1">
                <a:solidFill>
                  <a:srgbClr val="0E8A78"/>
                </a:solidFill>
                <a:latin typeface="Meiryo UI"/>
              </a:rPr>
              <a:t>Q</a:t>
            </a:r>
          </a:p>
        </p:txBody>
      </p:sp>
      <p:sp>
        <p:nvSpPr>
          <p:cNvPr id="31" name="TextBox 30"/>
          <p:cNvSpPr txBox="1"/>
          <p:nvPr/>
        </p:nvSpPr>
        <p:spPr>
          <a:xfrm>
            <a:off x="1188720" y="5550408"/>
            <a:ext cx="9966960" cy="365760"/>
          </a:xfrm>
          <a:prstGeom prst="rect">
            <a:avLst/>
          </a:prstGeom>
          <a:noFill/>
        </p:spPr>
        <p:txBody>
          <a:bodyPr wrap="square" anchor="t">
            <a:spAutoFit/>
          </a:bodyPr>
          <a:lstStyle/>
          <a:p>
            <a:pPr algn="l"/>
            <a:r>
              <a:rPr sz="1300" b="1">
                <a:solidFill>
                  <a:srgbClr val="1C2B27"/>
                </a:solidFill>
                <a:latin typeface="Meiryo UI"/>
              </a:rPr>
              <a:t>消耗品が「自社ベッド」と表示されています</a:t>
            </a:r>
          </a:p>
        </p:txBody>
      </p:sp>
      <p:sp>
        <p:nvSpPr>
          <p:cNvPr id="32" name="TextBox 31"/>
          <p:cNvSpPr txBox="1"/>
          <p:nvPr/>
        </p:nvSpPr>
        <p:spPr>
          <a:xfrm>
            <a:off x="1188720" y="5916168"/>
            <a:ext cx="9966960" cy="429768"/>
          </a:xfrm>
          <a:prstGeom prst="rect">
            <a:avLst/>
          </a:prstGeom>
          <a:noFill/>
        </p:spPr>
        <p:txBody>
          <a:bodyPr wrap="square" anchor="t">
            <a:spAutoFit/>
          </a:bodyPr>
          <a:lstStyle/>
          <a:p>
            <a:pPr algn="l"/>
            <a:r>
              <a:rPr sz="1150" b="0">
                <a:solidFill>
                  <a:srgbClr val="5B6E68"/>
                </a:solidFill>
                <a:latin typeface="Meiryo UI"/>
              </a:rPr>
              <a:t>機器編集で「物件属性」を誤って「自社物件」に設定した可能性があります。「ー」に戻してください。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