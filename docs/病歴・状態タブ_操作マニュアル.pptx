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A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457200"/>
          </a:xfrm>
          <a:prstGeom prst="rect">
            <a:avLst/>
          </a:prstGeom>
          <a:noFill/>
        </p:spPr>
        <p:txBody>
          <a:bodyPr wrap="square" anchor="t">
            <a:spAutoFit/>
          </a:bodyPr>
          <a:lstStyle/>
          <a:p>
            <a:pPr algn="l"/>
            <a:r>
              <a:rPr sz="1600" b="1">
                <a:solidFill>
                  <a:srgbClr val="DC2626"/>
                </a:solidFill>
                <a:latin typeface="Meiryo UI"/>
              </a:rPr>
              <a:t>福祉用具マネージャー　操作マニュアル</a:t>
            </a:r>
          </a:p>
        </p:txBody>
      </p:sp>
      <p:sp>
        <p:nvSpPr>
          <p:cNvPr id="5" name="TextBox 4"/>
          <p:cNvSpPr txBox="1"/>
          <p:nvPr/>
        </p:nvSpPr>
        <p:spPr>
          <a:xfrm>
            <a:off x="914400" y="2377440"/>
            <a:ext cx="10332720" cy="1188720"/>
          </a:xfrm>
          <a:prstGeom prst="rect">
            <a:avLst/>
          </a:prstGeom>
          <a:noFill/>
        </p:spPr>
        <p:txBody>
          <a:bodyPr wrap="square" anchor="t">
            <a:spAutoFit/>
          </a:bodyPr>
          <a:lstStyle/>
          <a:p>
            <a:pPr algn="l"/>
            <a:r>
              <a:rPr sz="4600" b="1">
                <a:solidFill>
                  <a:srgbClr val="1C2B27"/>
                </a:solidFill>
                <a:latin typeface="Meiryo UI"/>
              </a:rPr>
              <a:t>「病歴・状態」タブの使い方</a:t>
            </a:r>
          </a:p>
        </p:txBody>
      </p:sp>
      <p:sp>
        <p:nvSpPr>
          <p:cNvPr id="6" name="Rectangle 5"/>
          <p:cNvSpPr/>
          <p:nvPr/>
        </p:nvSpPr>
        <p:spPr>
          <a:xfrm>
            <a:off x="960120" y="3611880"/>
            <a:ext cx="2011680" cy="7315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886200"/>
            <a:ext cx="10058400" cy="1097280"/>
          </a:xfrm>
          <a:prstGeom prst="rect">
            <a:avLst/>
          </a:prstGeom>
          <a:noFill/>
        </p:spPr>
        <p:txBody>
          <a:bodyPr wrap="square">
            <a:spAutoFit/>
          </a:bodyPr>
          <a:lstStyle/>
          <a:p>
            <a:pPr algn="l">
              <a:lnSpc>
                <a:spcPct val="125000"/>
              </a:lnSpc>
              <a:spcAft>
                <a:spcPts val="400"/>
              </a:spcAft>
            </a:pPr>
            <a:r>
              <a:rPr sz="1700" b="0">
                <a:solidFill>
                  <a:srgbClr val="5B6E68"/>
                </a:solidFill>
                <a:latin typeface="Meiryo UI"/>
              </a:rPr>
              <a:t>利用者の病名・身体状況を記録する画面です。</a:t>
            </a:r>
          </a:p>
          <a:p>
            <a:pPr algn="l">
              <a:lnSpc>
                <a:spcPct val="125000"/>
              </a:lnSpc>
              <a:spcAft>
                <a:spcPts val="400"/>
              </a:spcAft>
            </a:pPr>
            <a:r>
              <a:rPr sz="1700" b="0">
                <a:solidFill>
                  <a:srgbClr val="5B6E68"/>
                </a:solidFill>
                <a:latin typeface="Meiryo UI"/>
              </a:rPr>
              <a:t>診療情報提供書などの医療文書をAIが読み取り、病歴欄へ自動入力することもできます。</a:t>
            </a:r>
          </a:p>
          <a:p>
            <a:pPr algn="l">
              <a:lnSpc>
                <a:spcPct val="125000"/>
              </a:lnSpc>
              <a:spcAft>
                <a:spcPts val="400"/>
              </a:spcAft>
            </a:pPr>
            <a:r>
              <a:rPr sz="1700" b="0">
                <a:solidFill>
                  <a:srgbClr val="5B6E68"/>
                </a:solidFill>
                <a:latin typeface="Meiryo UI"/>
              </a:rPr>
              <a:t>また病歴をもとにAIが適切な福祉用具を提案します。</a:t>
            </a:r>
          </a:p>
        </p:txBody>
      </p:sp>
      <p:sp>
        <p:nvSpPr>
          <p:cNvPr id="8" name="TextBox 7"/>
          <p:cNvSpPr txBox="1"/>
          <p:nvPr/>
        </p:nvSpPr>
        <p:spPr>
          <a:xfrm>
            <a:off x="960120" y="5852160"/>
            <a:ext cx="10515600" cy="457200"/>
          </a:xfrm>
          <a:prstGeom prst="rect">
            <a:avLst/>
          </a:prstGeom>
          <a:noFill/>
        </p:spPr>
        <p:txBody>
          <a:bodyPr wrap="square" anchor="t">
            <a:spAutoFit/>
          </a:bodyPr>
          <a:lstStyle/>
          <a:p>
            <a:pPr algn="l"/>
            <a:r>
              <a:rPr sz="1300" b="1">
                <a:solidFill>
                  <a:srgbClr val="DC2626"/>
                </a:solidFill>
                <a:latin typeface="Meiryo UI"/>
              </a:rPr>
              <a:t>対象：福祉用具専門相談員のみなさま　／　場所：利用者をクリック → 「病歴・状態」タブ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DC2626"/>
                </a:solidFill>
                <a:latin typeface="Meiryo UI"/>
              </a:rPr>
              <a:t>OVERVIEW</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このタブでできること</a:t>
            </a:r>
          </a:p>
        </p:txBody>
      </p:sp>
      <p:sp>
        <p:nvSpPr>
          <p:cNvPr id="6" name="Rectangle 5"/>
          <p:cNvSpPr/>
          <p:nvPr/>
        </p:nvSpPr>
        <p:spPr>
          <a:xfrm>
            <a:off x="640080" y="1481328"/>
            <a:ext cx="1280160" cy="548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病歴・状態タブ 操作マニュアル</a:t>
            </a:r>
          </a:p>
        </p:txBody>
      </p:sp>
      <p:sp>
        <p:nvSpPr>
          <p:cNvPr id="8" name="Rectangle 7"/>
          <p:cNvSpPr/>
          <p:nvPr/>
        </p:nvSpPr>
        <p:spPr>
          <a:xfrm>
            <a:off x="640080" y="1828800"/>
            <a:ext cx="2560320" cy="3108960"/>
          </a:xfrm>
          <a:prstGeom prst="rect">
            <a:avLst/>
          </a:prstGeom>
          <a:solidFill>
            <a:srgbClr val="FEE2E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91440" cy="31089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65960"/>
            <a:ext cx="731520" cy="640080"/>
          </a:xfrm>
          <a:prstGeom prst="rect">
            <a:avLst/>
          </a:prstGeom>
          <a:noFill/>
        </p:spPr>
        <p:txBody>
          <a:bodyPr wrap="square" anchor="ctr">
            <a:spAutoFit/>
          </a:bodyPr>
          <a:lstStyle/>
          <a:p>
            <a:pPr algn="l"/>
            <a:r>
              <a:rPr sz="2600" b="0">
                <a:solidFill>
                  <a:srgbClr val="1C2B27"/>
                </a:solidFill>
                <a:latin typeface="Meiryo UI"/>
              </a:rPr>
              <a:t>📋</a:t>
            </a:r>
          </a:p>
        </p:txBody>
      </p:sp>
      <p:sp>
        <p:nvSpPr>
          <p:cNvPr id="11" name="TextBox 10"/>
          <p:cNvSpPr txBox="1"/>
          <p:nvPr/>
        </p:nvSpPr>
        <p:spPr>
          <a:xfrm>
            <a:off x="841247" y="2651760"/>
            <a:ext cx="2240280" cy="502920"/>
          </a:xfrm>
          <a:prstGeom prst="rect">
            <a:avLst/>
          </a:prstGeom>
          <a:noFill/>
        </p:spPr>
        <p:txBody>
          <a:bodyPr wrap="square" anchor="t">
            <a:spAutoFit/>
          </a:bodyPr>
          <a:lstStyle/>
          <a:p>
            <a:pPr algn="l"/>
            <a:r>
              <a:rPr sz="1500" b="1">
                <a:solidFill>
                  <a:srgbClr val="1C2B27"/>
                </a:solidFill>
                <a:latin typeface="Meiryo UI"/>
              </a:rPr>
              <a:t>病歴・身体状況を記録</a:t>
            </a:r>
          </a:p>
        </p:txBody>
      </p:sp>
      <p:sp>
        <p:nvSpPr>
          <p:cNvPr id="12" name="TextBox 11"/>
          <p:cNvSpPr txBox="1"/>
          <p:nvPr/>
        </p:nvSpPr>
        <p:spPr>
          <a:xfrm>
            <a:off x="841247" y="3200400"/>
            <a:ext cx="2240280" cy="1508760"/>
          </a:xfrm>
          <a:prstGeom prst="rect">
            <a:avLst/>
          </a:prstGeom>
          <a:noFill/>
        </p:spPr>
        <p:txBody>
          <a:bodyPr wrap="square" anchor="t">
            <a:spAutoFit/>
          </a:bodyPr>
          <a:lstStyle/>
          <a:p>
            <a:pPr algn="l"/>
            <a:r>
              <a:rPr sz="1200" b="0">
                <a:solidFill>
                  <a:srgbClr val="5B6E68"/>
                </a:solidFill>
                <a:latin typeface="Meiryo UI"/>
              </a:rPr>
              <a:t>病名・麻痺の有無・ADLなど利用者の状態を自由テキストで入力・保存します。全タブから参照されます。</a:t>
            </a:r>
          </a:p>
        </p:txBody>
      </p:sp>
      <p:sp>
        <p:nvSpPr>
          <p:cNvPr id="13" name="Rectangle 12"/>
          <p:cNvSpPr/>
          <p:nvPr/>
        </p:nvSpPr>
        <p:spPr>
          <a:xfrm>
            <a:off x="3364991" y="1828800"/>
            <a:ext cx="2560320" cy="3108960"/>
          </a:xfrm>
          <a:prstGeom prst="rect">
            <a:avLst/>
          </a:prstGeom>
          <a:solidFill>
            <a:srgbClr val="DBEAFE"/>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64991" y="1828800"/>
            <a:ext cx="91440" cy="310896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1" y="1965960"/>
            <a:ext cx="731520" cy="640080"/>
          </a:xfrm>
          <a:prstGeom prst="rect">
            <a:avLst/>
          </a:prstGeom>
          <a:noFill/>
        </p:spPr>
        <p:txBody>
          <a:bodyPr wrap="square" anchor="ctr">
            <a:spAutoFit/>
          </a:bodyPr>
          <a:lstStyle/>
          <a:p>
            <a:pPr algn="l"/>
            <a:r>
              <a:rPr sz="2600" b="0">
                <a:solidFill>
                  <a:srgbClr val="1C2B27"/>
                </a:solidFill>
                <a:latin typeface="Meiryo UI"/>
              </a:rPr>
              <a:t>📄</a:t>
            </a:r>
          </a:p>
        </p:txBody>
      </p:sp>
      <p:sp>
        <p:nvSpPr>
          <p:cNvPr id="16" name="TextBox 15"/>
          <p:cNvSpPr txBox="1"/>
          <p:nvPr/>
        </p:nvSpPr>
        <p:spPr>
          <a:xfrm>
            <a:off x="3566160" y="2651760"/>
            <a:ext cx="2240280" cy="502920"/>
          </a:xfrm>
          <a:prstGeom prst="rect">
            <a:avLst/>
          </a:prstGeom>
          <a:noFill/>
        </p:spPr>
        <p:txBody>
          <a:bodyPr wrap="square" anchor="t">
            <a:spAutoFit/>
          </a:bodyPr>
          <a:lstStyle/>
          <a:p>
            <a:pPr algn="l"/>
            <a:r>
              <a:rPr sz="1500" b="1">
                <a:solidFill>
                  <a:srgbClr val="1C2B27"/>
                </a:solidFill>
                <a:latin typeface="Meiryo UI"/>
              </a:rPr>
              <a:t>医療文書をAI読み取り</a:t>
            </a:r>
          </a:p>
        </p:txBody>
      </p:sp>
      <p:sp>
        <p:nvSpPr>
          <p:cNvPr id="17" name="TextBox 16"/>
          <p:cNvSpPr txBox="1"/>
          <p:nvPr/>
        </p:nvSpPr>
        <p:spPr>
          <a:xfrm>
            <a:off x="3566160" y="3200400"/>
            <a:ext cx="2240280" cy="1508760"/>
          </a:xfrm>
          <a:prstGeom prst="rect">
            <a:avLst/>
          </a:prstGeom>
          <a:noFill/>
        </p:spPr>
        <p:txBody>
          <a:bodyPr wrap="square" anchor="t">
            <a:spAutoFit/>
          </a:bodyPr>
          <a:lstStyle/>
          <a:p>
            <a:pPr algn="l"/>
            <a:r>
              <a:rPr sz="1200" b="0">
                <a:solidFill>
                  <a:srgbClr val="5B6E68"/>
                </a:solidFill>
                <a:latin typeface="Meiryo UI"/>
              </a:rPr>
              <a:t>診療情報提供書・退院サマリーなどのPDF・画像をアップロードするとAIがテキストを抽出します。</a:t>
            </a:r>
          </a:p>
        </p:txBody>
      </p:sp>
      <p:sp>
        <p:nvSpPr>
          <p:cNvPr id="18" name="Rectangle 17"/>
          <p:cNvSpPr/>
          <p:nvPr/>
        </p:nvSpPr>
        <p:spPr>
          <a:xfrm>
            <a:off x="6089904" y="1828800"/>
            <a:ext cx="2560320" cy="3108960"/>
          </a:xfrm>
          <a:prstGeom prst="rect">
            <a:avLst/>
          </a:prstGeom>
          <a:solidFill>
            <a:srgbClr val="EDE9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89904" y="1828800"/>
            <a:ext cx="91440" cy="3108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8504" y="1965960"/>
            <a:ext cx="731520" cy="640080"/>
          </a:xfrm>
          <a:prstGeom prst="rect">
            <a:avLst/>
          </a:prstGeom>
          <a:noFill/>
        </p:spPr>
        <p:txBody>
          <a:bodyPr wrap="square" anchor="ctr">
            <a:spAutoFit/>
          </a:bodyPr>
          <a:lstStyle/>
          <a:p>
            <a:pPr algn="l"/>
            <a:r>
              <a:rPr sz="2600" b="0">
                <a:solidFill>
                  <a:srgbClr val="1C2B27"/>
                </a:solidFill>
                <a:latin typeface="Meiryo UI"/>
              </a:rPr>
              <a:t>🤖</a:t>
            </a:r>
          </a:p>
        </p:txBody>
      </p:sp>
      <p:sp>
        <p:nvSpPr>
          <p:cNvPr id="21" name="TextBox 20"/>
          <p:cNvSpPr txBox="1"/>
          <p:nvPr/>
        </p:nvSpPr>
        <p:spPr>
          <a:xfrm>
            <a:off x="6291072" y="2651760"/>
            <a:ext cx="2240280" cy="502920"/>
          </a:xfrm>
          <a:prstGeom prst="rect">
            <a:avLst/>
          </a:prstGeom>
          <a:noFill/>
        </p:spPr>
        <p:txBody>
          <a:bodyPr wrap="square" anchor="t">
            <a:spAutoFit/>
          </a:bodyPr>
          <a:lstStyle/>
          <a:p>
            <a:pPr algn="l"/>
            <a:r>
              <a:rPr sz="1500" b="1">
                <a:solidFill>
                  <a:srgbClr val="1C2B27"/>
                </a:solidFill>
                <a:latin typeface="Meiryo UI"/>
              </a:rPr>
              <a:t>病歴から用具を提案</a:t>
            </a:r>
          </a:p>
        </p:txBody>
      </p:sp>
      <p:sp>
        <p:nvSpPr>
          <p:cNvPr id="22" name="TextBox 21"/>
          <p:cNvSpPr txBox="1"/>
          <p:nvPr/>
        </p:nvSpPr>
        <p:spPr>
          <a:xfrm>
            <a:off x="6291072" y="3200400"/>
            <a:ext cx="2240280" cy="1508760"/>
          </a:xfrm>
          <a:prstGeom prst="rect">
            <a:avLst/>
          </a:prstGeom>
          <a:noFill/>
        </p:spPr>
        <p:txBody>
          <a:bodyPr wrap="square" anchor="t">
            <a:spAutoFit/>
          </a:bodyPr>
          <a:lstStyle/>
          <a:p>
            <a:pPr algn="l"/>
            <a:r>
              <a:rPr sz="1200" b="0">
                <a:solidFill>
                  <a:srgbClr val="5B6E68"/>
                </a:solidFill>
                <a:latin typeface="Meiryo UI"/>
              </a:rPr>
              <a:t>入力済みの病歴をもとにAIが適切な福祉用具の種目を提案します。選定時の参考にできます。</a:t>
            </a:r>
          </a:p>
        </p:txBody>
      </p:sp>
      <p:sp>
        <p:nvSpPr>
          <p:cNvPr id="23" name="Rectangle 22"/>
          <p:cNvSpPr/>
          <p:nvPr/>
        </p:nvSpPr>
        <p:spPr>
          <a:xfrm>
            <a:off x="8814816" y="1828800"/>
            <a:ext cx="2560320" cy="3108960"/>
          </a:xfrm>
          <a:prstGeom prst="rect">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14816" y="1828800"/>
            <a:ext cx="91440" cy="31089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43416" y="1965960"/>
            <a:ext cx="731520" cy="640080"/>
          </a:xfrm>
          <a:prstGeom prst="rect">
            <a:avLst/>
          </a:prstGeom>
          <a:noFill/>
        </p:spPr>
        <p:txBody>
          <a:bodyPr wrap="square" anchor="ctr">
            <a:spAutoFit/>
          </a:bodyPr>
          <a:lstStyle/>
          <a:p>
            <a:pPr algn="l"/>
            <a:r>
              <a:rPr sz="2600" b="0">
                <a:solidFill>
                  <a:srgbClr val="1C2B27"/>
                </a:solidFill>
                <a:latin typeface="Meiryo UI"/>
              </a:rPr>
              <a:t>📦</a:t>
            </a:r>
          </a:p>
        </p:txBody>
      </p:sp>
      <p:sp>
        <p:nvSpPr>
          <p:cNvPr id="26" name="TextBox 25"/>
          <p:cNvSpPr txBox="1"/>
          <p:nvPr/>
        </p:nvSpPr>
        <p:spPr>
          <a:xfrm>
            <a:off x="9015984" y="2651760"/>
            <a:ext cx="2240280" cy="502920"/>
          </a:xfrm>
          <a:prstGeom prst="rect">
            <a:avLst/>
          </a:prstGeom>
          <a:noFill/>
        </p:spPr>
        <p:txBody>
          <a:bodyPr wrap="square" anchor="t">
            <a:spAutoFit/>
          </a:bodyPr>
          <a:lstStyle/>
          <a:p>
            <a:pPr algn="l"/>
            <a:r>
              <a:rPr sz="1500" b="1">
                <a:solidFill>
                  <a:srgbClr val="1C2B27"/>
                </a:solidFill>
                <a:latin typeface="Meiryo UI"/>
              </a:rPr>
              <a:t>選定予定の用具を登録</a:t>
            </a:r>
          </a:p>
        </p:txBody>
      </p:sp>
      <p:sp>
        <p:nvSpPr>
          <p:cNvPr id="27" name="TextBox 26"/>
          <p:cNvSpPr txBox="1"/>
          <p:nvPr/>
        </p:nvSpPr>
        <p:spPr>
          <a:xfrm>
            <a:off x="9015984" y="3200400"/>
            <a:ext cx="2240280" cy="1508760"/>
          </a:xfrm>
          <a:prstGeom prst="rect">
            <a:avLst/>
          </a:prstGeom>
          <a:noFill/>
        </p:spPr>
        <p:txBody>
          <a:bodyPr wrap="square" anchor="t">
            <a:spAutoFit/>
          </a:bodyPr>
          <a:lstStyle/>
          <a:p>
            <a:pPr algn="l"/>
            <a:r>
              <a:rPr sz="1200" b="0">
                <a:solidFill>
                  <a:srgbClr val="5B6E68"/>
                </a:solidFill>
                <a:latin typeface="Meiryo UI"/>
              </a:rPr>
              <a:t>品名・種目を仮登録できます。「福祉用具選定」タブの正式選定前のメモとして活用できます。</a:t>
            </a:r>
          </a:p>
        </p:txBody>
      </p:sp>
      <p:sp>
        <p:nvSpPr>
          <p:cNvPr id="28" name="Rectangle 27"/>
          <p:cNvSpPr/>
          <p:nvPr/>
        </p:nvSpPr>
        <p:spPr>
          <a:xfrm>
            <a:off x="640080" y="5212080"/>
            <a:ext cx="10881360" cy="868680"/>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5212080"/>
            <a:ext cx="73152" cy="868680"/>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321808"/>
            <a:ext cx="10515600" cy="685800"/>
          </a:xfrm>
          <a:prstGeom prst="rect">
            <a:avLst/>
          </a:prstGeom>
          <a:noFill/>
        </p:spPr>
        <p:txBody>
          <a:bodyPr wrap="square">
            <a:spAutoFit/>
          </a:bodyPr>
          <a:lstStyle/>
          <a:p>
            <a:pPr algn="l">
              <a:lnSpc>
                <a:spcPct val="125000"/>
              </a:lnSpc>
              <a:spcAft>
                <a:spcPts val="400"/>
              </a:spcAft>
            </a:pPr>
            <a:r>
              <a:rPr sz="1300" b="1">
                <a:solidFill>
                  <a:srgbClr val="E2714A"/>
                </a:solidFill>
                <a:latin typeface="Meiryo UI"/>
              </a:rPr>
              <a:t>⚠️ 自動保存はありません</a:t>
            </a:r>
          </a:p>
          <a:p>
            <a:pPr algn="l">
              <a:lnSpc>
                <a:spcPct val="125000"/>
              </a:lnSpc>
              <a:spcAft>
                <a:spcPts val="400"/>
              </a:spcAft>
            </a:pPr>
            <a:r>
              <a:rPr sz="1300" b="0">
                <a:solidFill>
                  <a:srgbClr val="1C2B27"/>
                </a:solidFill>
                <a:latin typeface="Meiryo UI"/>
              </a:rPr>
              <a:t>入力したら必ず「保存する」ボタンを押してください。未保存の間は「未保存の変更があります」と表示されます。医療文書の読み取り結果は「病歴欄に反映」ボタンを押すまで反映されません。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DC2626"/>
                </a:solidFill>
                <a:latin typeface="Meiryo UI"/>
              </a:rPr>
              <a:t>MEDICAL HISTORY</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病歴・身体状況を入力する</a:t>
            </a:r>
          </a:p>
        </p:txBody>
      </p:sp>
      <p:sp>
        <p:nvSpPr>
          <p:cNvPr id="6" name="Rectangle 5"/>
          <p:cNvSpPr/>
          <p:nvPr/>
        </p:nvSpPr>
        <p:spPr>
          <a:xfrm>
            <a:off x="640080" y="1481328"/>
            <a:ext cx="1280160" cy="548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病歴・状態タブ 操作マニュアル</a:t>
            </a:r>
          </a:p>
        </p:txBody>
      </p:sp>
      <p:sp>
        <p:nvSpPr>
          <p:cNvPr id="8" name="Rectangle 7"/>
          <p:cNvSpPr/>
          <p:nvPr/>
        </p:nvSpPr>
        <p:spPr>
          <a:xfrm>
            <a:off x="640080" y="1828800"/>
            <a:ext cx="10881360" cy="384048"/>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73152"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83664"/>
            <a:ext cx="4572000" cy="274320"/>
          </a:xfrm>
          <a:prstGeom prst="rect">
            <a:avLst/>
          </a:prstGeom>
          <a:noFill/>
        </p:spPr>
        <p:txBody>
          <a:bodyPr wrap="square" anchor="t">
            <a:spAutoFit/>
          </a:bodyPr>
          <a:lstStyle/>
          <a:p>
            <a:pPr algn="l"/>
            <a:r>
              <a:rPr sz="1400" b="1">
                <a:solidFill>
                  <a:srgbClr val="DC2626"/>
                </a:solidFill>
                <a:latin typeface="Meiryo UI"/>
              </a:rPr>
              <a:t>病歴・身体状況</a:t>
            </a:r>
          </a:p>
        </p:txBody>
      </p:sp>
      <p:sp>
        <p:nvSpPr>
          <p:cNvPr id="11" name="Rectangle 10"/>
          <p:cNvSpPr/>
          <p:nvPr/>
        </p:nvSpPr>
        <p:spPr>
          <a:xfrm>
            <a:off x="640080" y="2212848"/>
            <a:ext cx="10881360" cy="224028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04288"/>
            <a:ext cx="10241280" cy="2057400"/>
          </a:xfrm>
          <a:prstGeom prst="rect">
            <a:avLst/>
          </a:prstGeom>
          <a:noFill/>
        </p:spPr>
        <p:txBody>
          <a:bodyPr wrap="square">
            <a:spAutoFit/>
          </a:bodyPr>
          <a:lstStyle/>
          <a:p>
            <a:pPr algn="l">
              <a:lnSpc>
                <a:spcPct val="125000"/>
              </a:lnSpc>
              <a:spcAft>
                <a:spcPts val="400"/>
              </a:spcAft>
            </a:pPr>
            <a:r>
              <a:rPr sz="1300" b="0">
                <a:solidFill>
                  <a:srgbClr val="1C2B27"/>
                </a:solidFill>
                <a:latin typeface="Meiryo UI"/>
              </a:rPr>
              <a:t>【病名】脳梗塞（右片麻痺）、高血圧症、糖尿病</a:t>
            </a:r>
          </a:p>
          <a:p>
            <a:pPr algn="l">
              <a:lnSpc>
                <a:spcPct val="125000"/>
              </a:lnSpc>
              <a:spcAft>
                <a:spcPts val="400"/>
              </a:spcAft>
            </a:pPr>
            <a:r>
              <a:rPr sz="1300" b="0">
                <a:solidFill>
                  <a:srgbClr val="1C2B27"/>
                </a:solidFill>
                <a:latin typeface="Meiryo UI"/>
              </a:rPr>
              <a:t>【麻痺】右上下肢に軽度麻痺あり。握力低下。</a:t>
            </a:r>
          </a:p>
          <a:p>
            <a:pPr algn="l">
              <a:lnSpc>
                <a:spcPct val="125000"/>
              </a:lnSpc>
              <a:spcAft>
                <a:spcPts val="400"/>
              </a:spcAft>
            </a:pPr>
            <a:r>
              <a:rPr sz="1300" b="0">
                <a:solidFill>
                  <a:srgbClr val="1C2B27"/>
                </a:solidFill>
                <a:latin typeface="Meiryo UI"/>
              </a:rPr>
              <a:t>【ADL】歩行は伝い歩き可。階段は要介助。</a:t>
            </a:r>
          </a:p>
          <a:p>
            <a:pPr algn="l">
              <a:lnSpc>
                <a:spcPct val="125000"/>
              </a:lnSpc>
              <a:spcAft>
                <a:spcPts val="400"/>
              </a:spcAft>
            </a:pPr>
            <a:r>
              <a:rPr sz="1300" b="0">
                <a:solidFill>
                  <a:srgbClr val="5B6E68"/>
                </a:solidFill>
                <a:latin typeface="Meiryo UI"/>
              </a:rPr>
              <a:t>【認知】日常会話は問題なし。新しいことの記憶に難あり。</a:t>
            </a:r>
          </a:p>
          <a:p>
            <a:pPr algn="l">
              <a:lnSpc>
                <a:spcPct val="125000"/>
              </a:lnSpc>
              <a:spcAft>
                <a:spcPts val="400"/>
              </a:spcAft>
            </a:pPr>
            <a:r>
              <a:rPr sz="1300" b="0">
                <a:solidFill>
                  <a:srgbClr val="5B6E68"/>
                </a:solidFill>
                <a:latin typeface="Meiryo UI"/>
              </a:rPr>
              <a:t>【その他】退院後1ヶ月。リハビリ継続中。</a:t>
            </a:r>
          </a:p>
        </p:txBody>
      </p:sp>
      <p:graphicFrame>
        <p:nvGraphicFramePr>
          <p:cNvPr id="13" name="Table 12"/>
          <p:cNvGraphicFramePr>
            <a:graphicFrameLocks noGrp="1"/>
          </p:cNvGraphicFramePr>
          <p:nvPr/>
        </p:nvGraphicFramePr>
        <p:xfrm>
          <a:off x="640080" y="4663440"/>
          <a:ext cx="10881360" cy="1938528"/>
        </p:xfrm>
        <a:graphic>
          <a:graphicData uri="http://schemas.openxmlformats.org/drawingml/2006/table">
            <a:tbl>
              <a:tblPr>
                <a:tableStyleId>{5C22544A-7EE6-4342-B048-85BDC9FD1C3A}</a:tableStyleId>
              </a:tblPr>
              <a:tblGrid>
                <a:gridCol w="2377440"/>
                <a:gridCol w="8503920"/>
              </a:tblGrid>
              <a:tr h="323088">
                <a:tc>
                  <a:txBody>
                    <a:bodyPr wrap="square"/>
                    <a:lstStyle/>
                    <a:p>
                      <a:pPr algn="l"/>
                      <a:r>
                        <a:rPr sz="1300" b="1">
                          <a:solidFill>
                            <a:srgbClr val="FFFFFF"/>
                          </a:solidFill>
                          <a:latin typeface="Meiryo UI"/>
                        </a:rPr>
                        <a:t>入力項目（参考）</a:t>
                      </a:r>
                    </a:p>
                  </a:txBody>
                  <a:tcPr anchor="ctr" marL="91440" marR="73152" marT="36576" marB="36576">
                    <a:solidFill>
                      <a:srgbClr val="DC2626"/>
                    </a:solidFill>
                  </a:tcPr>
                </a:tc>
                <a:tc>
                  <a:txBody>
                    <a:bodyPr wrap="square"/>
                    <a:lstStyle/>
                    <a:p>
                      <a:pPr algn="l"/>
                      <a:r>
                        <a:rPr sz="1300" b="1">
                          <a:solidFill>
                            <a:srgbClr val="FFFFFF"/>
                          </a:solidFill>
                          <a:latin typeface="Meiryo UI"/>
                        </a:rPr>
                        <a:t>記入内容の例</a:t>
                      </a:r>
                    </a:p>
                  </a:txBody>
                  <a:tcPr anchor="ctr" marL="91440" marR="73152" marT="36576" marB="36576">
                    <a:solidFill>
                      <a:srgbClr val="DC2626"/>
                    </a:solidFill>
                  </a:tcPr>
                </a:tc>
              </a:tr>
              <a:tr h="323088">
                <a:tc>
                  <a:txBody>
                    <a:bodyPr wrap="square"/>
                    <a:lstStyle/>
                    <a:p>
                      <a:pPr algn="l"/>
                      <a:r>
                        <a:rPr sz="1300" b="1">
                          <a:solidFill>
                            <a:srgbClr val="1C2B27"/>
                          </a:solidFill>
                          <a:latin typeface="Meiryo UI"/>
                        </a:rPr>
                        <a:t>病名</a:t>
                      </a:r>
                    </a:p>
                  </a:txBody>
                  <a:tcPr anchor="ctr" marL="91440" marR="73152" marT="36576" marB="36576">
                    <a:solidFill>
                      <a:srgbClr val="FFFFFF"/>
                    </a:solidFill>
                  </a:tcPr>
                </a:tc>
                <a:tc>
                  <a:txBody>
                    <a:bodyPr wrap="square"/>
                    <a:lstStyle/>
                    <a:p>
                      <a:pPr algn="l"/>
                      <a:r>
                        <a:rPr sz="1300" b="0">
                          <a:solidFill>
                            <a:srgbClr val="1C2B27"/>
                          </a:solidFill>
                          <a:latin typeface="Meiryo UI"/>
                        </a:rPr>
                        <a:t>脳梗塞、骨折、パーキンソン病、心疾患 など</a:t>
                      </a:r>
                    </a:p>
                  </a:txBody>
                  <a:tcPr anchor="ctr" marL="91440" marR="73152" marT="36576" marB="36576">
                    <a:solidFill>
                      <a:srgbClr val="FFFFFF"/>
                    </a:solidFill>
                  </a:tcPr>
                </a:tc>
              </a:tr>
              <a:tr h="323088">
                <a:tc>
                  <a:txBody>
                    <a:bodyPr wrap="square"/>
                    <a:lstStyle/>
                    <a:p>
                      <a:pPr algn="l"/>
                      <a:r>
                        <a:rPr sz="1300" b="1">
                          <a:solidFill>
                            <a:srgbClr val="1C2B27"/>
                          </a:solidFill>
                          <a:latin typeface="Meiryo UI"/>
                        </a:rPr>
                        <a:t>麻痺の有無</a:t>
                      </a:r>
                    </a:p>
                  </a:txBody>
                  <a:tcPr anchor="ctr" marL="91440" marR="73152" marT="36576" marB="36576">
                    <a:solidFill>
                      <a:srgbClr val="FEE2E2"/>
                    </a:solidFill>
                  </a:tcPr>
                </a:tc>
                <a:tc>
                  <a:txBody>
                    <a:bodyPr wrap="square"/>
                    <a:lstStyle/>
                    <a:p>
                      <a:pPr algn="l"/>
                      <a:r>
                        <a:rPr sz="1300" b="0">
                          <a:solidFill>
                            <a:srgbClr val="1C2B27"/>
                          </a:solidFill>
                          <a:latin typeface="Meiryo UI"/>
                        </a:rPr>
                        <a:t>右片麻痺、下肢麻痺なし など</a:t>
                      </a:r>
                    </a:p>
                  </a:txBody>
                  <a:tcPr anchor="ctr" marL="91440" marR="73152" marT="36576" marB="36576">
                    <a:solidFill>
                      <a:srgbClr val="FEE2E2"/>
                    </a:solidFill>
                  </a:tcPr>
                </a:tc>
              </a:tr>
              <a:tr h="323088">
                <a:tc>
                  <a:txBody>
                    <a:bodyPr wrap="square"/>
                    <a:lstStyle/>
                    <a:p>
                      <a:pPr algn="l"/>
                      <a:r>
                        <a:rPr sz="1300" b="1">
                          <a:solidFill>
                            <a:srgbClr val="1C2B27"/>
                          </a:solidFill>
                          <a:latin typeface="Meiryo UI"/>
                        </a:rPr>
                        <a:t>ADL（日常生活動作）</a:t>
                      </a:r>
                    </a:p>
                  </a:txBody>
                  <a:tcPr anchor="ctr" marL="91440" marR="73152" marT="36576" marB="36576">
                    <a:solidFill>
                      <a:srgbClr val="FFFFFF"/>
                    </a:solidFill>
                  </a:tcPr>
                </a:tc>
                <a:tc>
                  <a:txBody>
                    <a:bodyPr wrap="square"/>
                    <a:lstStyle/>
                    <a:p>
                      <a:pPr algn="l"/>
                      <a:r>
                        <a:rPr sz="1300" b="0">
                          <a:solidFill>
                            <a:srgbClr val="1C2B27"/>
                          </a:solidFill>
                          <a:latin typeface="Meiryo UI"/>
                        </a:rPr>
                        <a:t>歩行・立ち座り・入浴・排泄の状態</a:t>
                      </a:r>
                    </a:p>
                  </a:txBody>
                  <a:tcPr anchor="ctr" marL="91440" marR="73152" marT="36576" marB="36576">
                    <a:solidFill>
                      <a:srgbClr val="FFFFFF"/>
                    </a:solidFill>
                  </a:tcPr>
                </a:tc>
              </a:tr>
              <a:tr h="323088">
                <a:tc>
                  <a:txBody>
                    <a:bodyPr wrap="square"/>
                    <a:lstStyle/>
                    <a:p>
                      <a:pPr algn="l"/>
                      <a:r>
                        <a:rPr sz="1300" b="1">
                          <a:solidFill>
                            <a:srgbClr val="1C2B27"/>
                          </a:solidFill>
                          <a:latin typeface="Meiryo UI"/>
                        </a:rPr>
                        <a:t>認知機能</a:t>
                      </a:r>
                    </a:p>
                  </a:txBody>
                  <a:tcPr anchor="ctr" marL="91440" marR="73152" marT="36576" marB="36576">
                    <a:solidFill>
                      <a:srgbClr val="FEE2E2"/>
                    </a:solidFill>
                  </a:tcPr>
                </a:tc>
                <a:tc>
                  <a:txBody>
                    <a:bodyPr wrap="square"/>
                    <a:lstStyle/>
                    <a:p>
                      <a:pPr algn="l"/>
                      <a:r>
                        <a:rPr sz="1300" b="0">
                          <a:solidFill>
                            <a:srgbClr val="1C2B27"/>
                          </a:solidFill>
                          <a:latin typeface="Meiryo UI"/>
                        </a:rPr>
                        <a:t>日常会話可能、要確認 など</a:t>
                      </a:r>
                    </a:p>
                  </a:txBody>
                  <a:tcPr anchor="ctr" marL="91440" marR="73152" marT="36576" marB="36576">
                    <a:solidFill>
                      <a:srgbClr val="FEE2E2"/>
                    </a:solidFill>
                  </a:tcPr>
                </a:tc>
              </a:tr>
              <a:tr h="323088">
                <a:tc>
                  <a:txBody>
                    <a:bodyPr wrap="square"/>
                    <a:lstStyle/>
                    <a:p>
                      <a:pPr algn="l"/>
                      <a:r>
                        <a:rPr sz="1300" b="1">
                          <a:solidFill>
                            <a:srgbClr val="1C2B27"/>
                          </a:solidFill>
                          <a:latin typeface="Meiryo UI"/>
                        </a:rPr>
                        <a:t>その他特記事項</a:t>
                      </a:r>
                    </a:p>
                  </a:txBody>
                  <a:tcPr anchor="ctr" marL="91440" marR="73152" marT="36576" marB="36576">
                    <a:solidFill>
                      <a:srgbClr val="FFFFFF"/>
                    </a:solidFill>
                  </a:tcPr>
                </a:tc>
                <a:tc>
                  <a:txBody>
                    <a:bodyPr wrap="square"/>
                    <a:lstStyle/>
                    <a:p>
                      <a:pPr algn="l"/>
                      <a:r>
                        <a:rPr sz="1300" b="0">
                          <a:solidFill>
                            <a:srgbClr val="1C2B27"/>
                          </a:solidFill>
                          <a:latin typeface="Meiryo UI"/>
                        </a:rPr>
                        <a:t>退院後の経過・リハビリ状況・家族の状況 など</a:t>
                      </a:r>
                    </a:p>
                  </a:txBody>
                  <a:tcPr anchor="ctr" marL="91440" marR="73152"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1D4ED8"/>
                </a:solidFill>
                <a:latin typeface="Meiryo UI"/>
              </a:rPr>
              <a:t>OCR / AI DOCUMENT READING</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医療文書をAIで読み取る</a:t>
            </a:r>
          </a:p>
        </p:txBody>
      </p:sp>
      <p:sp>
        <p:nvSpPr>
          <p:cNvPr id="6" name="Rectangle 5"/>
          <p:cNvSpPr/>
          <p:nvPr/>
        </p:nvSpPr>
        <p:spPr>
          <a:xfrm>
            <a:off x="640080" y="1481328"/>
            <a:ext cx="1280160" cy="5486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病歴・状態タブ 操作マニュアル</a:t>
            </a:r>
          </a:p>
        </p:txBody>
      </p:sp>
      <p:sp>
        <p:nvSpPr>
          <p:cNvPr id="8" name="Rectangle 7"/>
          <p:cNvSpPr/>
          <p:nvPr/>
        </p:nvSpPr>
        <p:spPr>
          <a:xfrm>
            <a:off x="640080" y="1920240"/>
            <a:ext cx="2578608" cy="2743200"/>
          </a:xfrm>
          <a:prstGeom prst="rect">
            <a:avLst/>
          </a:prstGeom>
          <a:solidFill>
            <a:srgbClr val="FFFFFF"/>
          </a:solidFill>
          <a:ln w="1905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20240"/>
            <a:ext cx="82296" cy="27432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2029968"/>
            <a:ext cx="502920" cy="5029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29968"/>
            <a:ext cx="502920" cy="502920"/>
          </a:xfrm>
          <a:prstGeom prst="rect">
            <a:avLst/>
          </a:prstGeom>
          <a:noFill/>
        </p:spPr>
        <p:txBody>
          <a:bodyPr wrap="square" anchor="ctr">
            <a:spAutoFit/>
          </a:bodyPr>
          <a:lstStyle/>
          <a:p>
            <a:pPr algn="ctr"/>
            <a:r>
              <a:rPr sz="2000" b="1">
                <a:solidFill>
                  <a:srgbClr val="FFFFFF"/>
                </a:solidFill>
                <a:latin typeface="Meiryo UI"/>
              </a:rPr>
              <a:t>1</a:t>
            </a:r>
          </a:p>
        </p:txBody>
      </p:sp>
      <p:sp>
        <p:nvSpPr>
          <p:cNvPr id="12" name="TextBox 11"/>
          <p:cNvSpPr txBox="1"/>
          <p:nvPr/>
        </p:nvSpPr>
        <p:spPr>
          <a:xfrm>
            <a:off x="868680" y="2633472"/>
            <a:ext cx="2176272" cy="640080"/>
          </a:xfrm>
          <a:prstGeom prst="rect">
            <a:avLst/>
          </a:prstGeom>
          <a:noFill/>
        </p:spPr>
        <p:txBody>
          <a:bodyPr wrap="square" anchor="t">
            <a:spAutoFit/>
          </a:bodyPr>
          <a:lstStyle/>
          <a:p>
            <a:pPr algn="l"/>
            <a:r>
              <a:rPr sz="1400" b="1">
                <a:solidFill>
                  <a:srgbClr val="1C2B27"/>
                </a:solidFill>
                <a:latin typeface="Meiryo UI"/>
              </a:rPr>
              <a:t>文書エリアに
ドロップ or クリック</a:t>
            </a:r>
          </a:p>
        </p:txBody>
      </p:sp>
      <p:sp>
        <p:nvSpPr>
          <p:cNvPr id="13" name="TextBox 12"/>
          <p:cNvSpPr txBox="1"/>
          <p:nvPr/>
        </p:nvSpPr>
        <p:spPr>
          <a:xfrm>
            <a:off x="868680" y="3337560"/>
            <a:ext cx="2176272" cy="1143000"/>
          </a:xfrm>
          <a:prstGeom prst="rect">
            <a:avLst/>
          </a:prstGeom>
          <a:noFill/>
        </p:spPr>
        <p:txBody>
          <a:bodyPr wrap="square" anchor="t">
            <a:spAutoFit/>
          </a:bodyPr>
          <a:lstStyle/>
          <a:p>
            <a:pPr algn="l"/>
            <a:r>
              <a:rPr sz="1200" b="0">
                <a:solidFill>
                  <a:srgbClr val="5B6E68"/>
                </a:solidFill>
                <a:latin typeface="Meiryo UI"/>
              </a:rPr>
              <a:t>テキストエリアの下にあるアップロードエリアをクリック（またはファイルをドラッグ）します。</a:t>
            </a:r>
          </a:p>
        </p:txBody>
      </p:sp>
      <p:sp>
        <p:nvSpPr>
          <p:cNvPr id="14" name="Rectangle 13"/>
          <p:cNvSpPr/>
          <p:nvPr/>
        </p:nvSpPr>
        <p:spPr>
          <a:xfrm>
            <a:off x="3429000" y="1920240"/>
            <a:ext cx="2578608" cy="2743200"/>
          </a:xfrm>
          <a:prstGeom prst="rect">
            <a:avLst/>
          </a:prstGeom>
          <a:solidFill>
            <a:srgbClr val="FFFFFF"/>
          </a:solidFill>
          <a:ln w="1905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1920240"/>
            <a:ext cx="82296" cy="27432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0" y="2029968"/>
            <a:ext cx="502920" cy="5029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2029968"/>
            <a:ext cx="502920" cy="502920"/>
          </a:xfrm>
          <a:prstGeom prst="rect">
            <a:avLst/>
          </a:prstGeom>
          <a:noFill/>
        </p:spPr>
        <p:txBody>
          <a:bodyPr wrap="square" anchor="ctr">
            <a:spAutoFit/>
          </a:bodyPr>
          <a:lstStyle/>
          <a:p>
            <a:pPr algn="ctr"/>
            <a:r>
              <a:rPr sz="2000" b="1">
                <a:solidFill>
                  <a:srgbClr val="FFFFFF"/>
                </a:solidFill>
                <a:latin typeface="Meiryo UI"/>
              </a:rPr>
              <a:t>2</a:t>
            </a:r>
          </a:p>
        </p:txBody>
      </p:sp>
      <p:sp>
        <p:nvSpPr>
          <p:cNvPr id="18" name="TextBox 17"/>
          <p:cNvSpPr txBox="1"/>
          <p:nvPr/>
        </p:nvSpPr>
        <p:spPr>
          <a:xfrm>
            <a:off x="3657600" y="2633472"/>
            <a:ext cx="2176272" cy="640080"/>
          </a:xfrm>
          <a:prstGeom prst="rect">
            <a:avLst/>
          </a:prstGeom>
          <a:noFill/>
        </p:spPr>
        <p:txBody>
          <a:bodyPr wrap="square" anchor="t">
            <a:spAutoFit/>
          </a:bodyPr>
          <a:lstStyle/>
          <a:p>
            <a:pPr algn="l"/>
            <a:r>
              <a:rPr sz="1400" b="1">
                <a:solidFill>
                  <a:srgbClr val="1C2B27"/>
                </a:solidFill>
                <a:latin typeface="Meiryo UI"/>
              </a:rPr>
              <a:t>医療文書を選択</a:t>
            </a:r>
          </a:p>
        </p:txBody>
      </p:sp>
      <p:sp>
        <p:nvSpPr>
          <p:cNvPr id="19" name="TextBox 18"/>
          <p:cNvSpPr txBox="1"/>
          <p:nvPr/>
        </p:nvSpPr>
        <p:spPr>
          <a:xfrm>
            <a:off x="3657600" y="3337560"/>
            <a:ext cx="2176272" cy="1143000"/>
          </a:xfrm>
          <a:prstGeom prst="rect">
            <a:avLst/>
          </a:prstGeom>
          <a:noFill/>
        </p:spPr>
        <p:txBody>
          <a:bodyPr wrap="square" anchor="t">
            <a:spAutoFit/>
          </a:bodyPr>
          <a:lstStyle/>
          <a:p>
            <a:pPr algn="l"/>
            <a:r>
              <a:rPr sz="1200" b="0">
                <a:solidFill>
                  <a:srgbClr val="5B6E68"/>
                </a:solidFill>
                <a:latin typeface="Meiryo UI"/>
              </a:rPr>
              <a:t>診療情報提供書・退院サマリーなどのPDF・PNG・JPG・WEBPファイルを選択します。</a:t>
            </a:r>
          </a:p>
        </p:txBody>
      </p:sp>
      <p:sp>
        <p:nvSpPr>
          <p:cNvPr id="20" name="Rectangle 19"/>
          <p:cNvSpPr/>
          <p:nvPr/>
        </p:nvSpPr>
        <p:spPr>
          <a:xfrm>
            <a:off x="6217920" y="1920240"/>
            <a:ext cx="2578608" cy="2743200"/>
          </a:xfrm>
          <a:prstGeom prst="rect">
            <a:avLst/>
          </a:prstGeom>
          <a:solidFill>
            <a:srgbClr val="FFFFFF"/>
          </a:solidFill>
          <a:ln w="1905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920240"/>
            <a:ext cx="82296" cy="27432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46520" y="2029968"/>
            <a:ext cx="502920" cy="5029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029968"/>
            <a:ext cx="502920" cy="502920"/>
          </a:xfrm>
          <a:prstGeom prst="rect">
            <a:avLst/>
          </a:prstGeom>
          <a:noFill/>
        </p:spPr>
        <p:txBody>
          <a:bodyPr wrap="square" anchor="ctr">
            <a:spAutoFit/>
          </a:bodyPr>
          <a:lstStyle/>
          <a:p>
            <a:pPr algn="ctr"/>
            <a:r>
              <a:rPr sz="2000" b="1">
                <a:solidFill>
                  <a:srgbClr val="FFFFFF"/>
                </a:solidFill>
                <a:latin typeface="Meiryo UI"/>
              </a:rPr>
              <a:t>3</a:t>
            </a:r>
          </a:p>
        </p:txBody>
      </p:sp>
      <p:sp>
        <p:nvSpPr>
          <p:cNvPr id="24" name="TextBox 23"/>
          <p:cNvSpPr txBox="1"/>
          <p:nvPr/>
        </p:nvSpPr>
        <p:spPr>
          <a:xfrm>
            <a:off x="6446520" y="2633472"/>
            <a:ext cx="2176272" cy="640080"/>
          </a:xfrm>
          <a:prstGeom prst="rect">
            <a:avLst/>
          </a:prstGeom>
          <a:noFill/>
        </p:spPr>
        <p:txBody>
          <a:bodyPr wrap="square" anchor="t">
            <a:spAutoFit/>
          </a:bodyPr>
          <a:lstStyle/>
          <a:p>
            <a:pPr algn="l"/>
            <a:r>
              <a:rPr sz="1400" b="1">
                <a:solidFill>
                  <a:srgbClr val="1C2B27"/>
                </a:solidFill>
                <a:latin typeface="Meiryo UI"/>
              </a:rPr>
              <a:t>AIがテキストを抽出</a:t>
            </a:r>
          </a:p>
        </p:txBody>
      </p:sp>
      <p:sp>
        <p:nvSpPr>
          <p:cNvPr id="25" name="TextBox 24"/>
          <p:cNvSpPr txBox="1"/>
          <p:nvPr/>
        </p:nvSpPr>
        <p:spPr>
          <a:xfrm>
            <a:off x="6446520" y="3337560"/>
            <a:ext cx="2176272" cy="1143000"/>
          </a:xfrm>
          <a:prstGeom prst="rect">
            <a:avLst/>
          </a:prstGeom>
          <a:noFill/>
        </p:spPr>
        <p:txBody>
          <a:bodyPr wrap="square" anchor="t">
            <a:spAutoFit/>
          </a:bodyPr>
          <a:lstStyle/>
          <a:p>
            <a:pPr algn="l"/>
            <a:r>
              <a:rPr sz="1200" b="0">
                <a:solidFill>
                  <a:srgbClr val="5B6E68"/>
                </a:solidFill>
                <a:latin typeface="Meiryo UI"/>
              </a:rPr>
              <a:t>「AI解析中...」と表示されます。完了すると読み取り結果が画面に表示されます。</a:t>
            </a:r>
          </a:p>
        </p:txBody>
      </p:sp>
      <p:sp>
        <p:nvSpPr>
          <p:cNvPr id="26" name="Rectangle 25"/>
          <p:cNvSpPr/>
          <p:nvPr/>
        </p:nvSpPr>
        <p:spPr>
          <a:xfrm>
            <a:off x="9006840" y="1920240"/>
            <a:ext cx="2578608" cy="2743200"/>
          </a:xfrm>
          <a:prstGeom prst="rect">
            <a:avLst/>
          </a:prstGeom>
          <a:solidFill>
            <a:srgbClr val="FFFFFF"/>
          </a:solidFill>
          <a:ln w="1905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06840" y="1920240"/>
            <a:ext cx="82296" cy="27432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35440" y="2029968"/>
            <a:ext cx="502920" cy="5029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0" y="2029968"/>
            <a:ext cx="502920" cy="502920"/>
          </a:xfrm>
          <a:prstGeom prst="rect">
            <a:avLst/>
          </a:prstGeom>
          <a:noFill/>
        </p:spPr>
        <p:txBody>
          <a:bodyPr wrap="square" anchor="ctr">
            <a:spAutoFit/>
          </a:bodyPr>
          <a:lstStyle/>
          <a:p>
            <a:pPr algn="ctr"/>
            <a:r>
              <a:rPr sz="2000" b="1">
                <a:solidFill>
                  <a:srgbClr val="FFFFFF"/>
                </a:solidFill>
                <a:latin typeface="Meiryo UI"/>
              </a:rPr>
              <a:t>4</a:t>
            </a:r>
          </a:p>
        </p:txBody>
      </p:sp>
      <p:sp>
        <p:nvSpPr>
          <p:cNvPr id="30" name="TextBox 29"/>
          <p:cNvSpPr txBox="1"/>
          <p:nvPr/>
        </p:nvSpPr>
        <p:spPr>
          <a:xfrm>
            <a:off x="9235440" y="2633472"/>
            <a:ext cx="2176272" cy="640080"/>
          </a:xfrm>
          <a:prstGeom prst="rect">
            <a:avLst/>
          </a:prstGeom>
          <a:noFill/>
        </p:spPr>
        <p:txBody>
          <a:bodyPr wrap="square" anchor="t">
            <a:spAutoFit/>
          </a:bodyPr>
          <a:lstStyle/>
          <a:p>
            <a:pPr algn="l"/>
            <a:r>
              <a:rPr sz="1400" b="1">
                <a:solidFill>
                  <a:srgbClr val="1C2B27"/>
                </a:solidFill>
                <a:latin typeface="Meiryo UI"/>
              </a:rPr>
              <a:t>「病歴欄に反映」を押す</a:t>
            </a:r>
          </a:p>
        </p:txBody>
      </p:sp>
      <p:sp>
        <p:nvSpPr>
          <p:cNvPr id="31" name="TextBox 30"/>
          <p:cNvSpPr txBox="1"/>
          <p:nvPr/>
        </p:nvSpPr>
        <p:spPr>
          <a:xfrm>
            <a:off x="9235440" y="3337560"/>
            <a:ext cx="2176272" cy="1143000"/>
          </a:xfrm>
          <a:prstGeom prst="rect">
            <a:avLst/>
          </a:prstGeom>
          <a:noFill/>
        </p:spPr>
        <p:txBody>
          <a:bodyPr wrap="square" anchor="t">
            <a:spAutoFit/>
          </a:bodyPr>
          <a:lstStyle/>
          <a:p>
            <a:pPr algn="l"/>
            <a:r>
              <a:rPr sz="1200" b="0">
                <a:solidFill>
                  <a:srgbClr val="5B6E68"/>
                </a:solidFill>
                <a:latin typeface="Meiryo UI"/>
              </a:rPr>
              <a:t>結果を確認したら「病歴欄に反映」ボタンを押します。病歴テキストエリアに内容が追記されます。</a:t>
            </a:r>
          </a:p>
        </p:txBody>
      </p:sp>
      <p:sp>
        <p:nvSpPr>
          <p:cNvPr id="32" name="Rectangle 31"/>
          <p:cNvSpPr/>
          <p:nvPr/>
        </p:nvSpPr>
        <p:spPr>
          <a:xfrm>
            <a:off x="640080" y="4864608"/>
            <a:ext cx="10881360" cy="749808"/>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 y="4864608"/>
            <a:ext cx="73152" cy="74980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4974336"/>
            <a:ext cx="10515600" cy="566927"/>
          </a:xfrm>
          <a:prstGeom prst="rect">
            <a:avLst/>
          </a:prstGeom>
          <a:noFill/>
        </p:spPr>
        <p:txBody>
          <a:bodyPr wrap="square">
            <a:spAutoFit/>
          </a:bodyPr>
          <a:lstStyle/>
          <a:p>
            <a:pPr algn="l">
              <a:lnSpc>
                <a:spcPct val="125000"/>
              </a:lnSpc>
              <a:spcAft>
                <a:spcPts val="400"/>
              </a:spcAft>
            </a:pPr>
            <a:r>
              <a:rPr sz="1300" b="1">
                <a:solidFill>
                  <a:srgbClr val="1D4ED8"/>
                </a:solidFill>
                <a:latin typeface="Meiryo UI"/>
              </a:rPr>
              <a:t>対応ファイル形式</a:t>
            </a:r>
          </a:p>
          <a:p>
            <a:pPr algn="l">
              <a:lnSpc>
                <a:spcPct val="125000"/>
              </a:lnSpc>
              <a:spcAft>
                <a:spcPts val="400"/>
              </a:spcAft>
            </a:pPr>
            <a:r>
              <a:rPr sz="1300" b="0">
                <a:solidFill>
                  <a:srgbClr val="1C2B27"/>
                </a:solidFill>
                <a:latin typeface="Meiryo UI"/>
              </a:rPr>
              <a:t>PDF・PNG・JPG・JPEG・WEBP（最大20MB）。診療情報提供書・退院サマリー・入院証明書などに対応しています。</a:t>
            </a:r>
          </a:p>
        </p:txBody>
      </p:sp>
      <p:sp>
        <p:nvSpPr>
          <p:cNvPr id="35" name="Rectangle 34"/>
          <p:cNvSpPr/>
          <p:nvPr/>
        </p:nvSpPr>
        <p:spPr>
          <a:xfrm>
            <a:off x="640080" y="5742432"/>
            <a:ext cx="10881360" cy="749808"/>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 y="5742432"/>
            <a:ext cx="73152" cy="749808"/>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5852160"/>
            <a:ext cx="10515600" cy="566927"/>
          </a:xfrm>
          <a:prstGeom prst="rect">
            <a:avLst/>
          </a:prstGeom>
          <a:noFill/>
        </p:spPr>
        <p:txBody>
          <a:bodyPr wrap="square">
            <a:spAutoFit/>
          </a:bodyPr>
          <a:lstStyle/>
          <a:p>
            <a:pPr algn="l">
              <a:lnSpc>
                <a:spcPct val="125000"/>
              </a:lnSpc>
              <a:spcAft>
                <a:spcPts val="400"/>
              </a:spcAft>
            </a:pPr>
            <a:r>
              <a:rPr sz="1300" b="1">
                <a:solidFill>
                  <a:srgbClr val="E2714A"/>
                </a:solidFill>
                <a:latin typeface="Meiryo UI"/>
              </a:rPr>
              <a:t>⚠ 「病歴欄に反映」を押すまで保存されません</a:t>
            </a:r>
          </a:p>
          <a:p>
            <a:pPr algn="l">
              <a:lnSpc>
                <a:spcPct val="125000"/>
              </a:lnSpc>
              <a:spcAft>
                <a:spcPts val="400"/>
              </a:spcAft>
            </a:pPr>
            <a:r>
              <a:rPr sz="1300" b="0">
                <a:solidFill>
                  <a:srgbClr val="1C2B27"/>
                </a:solidFill>
                <a:latin typeface="Meiryo UI"/>
              </a:rPr>
              <a:t>読み取り結果は画面表示のみです。病歴テキストに反映するには「病歴欄に反映」ボタンを押してください。反映後は「保存する」を押すまで保存されません。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7C3AED"/>
                </a:solidFill>
                <a:latin typeface="Meiryo UI"/>
              </a:rPr>
              <a:t>AI EQUIPMENT SUGGESTION</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病歴から福祉用具を提案（AI）</a:t>
            </a:r>
          </a:p>
        </p:txBody>
      </p:sp>
      <p:sp>
        <p:nvSpPr>
          <p:cNvPr id="6" name="Rectangle 5"/>
          <p:cNvSpPr/>
          <p:nvPr/>
        </p:nvSpPr>
        <p:spPr>
          <a:xfrm>
            <a:off x="640080" y="1481328"/>
            <a:ext cx="1280160"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病歴・状態タブ 操作マニュアル</a:t>
            </a:r>
          </a:p>
        </p:txBody>
      </p:sp>
      <p:sp>
        <p:nvSpPr>
          <p:cNvPr id="8" name="Rectangle 7"/>
          <p:cNvSpPr/>
          <p:nvPr/>
        </p:nvSpPr>
        <p:spPr>
          <a:xfrm>
            <a:off x="640080" y="1828800"/>
            <a:ext cx="10881360" cy="1005840"/>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20240"/>
            <a:ext cx="10241280" cy="804672"/>
          </a:xfrm>
          <a:prstGeom prst="rect">
            <a:avLst/>
          </a:prstGeom>
          <a:noFill/>
        </p:spPr>
        <p:txBody>
          <a:bodyPr wrap="square">
            <a:spAutoFit/>
          </a:bodyPr>
          <a:lstStyle/>
          <a:p>
            <a:pPr algn="l">
              <a:lnSpc>
                <a:spcPct val="125000"/>
              </a:lnSpc>
              <a:spcAft>
                <a:spcPts val="400"/>
              </a:spcAft>
            </a:pPr>
            <a:r>
              <a:rPr sz="1400" b="0">
                <a:solidFill>
                  <a:srgbClr val="1C2B27"/>
                </a:solidFill>
                <a:latin typeface="Meiryo UI"/>
              </a:rPr>
              <a:t>病歴・身体状況テキストをもとに、AIが適切な福祉用具の種目を提案する機能です。</a:t>
            </a:r>
          </a:p>
          <a:p>
            <a:pPr algn="l">
              <a:lnSpc>
                <a:spcPct val="125000"/>
              </a:lnSpc>
              <a:spcAft>
                <a:spcPts val="400"/>
              </a:spcAft>
            </a:pPr>
            <a:r>
              <a:rPr sz="1400" b="0">
                <a:solidFill>
                  <a:srgbClr val="1C2B27"/>
                </a:solidFill>
                <a:latin typeface="Meiryo UI"/>
              </a:rPr>
              <a:t>画面右上の「病歴から用具を提案」ボタン（紫）を押すと、AI分析が始まります（数秒〜10秒）。</a:t>
            </a:r>
          </a:p>
        </p:txBody>
      </p:sp>
      <p:sp>
        <p:nvSpPr>
          <p:cNvPr id="11" name="Rectangle 10"/>
          <p:cNvSpPr/>
          <p:nvPr/>
        </p:nvSpPr>
        <p:spPr>
          <a:xfrm>
            <a:off x="640080" y="3017520"/>
            <a:ext cx="10881360" cy="347472"/>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017520"/>
            <a:ext cx="73152" cy="3474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072384"/>
            <a:ext cx="4572000" cy="237744"/>
          </a:xfrm>
          <a:prstGeom prst="rect">
            <a:avLst/>
          </a:prstGeom>
          <a:noFill/>
        </p:spPr>
        <p:txBody>
          <a:bodyPr wrap="square" anchor="t">
            <a:spAutoFit/>
          </a:bodyPr>
          <a:lstStyle/>
          <a:p>
            <a:pPr algn="l"/>
            <a:r>
              <a:rPr sz="1300" b="1">
                <a:solidFill>
                  <a:srgbClr val="7C3AED"/>
                </a:solidFill>
                <a:latin typeface="Meiryo UI"/>
              </a:rPr>
              <a:t>AIによる提案</a:t>
            </a:r>
          </a:p>
        </p:txBody>
      </p:sp>
      <p:sp>
        <p:nvSpPr>
          <p:cNvPr id="14" name="Rectangle 13"/>
          <p:cNvSpPr/>
          <p:nvPr/>
        </p:nvSpPr>
        <p:spPr>
          <a:xfrm>
            <a:off x="640080" y="3364992"/>
            <a:ext cx="10881360" cy="1965960"/>
          </a:xfrm>
          <a:prstGeom prst="rect">
            <a:avLst/>
          </a:prstGeom>
          <a:solidFill>
            <a:srgbClr val="F5F3FF"/>
          </a:solidFill>
          <a:ln w="1270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429000"/>
            <a:ext cx="10149840" cy="1783080"/>
          </a:xfrm>
          <a:prstGeom prst="rect">
            <a:avLst/>
          </a:prstGeom>
          <a:noFill/>
        </p:spPr>
        <p:txBody>
          <a:bodyPr wrap="square">
            <a:spAutoFit/>
          </a:bodyPr>
          <a:lstStyle/>
          <a:p>
            <a:pPr algn="l">
              <a:lnSpc>
                <a:spcPct val="125000"/>
              </a:lnSpc>
              <a:spcAft>
                <a:spcPts val="400"/>
              </a:spcAft>
            </a:pPr>
            <a:r>
              <a:rPr sz="1300" b="1">
                <a:solidFill>
                  <a:srgbClr val="7C3AED"/>
                </a:solidFill>
                <a:latin typeface="Meiryo UI"/>
              </a:rPr>
              <a:t>【特殊寝台・特殊寝台付属品】</a:t>
            </a:r>
          </a:p>
          <a:p>
            <a:pPr algn="l">
              <a:lnSpc>
                <a:spcPct val="125000"/>
              </a:lnSpc>
              <a:spcAft>
                <a:spcPts val="400"/>
              </a:spcAft>
            </a:pPr>
            <a:r>
              <a:rPr sz="1300" b="0">
                <a:solidFill>
                  <a:srgbClr val="1C2B27"/>
                </a:solidFill>
                <a:latin typeface="Meiryo UI"/>
              </a:rPr>
              <a:t>右片麻痺・歩行不安定のため、離床・就寝動作の補助に特殊寝台（電動2/3モーター）と</a:t>
            </a:r>
          </a:p>
          <a:p>
            <a:pPr algn="l">
              <a:lnSpc>
                <a:spcPct val="125000"/>
              </a:lnSpc>
              <a:spcAft>
                <a:spcPts val="400"/>
              </a:spcAft>
            </a:pPr>
            <a:r>
              <a:rPr sz="1300" b="0">
                <a:solidFill>
                  <a:srgbClr val="1C2B27"/>
                </a:solidFill>
                <a:latin typeface="Meiryo UI"/>
              </a:rPr>
              <a:t>サイドレール・介助バーをお勧めします。</a:t>
            </a:r>
          </a:p>
          <a:p>
            <a:pPr algn="l">
              <a:lnSpc>
                <a:spcPct val="125000"/>
              </a:lnSpc>
              <a:spcAft>
                <a:spcPts val="400"/>
              </a:spcAft>
            </a:pPr>
            <a:r>
              <a:rPr sz="1300" b="0">
                <a:solidFill>
                  <a:srgbClr val="1C2B27"/>
                </a:solidFill>
                <a:latin typeface="Meiryo UI"/>
              </a:rPr>
              <a:t/>
            </a:r>
          </a:p>
          <a:p>
            <a:pPr algn="l">
              <a:lnSpc>
                <a:spcPct val="125000"/>
              </a:lnSpc>
              <a:spcAft>
                <a:spcPts val="400"/>
              </a:spcAft>
            </a:pPr>
            <a:r>
              <a:rPr sz="1300" b="1">
                <a:solidFill>
                  <a:srgbClr val="7C3AED"/>
                </a:solidFill>
                <a:latin typeface="Meiryo UI"/>
              </a:rPr>
              <a:t>【歩行補助器（歩行器）】</a:t>
            </a:r>
          </a:p>
          <a:p>
            <a:pPr algn="l">
              <a:lnSpc>
                <a:spcPct val="125000"/>
              </a:lnSpc>
              <a:spcAft>
                <a:spcPts val="400"/>
              </a:spcAft>
            </a:pPr>
            <a:r>
              <a:rPr sz="1300" b="0">
                <a:solidFill>
                  <a:srgbClr val="1C2B27"/>
                </a:solidFill>
                <a:latin typeface="Meiryo UI"/>
              </a:rPr>
              <a:t>室内の伝い歩き・廊下移動の安全確保のため、歩行器（交互型）が適合すると考えられます。</a:t>
            </a:r>
          </a:p>
        </p:txBody>
      </p:sp>
      <p:sp>
        <p:nvSpPr>
          <p:cNvPr id="16" name="Rectangle 15"/>
          <p:cNvSpPr/>
          <p:nvPr/>
        </p:nvSpPr>
        <p:spPr>
          <a:xfrm>
            <a:off x="640080" y="5504688"/>
            <a:ext cx="10881360" cy="658368"/>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04688"/>
            <a:ext cx="73152" cy="658368"/>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614416"/>
            <a:ext cx="10515600" cy="475488"/>
          </a:xfrm>
          <a:prstGeom prst="rect">
            <a:avLst/>
          </a:prstGeom>
          <a:noFill/>
        </p:spPr>
        <p:txBody>
          <a:bodyPr wrap="square">
            <a:spAutoFit/>
          </a:bodyPr>
          <a:lstStyle/>
          <a:p>
            <a:pPr algn="l">
              <a:lnSpc>
                <a:spcPct val="125000"/>
              </a:lnSpc>
              <a:spcAft>
                <a:spcPts val="400"/>
              </a:spcAft>
            </a:pPr>
            <a:r>
              <a:rPr sz="1300" b="1">
                <a:solidFill>
                  <a:srgbClr val="E2714A"/>
                </a:solidFill>
                <a:latin typeface="Meiryo UI"/>
              </a:rPr>
              <a:t>提案内容は参考情報です</a:t>
            </a:r>
          </a:p>
          <a:p>
            <a:pPr algn="l">
              <a:lnSpc>
                <a:spcPct val="125000"/>
              </a:lnSpc>
              <a:spcAft>
                <a:spcPts val="400"/>
              </a:spcAft>
            </a:pPr>
            <a:r>
              <a:rPr sz="1300" b="0">
                <a:solidFill>
                  <a:srgbClr val="1C2B27"/>
                </a:solidFill>
                <a:latin typeface="Meiryo UI"/>
              </a:rPr>
              <a:t>AI提案は診断や処方ではありません。実際の選定は利用者・家族・ケアマネとの相談のうえで行ってください。</a:t>
            </a:r>
          </a:p>
        </p:txBody>
      </p:sp>
      <p:sp>
        <p:nvSpPr>
          <p:cNvPr id="19" name="Rectangle 18"/>
          <p:cNvSpPr/>
          <p:nvPr/>
        </p:nvSpPr>
        <p:spPr>
          <a:xfrm>
            <a:off x="640080" y="6263640"/>
            <a:ext cx="10881360" cy="384048"/>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6263640"/>
            <a:ext cx="73152"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6373368"/>
            <a:ext cx="10515600" cy="201167"/>
          </a:xfrm>
          <a:prstGeom prst="rect">
            <a:avLst/>
          </a:prstGeom>
          <a:noFill/>
        </p:spPr>
        <p:txBody>
          <a:bodyPr wrap="square">
            <a:spAutoFit/>
          </a:bodyPr>
          <a:lstStyle/>
          <a:p>
            <a:pPr algn="l">
              <a:lnSpc>
                <a:spcPct val="125000"/>
              </a:lnSpc>
              <a:spcAft>
                <a:spcPts val="400"/>
              </a:spcAft>
            </a:pPr>
            <a:r>
              <a:rPr sz="1300" b="1">
                <a:solidFill>
                  <a:srgbClr val="7C3AED"/>
                </a:solidFill>
                <a:latin typeface="Meiryo UI"/>
              </a:rPr>
              <a:t>病歴テキストが空の場合は提案できません</a:t>
            </a:r>
          </a:p>
          <a:p>
            <a:pPr algn="l">
              <a:lnSpc>
                <a:spcPct val="125000"/>
              </a:lnSpc>
              <a:spcAft>
                <a:spcPts val="400"/>
              </a:spcAft>
            </a:pPr>
            <a:r>
              <a:rPr sz="1300" b="0">
                <a:solidFill>
                  <a:srgbClr val="1C2B27"/>
                </a:solidFill>
                <a:latin typeface="Meiryo UI"/>
              </a:rPr>
              <a:t>先に病歴・身体状況テキストを入力してからご利用ください。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D97706"/>
                </a:solidFill>
                <a:latin typeface="Meiryo UI"/>
              </a:rPr>
              <a:t>PLANNED EQUIPMENT</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選定予定の福祉用具を登録する</a:t>
            </a:r>
          </a:p>
        </p:txBody>
      </p:sp>
      <p:sp>
        <p:nvSpPr>
          <p:cNvPr id="6" name="Rectangle 5"/>
          <p:cNvSpPr/>
          <p:nvPr/>
        </p:nvSpPr>
        <p:spPr>
          <a:xfrm>
            <a:off x="640080" y="1481328"/>
            <a:ext cx="1280160" cy="5486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病歴・状態タブ 操作マニュアル</a:t>
            </a:r>
          </a:p>
        </p:txBody>
      </p:sp>
      <p:sp>
        <p:nvSpPr>
          <p:cNvPr id="8" name="Rectangle 7"/>
          <p:cNvSpPr/>
          <p:nvPr/>
        </p:nvSpPr>
        <p:spPr>
          <a:xfrm>
            <a:off x="640080" y="1828800"/>
            <a:ext cx="10881360" cy="960120"/>
          </a:xfrm>
          <a:prstGeom prst="rect">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91440" cy="9601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20240"/>
            <a:ext cx="10241280" cy="804672"/>
          </a:xfrm>
          <a:prstGeom prst="rect">
            <a:avLst/>
          </a:prstGeom>
          <a:noFill/>
        </p:spPr>
        <p:txBody>
          <a:bodyPr wrap="square">
            <a:spAutoFit/>
          </a:bodyPr>
          <a:lstStyle/>
          <a:p>
            <a:pPr algn="l">
              <a:lnSpc>
                <a:spcPct val="125000"/>
              </a:lnSpc>
              <a:spcAft>
                <a:spcPts val="400"/>
              </a:spcAft>
            </a:pPr>
            <a:r>
              <a:rPr sz="1400" b="0">
                <a:solidFill>
                  <a:srgbClr val="1C2B27"/>
                </a:solidFill>
                <a:latin typeface="Meiryo UI"/>
              </a:rPr>
              <a:t>病歴・状態タブの下部に「選定予定の福祉用具」セクションがあります。</a:t>
            </a:r>
          </a:p>
          <a:p>
            <a:pPr algn="l">
              <a:lnSpc>
                <a:spcPct val="125000"/>
              </a:lnSpc>
              <a:spcAft>
                <a:spcPts val="400"/>
              </a:spcAft>
            </a:pPr>
            <a:r>
              <a:rPr sz="1400" b="0">
                <a:solidFill>
                  <a:srgbClr val="1C2B27"/>
                </a:solidFill>
                <a:latin typeface="Meiryo UI"/>
              </a:rPr>
              <a:t>「福祉用具選定」タブで正式に機器を決める前の仮メモとして品名・種目を登録しておけます。</a:t>
            </a:r>
          </a:p>
        </p:txBody>
      </p:sp>
      <p:sp>
        <p:nvSpPr>
          <p:cNvPr id="11" name="Rectangle 10"/>
          <p:cNvSpPr/>
          <p:nvPr/>
        </p:nvSpPr>
        <p:spPr>
          <a:xfrm>
            <a:off x="640080" y="2944368"/>
            <a:ext cx="10881360" cy="384048"/>
          </a:xfrm>
          <a:prstGeom prst="rect">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17520"/>
            <a:ext cx="4572000" cy="237744"/>
          </a:xfrm>
          <a:prstGeom prst="rect">
            <a:avLst/>
          </a:prstGeom>
          <a:noFill/>
        </p:spPr>
        <p:txBody>
          <a:bodyPr wrap="square" anchor="t">
            <a:spAutoFit/>
          </a:bodyPr>
          <a:lstStyle/>
          <a:p>
            <a:pPr algn="l"/>
            <a:r>
              <a:rPr sz="1300" b="1">
                <a:solidFill>
                  <a:srgbClr val="D97706"/>
                </a:solidFill>
                <a:latin typeface="Meiryo UI"/>
              </a:rPr>
              <a:t>選定予定の福祉用具</a:t>
            </a:r>
          </a:p>
        </p:txBody>
      </p:sp>
      <p:sp>
        <p:nvSpPr>
          <p:cNvPr id="13" name="TextBox 12"/>
          <p:cNvSpPr txBox="1"/>
          <p:nvPr/>
        </p:nvSpPr>
        <p:spPr>
          <a:xfrm>
            <a:off x="10515600" y="3017520"/>
            <a:ext cx="914400" cy="237744"/>
          </a:xfrm>
          <a:prstGeom prst="rect">
            <a:avLst/>
          </a:prstGeom>
          <a:noFill/>
        </p:spPr>
        <p:txBody>
          <a:bodyPr wrap="square" anchor="t">
            <a:spAutoFit/>
          </a:bodyPr>
          <a:lstStyle/>
          <a:p>
            <a:pPr algn="r"/>
            <a:r>
              <a:rPr sz="1100" b="1">
                <a:solidFill>
                  <a:srgbClr val="5B6E68"/>
                </a:solidFill>
                <a:latin typeface="Meiryo UI"/>
              </a:rPr>
              <a:t>+ 追加</a:t>
            </a:r>
          </a:p>
        </p:txBody>
      </p:sp>
      <p:sp>
        <p:nvSpPr>
          <p:cNvPr id="14" name="Rectangle 13"/>
          <p:cNvSpPr/>
          <p:nvPr/>
        </p:nvSpPr>
        <p:spPr>
          <a:xfrm>
            <a:off x="640080" y="3401568"/>
            <a:ext cx="10881360" cy="43891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493008"/>
            <a:ext cx="4114800" cy="256032"/>
          </a:xfrm>
          <a:prstGeom prst="rect">
            <a:avLst/>
          </a:prstGeom>
          <a:solidFill>
            <a:srgbClr val="D7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02152"/>
            <a:ext cx="4023360" cy="237744"/>
          </a:xfrm>
          <a:prstGeom prst="rect">
            <a:avLst/>
          </a:prstGeom>
          <a:noFill/>
        </p:spPr>
        <p:txBody>
          <a:bodyPr wrap="square" anchor="t">
            <a:spAutoFit/>
          </a:bodyPr>
          <a:lstStyle/>
          <a:p>
            <a:pPr algn="l"/>
            <a:r>
              <a:rPr sz="1200" b="0">
                <a:solidFill>
                  <a:srgbClr val="1C2B27"/>
                </a:solidFill>
                <a:latin typeface="Meiryo UI"/>
              </a:rPr>
              <a:t>特殊寝台</a:t>
            </a:r>
          </a:p>
        </p:txBody>
      </p:sp>
      <p:sp>
        <p:nvSpPr>
          <p:cNvPr id="17" name="Rectangle 16"/>
          <p:cNvSpPr/>
          <p:nvPr/>
        </p:nvSpPr>
        <p:spPr>
          <a:xfrm>
            <a:off x="5074920" y="3493008"/>
            <a:ext cx="2560320" cy="256032"/>
          </a:xfrm>
          <a:prstGeom prst="rect">
            <a:avLst/>
          </a:prstGeom>
          <a:solidFill>
            <a:srgbClr val="D7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0" y="3502152"/>
            <a:ext cx="2514600" cy="237744"/>
          </a:xfrm>
          <a:prstGeom prst="rect">
            <a:avLst/>
          </a:prstGeom>
          <a:noFill/>
        </p:spPr>
        <p:txBody>
          <a:bodyPr wrap="square" anchor="t">
            <a:spAutoFit/>
          </a:bodyPr>
          <a:lstStyle/>
          <a:p>
            <a:pPr algn="l"/>
            <a:r>
              <a:rPr sz="1200" b="0">
                <a:solidFill>
                  <a:srgbClr val="5B6E68"/>
                </a:solidFill>
                <a:latin typeface="Meiryo UI"/>
              </a:rPr>
              <a:t>特殊寝台</a:t>
            </a:r>
          </a:p>
        </p:txBody>
      </p:sp>
      <p:sp>
        <p:nvSpPr>
          <p:cNvPr id="19" name="Rectangle 18"/>
          <p:cNvSpPr/>
          <p:nvPr/>
        </p:nvSpPr>
        <p:spPr>
          <a:xfrm>
            <a:off x="640080" y="3913632"/>
            <a:ext cx="10881360" cy="43891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4005072"/>
            <a:ext cx="4114800" cy="256032"/>
          </a:xfrm>
          <a:prstGeom prst="rect">
            <a:avLst/>
          </a:prstGeom>
          <a:solidFill>
            <a:srgbClr val="D7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014216"/>
            <a:ext cx="4023360" cy="237744"/>
          </a:xfrm>
          <a:prstGeom prst="rect">
            <a:avLst/>
          </a:prstGeom>
          <a:noFill/>
        </p:spPr>
        <p:txBody>
          <a:bodyPr wrap="square" anchor="t">
            <a:spAutoFit/>
          </a:bodyPr>
          <a:lstStyle/>
          <a:p>
            <a:pPr algn="l"/>
            <a:r>
              <a:rPr sz="1200" b="0">
                <a:solidFill>
                  <a:srgbClr val="1C2B27"/>
                </a:solidFill>
                <a:latin typeface="Meiryo UI"/>
              </a:rPr>
              <a:t>介助バー</a:t>
            </a:r>
          </a:p>
        </p:txBody>
      </p:sp>
      <p:sp>
        <p:nvSpPr>
          <p:cNvPr id="22" name="Rectangle 21"/>
          <p:cNvSpPr/>
          <p:nvPr/>
        </p:nvSpPr>
        <p:spPr>
          <a:xfrm>
            <a:off x="5074920" y="4005072"/>
            <a:ext cx="2560320" cy="256032"/>
          </a:xfrm>
          <a:prstGeom prst="rect">
            <a:avLst/>
          </a:prstGeom>
          <a:solidFill>
            <a:srgbClr val="D7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0" y="4014216"/>
            <a:ext cx="2514600" cy="237744"/>
          </a:xfrm>
          <a:prstGeom prst="rect">
            <a:avLst/>
          </a:prstGeom>
          <a:noFill/>
        </p:spPr>
        <p:txBody>
          <a:bodyPr wrap="square" anchor="t">
            <a:spAutoFit/>
          </a:bodyPr>
          <a:lstStyle/>
          <a:p>
            <a:pPr algn="l"/>
            <a:r>
              <a:rPr sz="1200" b="0">
                <a:solidFill>
                  <a:srgbClr val="5B6E68"/>
                </a:solidFill>
                <a:latin typeface="Meiryo UI"/>
              </a:rPr>
              <a:t>特殊寝台付属品</a:t>
            </a:r>
          </a:p>
        </p:txBody>
      </p:sp>
      <p:sp>
        <p:nvSpPr>
          <p:cNvPr id="24" name="Rectangle 23"/>
          <p:cNvSpPr/>
          <p:nvPr/>
        </p:nvSpPr>
        <p:spPr>
          <a:xfrm>
            <a:off x="640080" y="4425696"/>
            <a:ext cx="10881360" cy="43891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4517136"/>
            <a:ext cx="4114800" cy="256032"/>
          </a:xfrm>
          <a:prstGeom prst="rect">
            <a:avLst/>
          </a:prstGeom>
          <a:solidFill>
            <a:srgbClr val="D7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526280"/>
            <a:ext cx="4023360" cy="237744"/>
          </a:xfrm>
          <a:prstGeom prst="rect">
            <a:avLst/>
          </a:prstGeom>
          <a:noFill/>
        </p:spPr>
        <p:txBody>
          <a:bodyPr wrap="square" anchor="t">
            <a:spAutoFit/>
          </a:bodyPr>
          <a:lstStyle/>
          <a:p>
            <a:pPr algn="l"/>
            <a:r>
              <a:rPr sz="1200" b="0">
                <a:solidFill>
                  <a:srgbClr val="1C2B27"/>
                </a:solidFill>
                <a:latin typeface="Meiryo UI"/>
              </a:rPr>
              <a:t>歩行器（屋内用）</a:t>
            </a:r>
          </a:p>
        </p:txBody>
      </p:sp>
      <p:sp>
        <p:nvSpPr>
          <p:cNvPr id="27" name="Rectangle 26"/>
          <p:cNvSpPr/>
          <p:nvPr/>
        </p:nvSpPr>
        <p:spPr>
          <a:xfrm>
            <a:off x="5074920" y="4517136"/>
            <a:ext cx="2560320" cy="256032"/>
          </a:xfrm>
          <a:prstGeom prst="rect">
            <a:avLst/>
          </a:prstGeom>
          <a:solidFill>
            <a:srgbClr val="D7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4526280"/>
            <a:ext cx="2514600" cy="237744"/>
          </a:xfrm>
          <a:prstGeom prst="rect">
            <a:avLst/>
          </a:prstGeom>
          <a:noFill/>
        </p:spPr>
        <p:txBody>
          <a:bodyPr wrap="square" anchor="t">
            <a:spAutoFit/>
          </a:bodyPr>
          <a:lstStyle/>
          <a:p>
            <a:pPr algn="l"/>
            <a:r>
              <a:rPr sz="1200" b="0">
                <a:solidFill>
                  <a:srgbClr val="5B6E68"/>
                </a:solidFill>
                <a:latin typeface="Meiryo UI"/>
              </a:rPr>
              <a:t>歩行器</a:t>
            </a:r>
          </a:p>
        </p:txBody>
      </p:sp>
      <p:graphicFrame>
        <p:nvGraphicFramePr>
          <p:cNvPr id="29" name="Table 28"/>
          <p:cNvGraphicFramePr>
            <a:graphicFrameLocks noGrp="1"/>
          </p:cNvGraphicFramePr>
          <p:nvPr/>
        </p:nvGraphicFramePr>
        <p:xfrm>
          <a:off x="640080" y="5120640"/>
          <a:ext cx="10881360" cy="1508760"/>
        </p:xfrm>
        <a:graphic>
          <a:graphicData uri="http://schemas.openxmlformats.org/drawingml/2006/table">
            <a:tbl>
              <a:tblPr>
                <a:tableStyleId>{5C22544A-7EE6-4342-B048-85BDC9FD1C3A}</a:tableStyleId>
              </a:tblPr>
              <a:tblGrid>
                <a:gridCol w="2743200"/>
                <a:gridCol w="8138160"/>
              </a:tblGrid>
              <a:tr h="301752">
                <a:tc>
                  <a:txBody>
                    <a:bodyPr wrap="square"/>
                    <a:lstStyle/>
                    <a:p>
                      <a:pPr algn="l"/>
                      <a:r>
                        <a:rPr sz="1300" b="1">
                          <a:solidFill>
                            <a:srgbClr val="FFFFFF"/>
                          </a:solidFill>
                          <a:latin typeface="Meiryo UI"/>
                        </a:rPr>
                        <a:t>操作</a:t>
                      </a:r>
                    </a:p>
                  </a:txBody>
                  <a:tcPr anchor="ctr" marL="91440" marR="73152" marT="36576" marB="36576">
                    <a:solidFill>
                      <a:srgbClr val="DC2626"/>
                    </a:solidFill>
                  </a:tcPr>
                </a:tc>
                <a:tc>
                  <a:txBody>
                    <a:bodyPr wrap="square"/>
                    <a:lstStyle/>
                    <a:p>
                      <a:pPr algn="l"/>
                      <a:r>
                        <a:rPr sz="1300" b="1">
                          <a:solidFill>
                            <a:srgbClr val="FFFFFF"/>
                          </a:solidFill>
                          <a:latin typeface="Meiryo UI"/>
                        </a:rPr>
                        <a:t>方法</a:t>
                      </a:r>
                    </a:p>
                  </a:txBody>
                  <a:tcPr anchor="ctr" marL="91440" marR="73152" marT="36576" marB="36576">
                    <a:solidFill>
                      <a:srgbClr val="DC2626"/>
                    </a:solidFill>
                  </a:tcPr>
                </a:tc>
              </a:tr>
              <a:tr h="301752">
                <a:tc>
                  <a:txBody>
                    <a:bodyPr wrap="square"/>
                    <a:lstStyle/>
                    <a:p>
                      <a:pPr algn="l"/>
                      <a:r>
                        <a:rPr sz="1300" b="1">
                          <a:solidFill>
                            <a:srgbClr val="1C2B27"/>
                          </a:solidFill>
                          <a:latin typeface="Meiryo UI"/>
                        </a:rPr>
                        <a:t>項目を追加する</a:t>
                      </a:r>
                    </a:p>
                  </a:txBody>
                  <a:tcPr anchor="ctr" marL="91440" marR="73152" marT="36576" marB="36576">
                    <a:solidFill>
                      <a:srgbClr val="FFFFFF"/>
                    </a:solidFill>
                  </a:tcPr>
                </a:tc>
                <a:tc>
                  <a:txBody>
                    <a:bodyPr wrap="square"/>
                    <a:lstStyle/>
                    <a:p>
                      <a:pPr algn="l"/>
                      <a:r>
                        <a:rPr sz="1300" b="0">
                          <a:solidFill>
                            <a:srgbClr val="1C2B27"/>
                          </a:solidFill>
                          <a:latin typeface="Meiryo UI"/>
                        </a:rPr>
                        <a:t>「＋ 追加」ボタンをクリック → 品名・種目を入力</a:t>
                      </a:r>
                    </a:p>
                  </a:txBody>
                  <a:tcPr anchor="ctr" marL="91440" marR="73152" marT="36576" marB="36576">
                    <a:solidFill>
                      <a:srgbClr val="FFFFFF"/>
                    </a:solidFill>
                  </a:tcPr>
                </a:tc>
              </a:tr>
              <a:tr h="301752">
                <a:tc>
                  <a:txBody>
                    <a:bodyPr wrap="square"/>
                    <a:lstStyle/>
                    <a:p>
                      <a:pPr algn="l"/>
                      <a:r>
                        <a:rPr sz="1300" b="1">
                          <a:solidFill>
                            <a:srgbClr val="1C2B27"/>
                          </a:solidFill>
                          <a:latin typeface="Meiryo UI"/>
                        </a:rPr>
                        <a:t>項目を編集する</a:t>
                      </a:r>
                    </a:p>
                  </a:txBody>
                  <a:tcPr anchor="ctr" marL="91440" marR="73152" marT="36576" marB="36576">
                    <a:solidFill>
                      <a:srgbClr val="FEE2E2"/>
                    </a:solidFill>
                  </a:tcPr>
                </a:tc>
                <a:tc>
                  <a:txBody>
                    <a:bodyPr wrap="square"/>
                    <a:lstStyle/>
                    <a:p>
                      <a:pPr algn="l"/>
                      <a:r>
                        <a:rPr sz="1300" b="0">
                          <a:solidFill>
                            <a:srgbClr val="1C2B27"/>
                          </a:solidFill>
                          <a:latin typeface="Meiryo UI"/>
                        </a:rPr>
                        <a:t>直接テキストをクリックして書き換える（編集モード時）</a:t>
                      </a:r>
                    </a:p>
                  </a:txBody>
                  <a:tcPr anchor="ctr" marL="91440" marR="73152" marT="36576" marB="36576">
                    <a:solidFill>
                      <a:srgbClr val="FEE2E2"/>
                    </a:solidFill>
                  </a:tcPr>
                </a:tc>
              </a:tr>
              <a:tr h="301752">
                <a:tc>
                  <a:txBody>
                    <a:bodyPr wrap="square"/>
                    <a:lstStyle/>
                    <a:p>
                      <a:pPr algn="l"/>
                      <a:r>
                        <a:rPr sz="1300" b="1">
                          <a:solidFill>
                            <a:srgbClr val="1C2B27"/>
                          </a:solidFill>
                          <a:latin typeface="Meiryo UI"/>
                        </a:rPr>
                        <a:t>項目を削除する</a:t>
                      </a:r>
                    </a:p>
                  </a:txBody>
                  <a:tcPr anchor="ctr" marL="91440" marR="73152" marT="36576" marB="36576">
                    <a:solidFill>
                      <a:srgbClr val="FFFFFF"/>
                    </a:solidFill>
                  </a:tcPr>
                </a:tc>
                <a:tc>
                  <a:txBody>
                    <a:bodyPr wrap="square"/>
                    <a:lstStyle/>
                    <a:p>
                      <a:pPr algn="l"/>
                      <a:r>
                        <a:rPr sz="1300" b="0">
                          <a:solidFill>
                            <a:srgbClr val="1C2B27"/>
                          </a:solidFill>
                          <a:latin typeface="Meiryo UI"/>
                        </a:rPr>
                        <a:t>行右端の「×」ボタンをクリック</a:t>
                      </a:r>
                    </a:p>
                  </a:txBody>
                  <a:tcPr anchor="ctr" marL="91440" marR="73152" marT="36576" marB="36576">
                    <a:solidFill>
                      <a:srgbClr val="FFFFFF"/>
                    </a:solidFill>
                  </a:tcPr>
                </a:tc>
              </a:tr>
              <a:tr h="301752">
                <a:tc>
                  <a:txBody>
                    <a:bodyPr wrap="square"/>
                    <a:lstStyle/>
                    <a:p>
                      <a:pPr algn="l"/>
                      <a:r>
                        <a:rPr sz="1300" b="1">
                          <a:solidFill>
                            <a:srgbClr val="1C2B27"/>
                          </a:solidFill>
                          <a:latin typeface="Meiryo UI"/>
                        </a:rPr>
                        <a:t>正式な機器登録に変換</a:t>
                      </a:r>
                    </a:p>
                  </a:txBody>
                  <a:tcPr anchor="ctr" marL="91440" marR="73152" marT="36576" marB="36576">
                    <a:solidFill>
                      <a:srgbClr val="FEE2E2"/>
                    </a:solidFill>
                  </a:tcPr>
                </a:tc>
                <a:tc>
                  <a:txBody>
                    <a:bodyPr wrap="square"/>
                    <a:lstStyle/>
                    <a:p>
                      <a:pPr algn="l"/>
                      <a:r>
                        <a:rPr sz="1300" b="0">
                          <a:solidFill>
                            <a:srgbClr val="1C2B27"/>
                          </a:solidFill>
                          <a:latin typeface="Meiryo UI"/>
                        </a:rPr>
                        <a:t>「福祉用具選定」タブで改めて詳細情報を入力してください</a:t>
                      </a:r>
                    </a:p>
                  </a:txBody>
                  <a:tcPr anchor="ctr" marL="91440" marR="73152" marT="36576" marB="36576">
                    <a:solidFill>
                      <a:srgbClr val="FEE2E2"/>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DC2626"/>
                </a:solidFill>
                <a:latin typeface="Meiryo UI"/>
              </a:rPr>
              <a:t>FAQ</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3000" b="1">
                <a:solidFill>
                  <a:srgbClr val="1C2B27"/>
                </a:solidFill>
                <a:latin typeface="Meiryo UI"/>
              </a:rPr>
              <a:t>よくある質問</a:t>
            </a:r>
          </a:p>
        </p:txBody>
      </p:sp>
      <p:sp>
        <p:nvSpPr>
          <p:cNvPr id="6" name="Rectangle 5"/>
          <p:cNvSpPr/>
          <p:nvPr/>
        </p:nvSpPr>
        <p:spPr>
          <a:xfrm>
            <a:off x="640080" y="1481328"/>
            <a:ext cx="1280160" cy="548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病歴・状態タブ 操作マニュアル</a:t>
            </a:r>
          </a:p>
        </p:txBody>
      </p:sp>
      <p:sp>
        <p:nvSpPr>
          <p:cNvPr id="8" name="Rectangle 7"/>
          <p:cNvSpPr/>
          <p:nvPr/>
        </p:nvSpPr>
        <p:spPr>
          <a:xfrm>
            <a:off x="640080" y="1828800"/>
            <a:ext cx="10881360" cy="877824"/>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54864" cy="87782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20240"/>
            <a:ext cx="457200" cy="694944"/>
          </a:xfrm>
          <a:prstGeom prst="rect">
            <a:avLst/>
          </a:prstGeom>
          <a:noFill/>
        </p:spPr>
        <p:txBody>
          <a:bodyPr wrap="square" anchor="t">
            <a:spAutoFit/>
          </a:bodyPr>
          <a:lstStyle/>
          <a:p>
            <a:pPr algn="l"/>
            <a:r>
              <a:rPr sz="1500" b="1">
                <a:solidFill>
                  <a:srgbClr val="DC2626"/>
                </a:solidFill>
                <a:latin typeface="Meiryo UI"/>
              </a:rPr>
              <a:t>Q</a:t>
            </a:r>
          </a:p>
        </p:txBody>
      </p:sp>
      <p:sp>
        <p:nvSpPr>
          <p:cNvPr id="11" name="TextBox 10"/>
          <p:cNvSpPr txBox="1"/>
          <p:nvPr/>
        </p:nvSpPr>
        <p:spPr>
          <a:xfrm>
            <a:off x="1188720" y="1874519"/>
            <a:ext cx="9966960" cy="347472"/>
          </a:xfrm>
          <a:prstGeom prst="rect">
            <a:avLst/>
          </a:prstGeom>
          <a:noFill/>
        </p:spPr>
        <p:txBody>
          <a:bodyPr wrap="square" anchor="t">
            <a:spAutoFit/>
          </a:bodyPr>
          <a:lstStyle/>
          <a:p>
            <a:pPr algn="l"/>
            <a:r>
              <a:rPr sz="1400" b="1">
                <a:solidFill>
                  <a:srgbClr val="1C2B27"/>
                </a:solidFill>
                <a:latin typeface="Meiryo UI"/>
              </a:rPr>
              <a:t>病歴はどのくらい詳しく書けばいいですか？</a:t>
            </a:r>
          </a:p>
        </p:txBody>
      </p:sp>
      <p:sp>
        <p:nvSpPr>
          <p:cNvPr id="12" name="TextBox 11"/>
          <p:cNvSpPr txBox="1"/>
          <p:nvPr/>
        </p:nvSpPr>
        <p:spPr>
          <a:xfrm>
            <a:off x="1188720" y="2231136"/>
            <a:ext cx="9966960" cy="402336"/>
          </a:xfrm>
          <a:prstGeom prst="rect">
            <a:avLst/>
          </a:prstGeom>
          <a:noFill/>
        </p:spPr>
        <p:txBody>
          <a:bodyPr wrap="square" anchor="t">
            <a:spAutoFit/>
          </a:bodyPr>
          <a:lstStyle/>
          <a:p>
            <a:pPr algn="l"/>
            <a:r>
              <a:rPr sz="1200" b="0">
                <a:solidFill>
                  <a:srgbClr val="5B6E68"/>
                </a:solidFill>
                <a:latin typeface="Meiryo UI"/>
              </a:rPr>
              <a:t>AI用具提案や議事録生成の精度を上げるため、病名・麻痺の有無・ADL状態・認知機能・退院状況などできるだけ詳しく記載することをお勧めします。</a:t>
            </a:r>
          </a:p>
        </p:txBody>
      </p:sp>
      <p:sp>
        <p:nvSpPr>
          <p:cNvPr id="13" name="Rectangle 12"/>
          <p:cNvSpPr/>
          <p:nvPr/>
        </p:nvSpPr>
        <p:spPr>
          <a:xfrm>
            <a:off x="640080" y="2779776"/>
            <a:ext cx="10881360" cy="877824"/>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779776"/>
            <a:ext cx="54864" cy="87782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871216"/>
            <a:ext cx="457200" cy="694944"/>
          </a:xfrm>
          <a:prstGeom prst="rect">
            <a:avLst/>
          </a:prstGeom>
          <a:noFill/>
        </p:spPr>
        <p:txBody>
          <a:bodyPr wrap="square" anchor="t">
            <a:spAutoFit/>
          </a:bodyPr>
          <a:lstStyle/>
          <a:p>
            <a:pPr algn="l"/>
            <a:r>
              <a:rPr sz="1500" b="1">
                <a:solidFill>
                  <a:srgbClr val="DC2626"/>
                </a:solidFill>
                <a:latin typeface="Meiryo UI"/>
              </a:rPr>
              <a:t>Q</a:t>
            </a:r>
          </a:p>
        </p:txBody>
      </p:sp>
      <p:sp>
        <p:nvSpPr>
          <p:cNvPr id="16" name="TextBox 15"/>
          <p:cNvSpPr txBox="1"/>
          <p:nvPr/>
        </p:nvSpPr>
        <p:spPr>
          <a:xfrm>
            <a:off x="1188720" y="2825496"/>
            <a:ext cx="9966960" cy="347472"/>
          </a:xfrm>
          <a:prstGeom prst="rect">
            <a:avLst/>
          </a:prstGeom>
          <a:noFill/>
        </p:spPr>
        <p:txBody>
          <a:bodyPr wrap="square" anchor="t">
            <a:spAutoFit/>
          </a:bodyPr>
          <a:lstStyle/>
          <a:p>
            <a:pPr algn="l"/>
            <a:r>
              <a:rPr sz="1400" b="1">
                <a:solidFill>
                  <a:srgbClr val="1C2B27"/>
                </a:solidFill>
                <a:latin typeface="Meiryo UI"/>
              </a:rPr>
              <a:t>医療文書のアップロードができません</a:t>
            </a:r>
          </a:p>
        </p:txBody>
      </p:sp>
      <p:sp>
        <p:nvSpPr>
          <p:cNvPr id="17" name="TextBox 16"/>
          <p:cNvSpPr txBox="1"/>
          <p:nvPr/>
        </p:nvSpPr>
        <p:spPr>
          <a:xfrm>
            <a:off x="1188720" y="3182112"/>
            <a:ext cx="9966960" cy="402336"/>
          </a:xfrm>
          <a:prstGeom prst="rect">
            <a:avLst/>
          </a:prstGeom>
          <a:noFill/>
        </p:spPr>
        <p:txBody>
          <a:bodyPr wrap="square" anchor="t">
            <a:spAutoFit/>
          </a:bodyPr>
          <a:lstStyle/>
          <a:p>
            <a:pPr algn="l"/>
            <a:r>
              <a:rPr sz="1200" b="0">
                <a:solidFill>
                  <a:srgbClr val="5B6E68"/>
                </a:solidFill>
                <a:latin typeface="Meiryo UI"/>
              </a:rPr>
              <a:t>対応形式（PDF・PNG・JPG・JPEG・WEBP）かご確認ください。また20MBを超えるファイルはアップロードできません。</a:t>
            </a:r>
          </a:p>
        </p:txBody>
      </p:sp>
      <p:sp>
        <p:nvSpPr>
          <p:cNvPr id="18" name="Rectangle 17"/>
          <p:cNvSpPr/>
          <p:nvPr/>
        </p:nvSpPr>
        <p:spPr>
          <a:xfrm>
            <a:off x="640080" y="3730752"/>
            <a:ext cx="10881360" cy="877824"/>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730752"/>
            <a:ext cx="54864" cy="87782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822191"/>
            <a:ext cx="457200" cy="694944"/>
          </a:xfrm>
          <a:prstGeom prst="rect">
            <a:avLst/>
          </a:prstGeom>
          <a:noFill/>
        </p:spPr>
        <p:txBody>
          <a:bodyPr wrap="square" anchor="t">
            <a:spAutoFit/>
          </a:bodyPr>
          <a:lstStyle/>
          <a:p>
            <a:pPr algn="l"/>
            <a:r>
              <a:rPr sz="1500" b="1">
                <a:solidFill>
                  <a:srgbClr val="DC2626"/>
                </a:solidFill>
                <a:latin typeface="Meiryo UI"/>
              </a:rPr>
              <a:t>Q</a:t>
            </a:r>
          </a:p>
        </p:txBody>
      </p:sp>
      <p:sp>
        <p:nvSpPr>
          <p:cNvPr id="21" name="TextBox 20"/>
          <p:cNvSpPr txBox="1"/>
          <p:nvPr/>
        </p:nvSpPr>
        <p:spPr>
          <a:xfrm>
            <a:off x="1188720" y="3776472"/>
            <a:ext cx="9966960" cy="347472"/>
          </a:xfrm>
          <a:prstGeom prst="rect">
            <a:avLst/>
          </a:prstGeom>
          <a:noFill/>
        </p:spPr>
        <p:txBody>
          <a:bodyPr wrap="square" anchor="t">
            <a:spAutoFit/>
          </a:bodyPr>
          <a:lstStyle/>
          <a:p>
            <a:pPr algn="l"/>
            <a:r>
              <a:rPr sz="1400" b="1">
                <a:solidFill>
                  <a:srgbClr val="1C2B27"/>
                </a:solidFill>
                <a:latin typeface="Meiryo UI"/>
              </a:rPr>
              <a:t>AI読み取り結果が一部おかしいです</a:t>
            </a:r>
          </a:p>
        </p:txBody>
      </p:sp>
      <p:sp>
        <p:nvSpPr>
          <p:cNvPr id="22" name="TextBox 21"/>
          <p:cNvSpPr txBox="1"/>
          <p:nvPr/>
        </p:nvSpPr>
        <p:spPr>
          <a:xfrm>
            <a:off x="1188720" y="4133088"/>
            <a:ext cx="9966960" cy="402336"/>
          </a:xfrm>
          <a:prstGeom prst="rect">
            <a:avLst/>
          </a:prstGeom>
          <a:noFill/>
        </p:spPr>
        <p:txBody>
          <a:bodyPr wrap="square" anchor="t">
            <a:spAutoFit/>
          </a:bodyPr>
          <a:lstStyle/>
          <a:p>
            <a:pPr algn="l"/>
            <a:r>
              <a:rPr sz="1200" b="0">
                <a:solidFill>
                  <a:srgbClr val="5B6E68"/>
                </a:solidFill>
                <a:latin typeface="Meiryo UI"/>
              </a:rPr>
              <a:t>AIの読み取り精度はドキュメントの品質によって異なります。「病歴欄に反映」後に内容を確認・修正してください。</a:t>
            </a:r>
          </a:p>
        </p:txBody>
      </p:sp>
      <p:sp>
        <p:nvSpPr>
          <p:cNvPr id="23" name="Rectangle 22"/>
          <p:cNvSpPr/>
          <p:nvPr/>
        </p:nvSpPr>
        <p:spPr>
          <a:xfrm>
            <a:off x="640080" y="4681728"/>
            <a:ext cx="10881360" cy="877824"/>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681728"/>
            <a:ext cx="54864" cy="87782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773168"/>
            <a:ext cx="457200" cy="694944"/>
          </a:xfrm>
          <a:prstGeom prst="rect">
            <a:avLst/>
          </a:prstGeom>
          <a:noFill/>
        </p:spPr>
        <p:txBody>
          <a:bodyPr wrap="square" anchor="t">
            <a:spAutoFit/>
          </a:bodyPr>
          <a:lstStyle/>
          <a:p>
            <a:pPr algn="l"/>
            <a:r>
              <a:rPr sz="1500" b="1">
                <a:solidFill>
                  <a:srgbClr val="DC2626"/>
                </a:solidFill>
                <a:latin typeface="Meiryo UI"/>
              </a:rPr>
              <a:t>Q</a:t>
            </a:r>
          </a:p>
        </p:txBody>
      </p:sp>
      <p:sp>
        <p:nvSpPr>
          <p:cNvPr id="26" name="TextBox 25"/>
          <p:cNvSpPr txBox="1"/>
          <p:nvPr/>
        </p:nvSpPr>
        <p:spPr>
          <a:xfrm>
            <a:off x="1188720" y="4727448"/>
            <a:ext cx="9966960" cy="347472"/>
          </a:xfrm>
          <a:prstGeom prst="rect">
            <a:avLst/>
          </a:prstGeom>
          <a:noFill/>
        </p:spPr>
        <p:txBody>
          <a:bodyPr wrap="square" anchor="t">
            <a:spAutoFit/>
          </a:bodyPr>
          <a:lstStyle/>
          <a:p>
            <a:pPr algn="l"/>
            <a:r>
              <a:rPr sz="1400" b="1">
                <a:solidFill>
                  <a:srgbClr val="1C2B27"/>
                </a:solidFill>
                <a:latin typeface="Meiryo UI"/>
              </a:rPr>
              <a:t>「病歴から用具を提案」ボタンが押せません（グレーになっている）</a:t>
            </a:r>
          </a:p>
        </p:txBody>
      </p:sp>
      <p:sp>
        <p:nvSpPr>
          <p:cNvPr id="27" name="TextBox 26"/>
          <p:cNvSpPr txBox="1"/>
          <p:nvPr/>
        </p:nvSpPr>
        <p:spPr>
          <a:xfrm>
            <a:off x="1188720" y="5084064"/>
            <a:ext cx="9966960" cy="402336"/>
          </a:xfrm>
          <a:prstGeom prst="rect">
            <a:avLst/>
          </a:prstGeom>
          <a:noFill/>
        </p:spPr>
        <p:txBody>
          <a:bodyPr wrap="square" anchor="t">
            <a:spAutoFit/>
          </a:bodyPr>
          <a:lstStyle/>
          <a:p>
            <a:pPr algn="l"/>
            <a:r>
              <a:rPr sz="1200" b="0">
                <a:solidFill>
                  <a:srgbClr val="5B6E68"/>
                </a:solidFill>
                <a:latin typeface="Meiryo UI"/>
              </a:rPr>
              <a:t>病歴テキストエリアに内容が入力されていない場合は提案できません。先に病歴を入力してください。</a:t>
            </a:r>
          </a:p>
        </p:txBody>
      </p:sp>
      <p:sp>
        <p:nvSpPr>
          <p:cNvPr id="28" name="Rectangle 27"/>
          <p:cNvSpPr/>
          <p:nvPr/>
        </p:nvSpPr>
        <p:spPr>
          <a:xfrm>
            <a:off x="640080" y="5632704"/>
            <a:ext cx="10881360" cy="877824"/>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5632704"/>
            <a:ext cx="54864" cy="87782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724144"/>
            <a:ext cx="457200" cy="694944"/>
          </a:xfrm>
          <a:prstGeom prst="rect">
            <a:avLst/>
          </a:prstGeom>
          <a:noFill/>
        </p:spPr>
        <p:txBody>
          <a:bodyPr wrap="square" anchor="t">
            <a:spAutoFit/>
          </a:bodyPr>
          <a:lstStyle/>
          <a:p>
            <a:pPr algn="l"/>
            <a:r>
              <a:rPr sz="1500" b="1">
                <a:solidFill>
                  <a:srgbClr val="DC2626"/>
                </a:solidFill>
                <a:latin typeface="Meiryo UI"/>
              </a:rPr>
              <a:t>Q</a:t>
            </a:r>
          </a:p>
        </p:txBody>
      </p:sp>
      <p:sp>
        <p:nvSpPr>
          <p:cNvPr id="31" name="TextBox 30"/>
          <p:cNvSpPr txBox="1"/>
          <p:nvPr/>
        </p:nvSpPr>
        <p:spPr>
          <a:xfrm>
            <a:off x="1188720" y="5678424"/>
            <a:ext cx="9966960" cy="347472"/>
          </a:xfrm>
          <a:prstGeom prst="rect">
            <a:avLst/>
          </a:prstGeom>
          <a:noFill/>
        </p:spPr>
        <p:txBody>
          <a:bodyPr wrap="square" anchor="t">
            <a:spAutoFit/>
          </a:bodyPr>
          <a:lstStyle/>
          <a:p>
            <a:pPr algn="l"/>
            <a:r>
              <a:rPr sz="1400" b="1">
                <a:solidFill>
                  <a:srgbClr val="1C2B27"/>
                </a:solidFill>
                <a:latin typeface="Meiryo UI"/>
              </a:rPr>
              <a:t>選定予定の用具は「福祉用具選定」タブに自動連携されますか？</a:t>
            </a:r>
          </a:p>
        </p:txBody>
      </p:sp>
      <p:sp>
        <p:nvSpPr>
          <p:cNvPr id="32" name="TextBox 31"/>
          <p:cNvSpPr txBox="1"/>
          <p:nvPr/>
        </p:nvSpPr>
        <p:spPr>
          <a:xfrm>
            <a:off x="1188720" y="6035040"/>
            <a:ext cx="9966960" cy="402336"/>
          </a:xfrm>
          <a:prstGeom prst="rect">
            <a:avLst/>
          </a:prstGeom>
          <a:noFill/>
        </p:spPr>
        <p:txBody>
          <a:bodyPr wrap="square" anchor="t">
            <a:spAutoFit/>
          </a:bodyPr>
          <a:lstStyle/>
          <a:p>
            <a:pPr algn="l"/>
            <a:r>
              <a:rPr sz="1200" b="0">
                <a:solidFill>
                  <a:srgbClr val="5B6E68"/>
                </a:solidFill>
                <a:latin typeface="Meiryo UI"/>
              </a:rPr>
              <a:t>されません。選定予定はあくまでメモです。「福祉用具選定」タブで改めて正式な機器情報を入力してください。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