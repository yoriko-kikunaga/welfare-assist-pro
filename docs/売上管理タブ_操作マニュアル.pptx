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463040"/>
            <a:ext cx="9418320" cy="3840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783080"/>
            <a:ext cx="8961120" cy="914400"/>
          </a:xfrm>
          <a:prstGeom prst="rect">
            <a:avLst/>
          </a:prstGeom>
          <a:noFill/>
        </p:spPr>
        <p:txBody>
          <a:bodyPr wrap="square">
            <a:spAutoFit/>
          </a:bodyPr>
          <a:lstStyle/>
          <a:p>
            <a:pPr algn="ctr"/>
            <a:r>
              <a:rPr sz="3400" b="1" i="0">
                <a:solidFill>
                  <a:srgbClr val="7C3AED"/>
                </a:solidFill>
                <a:latin typeface="Meiryo UI"/>
              </a:rPr>
              <a:t>売上管理（自費・販売）タブ</a:t>
            </a:r>
          </a:p>
        </p:txBody>
      </p:sp>
      <p:sp>
        <p:nvSpPr>
          <p:cNvPr id="6" name="TextBox 5"/>
          <p:cNvSpPr txBox="1"/>
          <p:nvPr/>
        </p:nvSpPr>
        <p:spPr>
          <a:xfrm>
            <a:off x="1645920" y="2697480"/>
            <a:ext cx="8961120" cy="640080"/>
          </a:xfrm>
          <a:prstGeom prst="rect">
            <a:avLst/>
          </a:prstGeom>
          <a:noFill/>
        </p:spPr>
        <p:txBody>
          <a:bodyPr wrap="square">
            <a:spAutoFit/>
          </a:bodyPr>
          <a:lstStyle/>
          <a:p>
            <a:pPr algn="ctr"/>
            <a:r>
              <a:rPr sz="2800" b="1" i="0">
                <a:solidFill>
                  <a:srgbClr val="1F2937"/>
                </a:solidFill>
                <a:latin typeface="Meiryo UI"/>
              </a:rPr>
              <a:t>操作マニュアル</a:t>
            </a:r>
          </a:p>
        </p:txBody>
      </p:sp>
      <p:sp>
        <p:nvSpPr>
          <p:cNvPr id="7" name="Rectangle 6"/>
          <p:cNvSpPr/>
          <p:nvPr/>
        </p:nvSpPr>
        <p:spPr>
          <a:xfrm>
            <a:off x="2834640" y="3474720"/>
            <a:ext cx="2560320"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3547872"/>
            <a:ext cx="2377440" cy="411480"/>
          </a:xfrm>
          <a:prstGeom prst="rect">
            <a:avLst/>
          </a:prstGeom>
          <a:noFill/>
        </p:spPr>
        <p:txBody>
          <a:bodyPr wrap="square">
            <a:spAutoFit/>
          </a:bodyPr>
          <a:lstStyle/>
          <a:p>
            <a:pPr algn="ctr"/>
            <a:r>
              <a:rPr sz="1500" b="1" i="0">
                <a:solidFill>
                  <a:srgbClr val="FFFFFF"/>
                </a:solidFill>
                <a:latin typeface="Meiryo UI"/>
              </a:rPr>
              <a:t>💰 自費レンタル</a:t>
            </a:r>
          </a:p>
        </p:txBody>
      </p:sp>
      <p:sp>
        <p:nvSpPr>
          <p:cNvPr id="9" name="Rectangle 8"/>
          <p:cNvSpPr/>
          <p:nvPr/>
        </p:nvSpPr>
        <p:spPr>
          <a:xfrm>
            <a:off x="6766560" y="3474720"/>
            <a:ext cx="2560320" cy="502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3547872"/>
            <a:ext cx="2377440" cy="411480"/>
          </a:xfrm>
          <a:prstGeom prst="rect">
            <a:avLst/>
          </a:prstGeom>
          <a:noFill/>
        </p:spPr>
        <p:txBody>
          <a:bodyPr wrap="square">
            <a:spAutoFit/>
          </a:bodyPr>
          <a:lstStyle/>
          <a:p>
            <a:pPr algn="ctr"/>
            <a:r>
              <a:rPr sz="1500" b="1" i="0">
                <a:solidFill>
                  <a:srgbClr val="FFFFFF"/>
                </a:solidFill>
                <a:latin typeface="Meiryo UI"/>
              </a:rPr>
              <a:t>🛒 販売</a:t>
            </a:r>
          </a:p>
        </p:txBody>
      </p:sp>
      <p:sp>
        <p:nvSpPr>
          <p:cNvPr id="11" name="TextBox 10"/>
          <p:cNvSpPr txBox="1"/>
          <p:nvPr/>
        </p:nvSpPr>
        <p:spPr>
          <a:xfrm>
            <a:off x="1645920" y="4434840"/>
            <a:ext cx="8961120" cy="365760"/>
          </a:xfrm>
          <a:prstGeom prst="rect">
            <a:avLst/>
          </a:prstGeom>
          <a:noFill/>
        </p:spPr>
        <p:txBody>
          <a:bodyPr wrap="square">
            <a:spAutoFit/>
          </a:bodyPr>
          <a:lstStyle/>
          <a:p>
            <a:pPr algn="ctr"/>
            <a:r>
              <a:rPr sz="1200" b="0" i="0">
                <a:solidFill>
                  <a:srgbClr val="6B7280"/>
                </a:solidFill>
                <a:latin typeface="Meiryo UI"/>
              </a:rPr>
              <a:t>WelfareAssist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square">
            <a:spAutoFit/>
          </a:bodyPr>
          <a:lstStyle/>
          <a:p>
            <a:pPr algn="l"/>
            <a:r>
              <a:rPr sz="2600" b="1" i="0">
                <a:solidFill>
                  <a:srgbClr val="FFFFFF"/>
                </a:solidFill>
                <a:latin typeface="Meiryo UI"/>
              </a:rPr>
              <a:t>売上管理タブとは</a:t>
            </a:r>
          </a:p>
        </p:txBody>
      </p:sp>
      <p:sp>
        <p:nvSpPr>
          <p:cNvPr id="4" name="Rectangle 3"/>
          <p:cNvSpPr/>
          <p:nvPr/>
        </p:nvSpPr>
        <p:spPr>
          <a:xfrm>
            <a:off x="0" y="1005840"/>
            <a:ext cx="12188952" cy="58521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88720"/>
            <a:ext cx="5303520" cy="5303520"/>
          </a:xfrm>
          <a:prstGeom prst="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5120640" cy="411480"/>
          </a:xfrm>
          <a:prstGeom prst="rect">
            <a:avLst/>
          </a:prstGeom>
          <a:noFill/>
        </p:spPr>
        <p:txBody>
          <a:bodyPr wrap="square">
            <a:spAutoFit/>
          </a:bodyPr>
          <a:lstStyle/>
          <a:p>
            <a:pPr algn="l"/>
            <a:r>
              <a:rPr sz="1500" b="1" i="0">
                <a:solidFill>
                  <a:srgbClr val="7C3AED"/>
                </a:solidFill>
                <a:latin typeface="Meiryo UI"/>
              </a:rPr>
              <a:t>このタブでわかること</a:t>
            </a:r>
          </a:p>
        </p:txBody>
      </p:sp>
      <p:sp>
        <p:nvSpPr>
          <p:cNvPr id="7" name="TextBox 6"/>
          <p:cNvSpPr txBox="1"/>
          <p:nvPr/>
        </p:nvSpPr>
        <p:spPr>
          <a:xfrm>
            <a:off x="502920" y="1737360"/>
            <a:ext cx="411480" cy="411480"/>
          </a:xfrm>
          <a:prstGeom prst="rect">
            <a:avLst/>
          </a:prstGeom>
          <a:noFill/>
        </p:spPr>
        <p:txBody>
          <a:bodyPr wrap="square">
            <a:spAutoFit/>
          </a:bodyPr>
          <a:lstStyle/>
          <a:p>
            <a:pPr algn="l"/>
            <a:r>
              <a:rPr sz="2000" b="0" i="0">
                <a:solidFill>
                  <a:srgbClr val="1F2937"/>
                </a:solidFill>
                <a:latin typeface="Meiryo UI"/>
              </a:rPr>
              <a:t>💰</a:t>
            </a:r>
          </a:p>
        </p:txBody>
      </p:sp>
      <p:sp>
        <p:nvSpPr>
          <p:cNvPr id="8" name="TextBox 7"/>
          <p:cNvSpPr txBox="1"/>
          <p:nvPr/>
        </p:nvSpPr>
        <p:spPr>
          <a:xfrm>
            <a:off x="960120" y="1737360"/>
            <a:ext cx="4480560" cy="347472"/>
          </a:xfrm>
          <a:prstGeom prst="rect">
            <a:avLst/>
          </a:prstGeom>
          <a:noFill/>
        </p:spPr>
        <p:txBody>
          <a:bodyPr wrap="square">
            <a:spAutoFit/>
          </a:bodyPr>
          <a:lstStyle/>
          <a:p>
            <a:pPr algn="l"/>
            <a:r>
              <a:rPr sz="1400" b="1" i="0">
                <a:solidFill>
                  <a:srgbClr val="1F2937"/>
                </a:solidFill>
                <a:latin typeface="Meiryo UI"/>
              </a:rPr>
              <a:t>自費レンタル一覧（紫）</a:t>
            </a:r>
          </a:p>
        </p:txBody>
      </p:sp>
      <p:sp>
        <p:nvSpPr>
          <p:cNvPr id="9" name="TextBox 8"/>
          <p:cNvSpPr txBox="1"/>
          <p:nvPr/>
        </p:nvSpPr>
        <p:spPr>
          <a:xfrm>
            <a:off x="960120" y="2103120"/>
            <a:ext cx="4480560" cy="347472"/>
          </a:xfrm>
          <a:prstGeom prst="rect">
            <a:avLst/>
          </a:prstGeom>
          <a:noFill/>
        </p:spPr>
        <p:txBody>
          <a:bodyPr wrap="square">
            <a:spAutoFit/>
          </a:bodyPr>
          <a:lstStyle/>
          <a:p>
            <a:pPr algn="l"/>
            <a:r>
              <a:rPr sz="1100" b="0" i="0">
                <a:solidFill>
                  <a:srgbClr val="6B7280"/>
                </a:solidFill>
                <a:latin typeface="Meiryo UI"/>
              </a:rPr>
              <a:t>月額・税込金額・利用期間</a:t>
            </a:r>
          </a:p>
        </p:txBody>
      </p:sp>
      <p:sp>
        <p:nvSpPr>
          <p:cNvPr id="10" name="TextBox 9"/>
          <p:cNvSpPr txBox="1"/>
          <p:nvPr/>
        </p:nvSpPr>
        <p:spPr>
          <a:xfrm>
            <a:off x="502920" y="2834640"/>
            <a:ext cx="411480" cy="411480"/>
          </a:xfrm>
          <a:prstGeom prst="rect">
            <a:avLst/>
          </a:prstGeom>
          <a:noFill/>
        </p:spPr>
        <p:txBody>
          <a:bodyPr wrap="square">
            <a:spAutoFit/>
          </a:bodyPr>
          <a:lstStyle/>
          <a:p>
            <a:pPr algn="l"/>
            <a:r>
              <a:rPr sz="2000" b="0" i="0">
                <a:solidFill>
                  <a:srgbClr val="1F2937"/>
                </a:solidFill>
                <a:latin typeface="Meiryo UI"/>
              </a:rPr>
              <a:t>🛒</a:t>
            </a:r>
          </a:p>
        </p:txBody>
      </p:sp>
      <p:sp>
        <p:nvSpPr>
          <p:cNvPr id="11" name="TextBox 10"/>
          <p:cNvSpPr txBox="1"/>
          <p:nvPr/>
        </p:nvSpPr>
        <p:spPr>
          <a:xfrm>
            <a:off x="960120" y="2834640"/>
            <a:ext cx="4480560" cy="347472"/>
          </a:xfrm>
          <a:prstGeom prst="rect">
            <a:avLst/>
          </a:prstGeom>
          <a:noFill/>
        </p:spPr>
        <p:txBody>
          <a:bodyPr wrap="square">
            <a:spAutoFit/>
          </a:bodyPr>
          <a:lstStyle/>
          <a:p>
            <a:pPr algn="l"/>
            <a:r>
              <a:rPr sz="1400" b="1" i="0">
                <a:solidFill>
                  <a:srgbClr val="1F2937"/>
                </a:solidFill>
                <a:latin typeface="Meiryo UI"/>
              </a:rPr>
              <a:t>販売一覧（緑）</a:t>
            </a:r>
          </a:p>
        </p:txBody>
      </p:sp>
      <p:sp>
        <p:nvSpPr>
          <p:cNvPr id="12" name="TextBox 11"/>
          <p:cNvSpPr txBox="1"/>
          <p:nvPr/>
        </p:nvSpPr>
        <p:spPr>
          <a:xfrm>
            <a:off x="960120" y="3200400"/>
            <a:ext cx="4480560" cy="347472"/>
          </a:xfrm>
          <a:prstGeom prst="rect">
            <a:avLst/>
          </a:prstGeom>
          <a:noFill/>
        </p:spPr>
        <p:txBody>
          <a:bodyPr wrap="square">
            <a:spAutoFit/>
          </a:bodyPr>
          <a:lstStyle/>
          <a:p>
            <a:pPr algn="l"/>
            <a:r>
              <a:rPr sz="1100" b="0" i="0">
                <a:solidFill>
                  <a:srgbClr val="6B7280"/>
                </a:solidFill>
                <a:latin typeface="Meiryo UI"/>
              </a:rPr>
              <a:t>単価・送料・総計・受注/納品日</a:t>
            </a:r>
          </a:p>
        </p:txBody>
      </p:sp>
      <p:sp>
        <p:nvSpPr>
          <p:cNvPr id="13" name="TextBox 12"/>
          <p:cNvSpPr txBox="1"/>
          <p:nvPr/>
        </p:nvSpPr>
        <p:spPr>
          <a:xfrm>
            <a:off x="502920" y="3931920"/>
            <a:ext cx="411480" cy="411480"/>
          </a:xfrm>
          <a:prstGeom prst="rect">
            <a:avLst/>
          </a:prstGeom>
          <a:noFill/>
        </p:spPr>
        <p:txBody>
          <a:bodyPr wrap="square">
            <a:spAutoFit/>
          </a:bodyPr>
          <a:lstStyle/>
          <a:p>
            <a:pPr algn="l"/>
            <a:r>
              <a:rPr sz="2000" b="0" i="0">
                <a:solidFill>
                  <a:srgbClr val="1F2937"/>
                </a:solidFill>
                <a:latin typeface="Meiryo UI"/>
              </a:rPr>
              <a:t>📊</a:t>
            </a:r>
          </a:p>
        </p:txBody>
      </p:sp>
      <p:sp>
        <p:nvSpPr>
          <p:cNvPr id="14" name="TextBox 13"/>
          <p:cNvSpPr txBox="1"/>
          <p:nvPr/>
        </p:nvSpPr>
        <p:spPr>
          <a:xfrm>
            <a:off x="960120" y="3931920"/>
            <a:ext cx="4480560" cy="347472"/>
          </a:xfrm>
          <a:prstGeom prst="rect">
            <a:avLst/>
          </a:prstGeom>
          <a:noFill/>
        </p:spPr>
        <p:txBody>
          <a:bodyPr wrap="square">
            <a:spAutoFit/>
          </a:bodyPr>
          <a:lstStyle/>
          <a:p>
            <a:pPr algn="l"/>
            <a:r>
              <a:rPr sz="1400" b="1" i="0">
                <a:solidFill>
                  <a:srgbClr val="1F2937"/>
                </a:solidFill>
                <a:latin typeface="Meiryo UI"/>
              </a:rPr>
              <a:t>自動計算</a:t>
            </a:r>
          </a:p>
        </p:txBody>
      </p:sp>
      <p:sp>
        <p:nvSpPr>
          <p:cNvPr id="15" name="TextBox 14"/>
          <p:cNvSpPr txBox="1"/>
          <p:nvPr/>
        </p:nvSpPr>
        <p:spPr>
          <a:xfrm>
            <a:off x="960120" y="4297680"/>
            <a:ext cx="4480560" cy="347472"/>
          </a:xfrm>
          <a:prstGeom prst="rect">
            <a:avLst/>
          </a:prstGeom>
          <a:noFill/>
        </p:spPr>
        <p:txBody>
          <a:bodyPr wrap="square">
            <a:spAutoFit/>
          </a:bodyPr>
          <a:lstStyle/>
          <a:p>
            <a:pPr algn="l"/>
            <a:r>
              <a:rPr sz="1100" b="0" i="0">
                <a:solidFill>
                  <a:srgbClr val="6B7280"/>
                </a:solidFill>
                <a:latin typeface="Meiryo UI"/>
              </a:rPr>
              <a:t>税区分に応じて税込金額を表示</a:t>
            </a:r>
          </a:p>
        </p:txBody>
      </p:sp>
      <p:sp>
        <p:nvSpPr>
          <p:cNvPr id="16" name="TextBox 15"/>
          <p:cNvSpPr txBox="1"/>
          <p:nvPr/>
        </p:nvSpPr>
        <p:spPr>
          <a:xfrm>
            <a:off x="502920" y="5029200"/>
            <a:ext cx="411480" cy="411480"/>
          </a:xfrm>
          <a:prstGeom prst="rect">
            <a:avLst/>
          </a:prstGeom>
          <a:noFill/>
        </p:spPr>
        <p:txBody>
          <a:bodyPr wrap="square">
            <a:spAutoFit/>
          </a:bodyPr>
          <a:lstStyle/>
          <a:p>
            <a:pPr algn="l"/>
            <a:r>
              <a:rPr sz="2000" b="0" i="0">
                <a:solidFill>
                  <a:srgbClr val="1F2937"/>
                </a:solidFill>
                <a:latin typeface="Meiryo UI"/>
              </a:rPr>
              <a:t>🔗</a:t>
            </a:r>
          </a:p>
        </p:txBody>
      </p:sp>
      <p:sp>
        <p:nvSpPr>
          <p:cNvPr id="17" name="TextBox 16"/>
          <p:cNvSpPr txBox="1"/>
          <p:nvPr/>
        </p:nvSpPr>
        <p:spPr>
          <a:xfrm>
            <a:off x="960120" y="5029200"/>
            <a:ext cx="4480560" cy="347472"/>
          </a:xfrm>
          <a:prstGeom prst="rect">
            <a:avLst/>
          </a:prstGeom>
          <a:noFill/>
        </p:spPr>
        <p:txBody>
          <a:bodyPr wrap="square">
            <a:spAutoFit/>
          </a:bodyPr>
          <a:lstStyle/>
          <a:p>
            <a:pPr algn="l"/>
            <a:r>
              <a:rPr sz="1400" b="1" i="0">
                <a:solidFill>
                  <a:srgbClr val="1F2937"/>
                </a:solidFill>
                <a:latin typeface="Meiryo UI"/>
              </a:rPr>
              <a:t>連動データ</a:t>
            </a:r>
          </a:p>
        </p:txBody>
      </p:sp>
      <p:sp>
        <p:nvSpPr>
          <p:cNvPr id="18" name="TextBox 17"/>
          <p:cNvSpPr txBox="1"/>
          <p:nvPr/>
        </p:nvSpPr>
        <p:spPr>
          <a:xfrm>
            <a:off x="960120" y="5394960"/>
            <a:ext cx="4480560" cy="347472"/>
          </a:xfrm>
          <a:prstGeom prst="rect">
            <a:avLst/>
          </a:prstGeom>
          <a:noFill/>
        </p:spPr>
        <p:txBody>
          <a:bodyPr wrap="square">
            <a:spAutoFit/>
          </a:bodyPr>
          <a:lstStyle/>
          <a:p>
            <a:pPr algn="l"/>
            <a:r>
              <a:rPr sz="1100" b="0" i="0">
                <a:solidFill>
                  <a:srgbClr val="6B7280"/>
                </a:solidFill>
                <a:latin typeface="Meiryo UI"/>
              </a:rPr>
              <a:t>「福祉用具選定」タブと同じデータ</a:t>
            </a:r>
          </a:p>
        </p:txBody>
      </p:sp>
      <p:sp>
        <p:nvSpPr>
          <p:cNvPr id="19" name="Rectangle 18"/>
          <p:cNvSpPr/>
          <p:nvPr/>
        </p:nvSpPr>
        <p:spPr>
          <a:xfrm>
            <a:off x="5943600" y="1188720"/>
            <a:ext cx="5852160" cy="2331720"/>
          </a:xfrm>
          <a:prstGeom prst="rect">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1261872"/>
            <a:ext cx="5577840" cy="411480"/>
          </a:xfrm>
          <a:prstGeom prst="rect">
            <a:avLst/>
          </a:prstGeom>
          <a:noFill/>
        </p:spPr>
        <p:txBody>
          <a:bodyPr wrap="square">
            <a:spAutoFit/>
          </a:bodyPr>
          <a:lstStyle/>
          <a:p>
            <a:pPr algn="l"/>
            <a:r>
              <a:rPr sz="1400" b="1" i="0">
                <a:solidFill>
                  <a:srgbClr val="16A34A"/>
                </a:solidFill>
                <a:latin typeface="Meiryo UI"/>
              </a:rPr>
              <a:t>✅ このタブは「表示専用」</a:t>
            </a:r>
          </a:p>
        </p:txBody>
      </p:sp>
      <p:sp>
        <p:nvSpPr>
          <p:cNvPr id="21" name="TextBox 20"/>
          <p:cNvSpPr txBox="1"/>
          <p:nvPr/>
        </p:nvSpPr>
        <p:spPr>
          <a:xfrm>
            <a:off x="6080760" y="1719072"/>
            <a:ext cx="5577840" cy="1463040"/>
          </a:xfrm>
          <a:prstGeom prst="rect">
            <a:avLst/>
          </a:prstGeom>
          <a:noFill/>
        </p:spPr>
        <p:txBody>
          <a:bodyPr wrap="square">
            <a:spAutoFit/>
          </a:bodyPr>
          <a:lstStyle/>
          <a:p>
            <a:pPr algn="l"/>
            <a:r>
              <a:rPr sz="1200" b="0" i="0">
                <a:solidFill>
                  <a:srgbClr val="1F2937"/>
                </a:solidFill>
                <a:latin typeface="Meiryo UI"/>
              </a:rPr>
              <a:t>データの入力・編集は
「福祉用具選定」タブで行います。
このタブは確認・金額チェック用です。</a:t>
            </a:r>
          </a:p>
        </p:txBody>
      </p:sp>
      <p:sp>
        <p:nvSpPr>
          <p:cNvPr id="22" name="Rectangle 21"/>
          <p:cNvSpPr/>
          <p:nvPr/>
        </p:nvSpPr>
        <p:spPr>
          <a:xfrm>
            <a:off x="5943600" y="3703320"/>
            <a:ext cx="5852160" cy="2788920"/>
          </a:xfrm>
          <a:prstGeom prst="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80760" y="3776472"/>
            <a:ext cx="5577840" cy="411480"/>
          </a:xfrm>
          <a:prstGeom prst="rect">
            <a:avLst/>
          </a:prstGeom>
          <a:noFill/>
        </p:spPr>
        <p:txBody>
          <a:bodyPr wrap="square">
            <a:spAutoFit/>
          </a:bodyPr>
          <a:lstStyle/>
          <a:p>
            <a:pPr algn="l"/>
            <a:r>
              <a:rPr sz="1400" b="1" i="0">
                <a:solidFill>
                  <a:srgbClr val="7C3AED"/>
                </a:solidFill>
                <a:latin typeface="Meiryo UI"/>
              </a:rPr>
              <a:t>📂 タブの表示条件</a:t>
            </a:r>
          </a:p>
        </p:txBody>
      </p:sp>
      <p:sp>
        <p:nvSpPr>
          <p:cNvPr id="24" name="TextBox 23"/>
          <p:cNvSpPr txBox="1"/>
          <p:nvPr/>
        </p:nvSpPr>
        <p:spPr>
          <a:xfrm>
            <a:off x="6080760" y="4224528"/>
            <a:ext cx="5577840" cy="1920240"/>
          </a:xfrm>
          <a:prstGeom prst="rect">
            <a:avLst/>
          </a:prstGeom>
          <a:noFill/>
        </p:spPr>
        <p:txBody>
          <a:bodyPr wrap="square">
            <a:spAutoFit/>
          </a:bodyPr>
          <a:lstStyle/>
          <a:p>
            <a:pPr algn="l"/>
            <a:r>
              <a:rPr sz="1200" b="0" i="0">
                <a:solidFill>
                  <a:srgbClr val="1F2937"/>
                </a:solidFill>
                <a:latin typeface="Meiryo UI"/>
              </a:rPr>
              <a:t>• 自費レンタルまたは販売の
  データがある利用者のみ内容表示
• 両方ない場合は
  「データはありません」と表示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square">
            <a:spAutoFit/>
          </a:bodyPr>
          <a:lstStyle/>
          <a:p>
            <a:pPr algn="l"/>
            <a:r>
              <a:rPr sz="2600" b="1" i="0">
                <a:solidFill>
                  <a:srgbClr val="FFFFFF"/>
                </a:solidFill>
                <a:latin typeface="Meiryo UI"/>
              </a:rPr>
              <a:t>タブの画面構成</a:t>
            </a:r>
          </a:p>
        </p:txBody>
      </p:sp>
      <p:sp>
        <p:nvSpPr>
          <p:cNvPr id="4" name="Rectangle 3"/>
          <p:cNvSpPr/>
          <p:nvPr/>
        </p:nvSpPr>
        <p:spPr>
          <a:xfrm>
            <a:off x="0" y="1005840"/>
            <a:ext cx="12188952" cy="58521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143000"/>
            <a:ext cx="11521440" cy="5440680"/>
          </a:xfrm>
          <a:prstGeom prst="rect">
            <a:avLst/>
          </a:prstGeom>
          <a:solidFill>
            <a:srgbClr val="FFFFFF"/>
          </a:solidFill>
          <a:ln w="1270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43000"/>
            <a:ext cx="11521440" cy="4572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88720"/>
            <a:ext cx="1554480" cy="38404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 y="1207008"/>
            <a:ext cx="1508760" cy="347472"/>
          </a:xfrm>
          <a:prstGeom prst="rect">
            <a:avLst/>
          </a:prstGeom>
          <a:noFill/>
        </p:spPr>
        <p:txBody>
          <a:bodyPr wrap="square">
            <a:spAutoFit/>
          </a:bodyPr>
          <a:lstStyle/>
          <a:p>
            <a:pPr algn="ctr"/>
            <a:r>
              <a:rPr sz="700" b="0" i="0">
                <a:solidFill>
                  <a:srgbClr val="6B7280"/>
                </a:solidFill>
                <a:latin typeface="Meiryo UI"/>
              </a:rPr>
              <a:t>基本情報</a:t>
            </a:r>
          </a:p>
        </p:txBody>
      </p:sp>
      <p:sp>
        <p:nvSpPr>
          <p:cNvPr id="9" name="Rectangle 8"/>
          <p:cNvSpPr/>
          <p:nvPr/>
        </p:nvSpPr>
        <p:spPr>
          <a:xfrm>
            <a:off x="2075688" y="1188720"/>
            <a:ext cx="1554480" cy="38404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03120" y="1207008"/>
            <a:ext cx="1508760" cy="347472"/>
          </a:xfrm>
          <a:prstGeom prst="rect">
            <a:avLst/>
          </a:prstGeom>
          <a:noFill/>
        </p:spPr>
        <p:txBody>
          <a:bodyPr wrap="square">
            <a:spAutoFit/>
          </a:bodyPr>
          <a:lstStyle/>
          <a:p>
            <a:pPr algn="ctr"/>
            <a:r>
              <a:rPr sz="700" b="0" i="0">
                <a:solidFill>
                  <a:srgbClr val="6B7280"/>
                </a:solidFill>
                <a:latin typeface="Meiryo UI"/>
              </a:rPr>
              <a:t>病歴・状態</a:t>
            </a:r>
          </a:p>
        </p:txBody>
      </p:sp>
      <p:sp>
        <p:nvSpPr>
          <p:cNvPr id="11" name="Rectangle 10"/>
          <p:cNvSpPr/>
          <p:nvPr/>
        </p:nvSpPr>
        <p:spPr>
          <a:xfrm>
            <a:off x="3694176" y="1188720"/>
            <a:ext cx="1554480" cy="38404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1207008"/>
            <a:ext cx="1508760" cy="347472"/>
          </a:xfrm>
          <a:prstGeom prst="rect">
            <a:avLst/>
          </a:prstGeom>
          <a:noFill/>
        </p:spPr>
        <p:txBody>
          <a:bodyPr wrap="square">
            <a:spAutoFit/>
          </a:bodyPr>
          <a:lstStyle/>
          <a:p>
            <a:pPr algn="ctr"/>
            <a:r>
              <a:rPr sz="700" b="0" i="0">
                <a:solidFill>
                  <a:srgbClr val="6B7280"/>
                </a:solidFill>
                <a:latin typeface="Meiryo UI"/>
              </a:rPr>
              <a:t>議事録</a:t>
            </a:r>
          </a:p>
        </p:txBody>
      </p:sp>
      <p:sp>
        <p:nvSpPr>
          <p:cNvPr id="13" name="Rectangle 12"/>
          <p:cNvSpPr/>
          <p:nvPr/>
        </p:nvSpPr>
        <p:spPr>
          <a:xfrm>
            <a:off x="5312664" y="1188720"/>
            <a:ext cx="1554480" cy="38404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0096" y="1207008"/>
            <a:ext cx="1508760" cy="347472"/>
          </a:xfrm>
          <a:prstGeom prst="rect">
            <a:avLst/>
          </a:prstGeom>
          <a:noFill/>
        </p:spPr>
        <p:txBody>
          <a:bodyPr wrap="square">
            <a:spAutoFit/>
          </a:bodyPr>
          <a:lstStyle/>
          <a:p>
            <a:pPr algn="ctr"/>
            <a:r>
              <a:rPr sz="700" b="0" i="0">
                <a:solidFill>
                  <a:srgbClr val="6B7280"/>
                </a:solidFill>
                <a:latin typeface="Meiryo UI"/>
              </a:rPr>
              <a:t>変更情報</a:t>
            </a:r>
          </a:p>
        </p:txBody>
      </p:sp>
      <p:sp>
        <p:nvSpPr>
          <p:cNvPr id="15" name="Rectangle 14"/>
          <p:cNvSpPr/>
          <p:nvPr/>
        </p:nvSpPr>
        <p:spPr>
          <a:xfrm>
            <a:off x="6931152" y="1188720"/>
            <a:ext cx="1554480" cy="38404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58584" y="1207008"/>
            <a:ext cx="1508760" cy="347472"/>
          </a:xfrm>
          <a:prstGeom prst="rect">
            <a:avLst/>
          </a:prstGeom>
          <a:noFill/>
        </p:spPr>
        <p:txBody>
          <a:bodyPr wrap="square">
            <a:spAutoFit/>
          </a:bodyPr>
          <a:lstStyle/>
          <a:p>
            <a:pPr algn="ctr"/>
            <a:r>
              <a:rPr sz="700" b="0" i="0">
                <a:solidFill>
                  <a:srgbClr val="6B7280"/>
                </a:solidFill>
                <a:latin typeface="Meiryo UI"/>
              </a:rPr>
              <a:t>福祉用具選定</a:t>
            </a:r>
          </a:p>
        </p:txBody>
      </p:sp>
      <p:sp>
        <p:nvSpPr>
          <p:cNvPr id="17" name="Rectangle 16"/>
          <p:cNvSpPr/>
          <p:nvPr/>
        </p:nvSpPr>
        <p:spPr>
          <a:xfrm>
            <a:off x="8549640" y="1188720"/>
            <a:ext cx="155448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77072" y="1207008"/>
            <a:ext cx="1508760" cy="347472"/>
          </a:xfrm>
          <a:prstGeom prst="rect">
            <a:avLst/>
          </a:prstGeom>
          <a:noFill/>
        </p:spPr>
        <p:txBody>
          <a:bodyPr wrap="square">
            <a:spAutoFit/>
          </a:bodyPr>
          <a:lstStyle/>
          <a:p>
            <a:pPr algn="ctr"/>
            <a:r>
              <a:rPr sz="700" b="1" i="0">
                <a:solidFill>
                  <a:srgbClr val="7C3AED"/>
                </a:solidFill>
                <a:latin typeface="Meiryo UI"/>
              </a:rPr>
              <a:t>売上管理（自費・販売）</a:t>
            </a:r>
          </a:p>
        </p:txBody>
      </p:sp>
      <p:sp>
        <p:nvSpPr>
          <p:cNvPr id="19" name="Rectangle 18"/>
          <p:cNvSpPr/>
          <p:nvPr/>
        </p:nvSpPr>
        <p:spPr>
          <a:xfrm>
            <a:off x="10168128" y="1188720"/>
            <a:ext cx="1554480" cy="38404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1207008"/>
            <a:ext cx="1508760" cy="347472"/>
          </a:xfrm>
          <a:prstGeom prst="rect">
            <a:avLst/>
          </a:prstGeom>
          <a:noFill/>
        </p:spPr>
        <p:txBody>
          <a:bodyPr wrap="square">
            <a:spAutoFit/>
          </a:bodyPr>
          <a:lstStyle/>
          <a:p>
            <a:pPr algn="ctr"/>
            <a:r>
              <a:rPr sz="700" b="0" i="0">
                <a:solidFill>
                  <a:srgbClr val="6B7280"/>
                </a:solidFill>
                <a:latin typeface="Meiryo UI"/>
              </a:rPr>
              <a:t>書類管理</a:t>
            </a:r>
          </a:p>
        </p:txBody>
      </p:sp>
      <p:sp>
        <p:nvSpPr>
          <p:cNvPr id="21" name="Rectangle 20"/>
          <p:cNvSpPr/>
          <p:nvPr/>
        </p:nvSpPr>
        <p:spPr>
          <a:xfrm>
            <a:off x="411480" y="1691640"/>
            <a:ext cx="11338560" cy="3840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1737360"/>
            <a:ext cx="4572000" cy="320040"/>
          </a:xfrm>
          <a:prstGeom prst="rect">
            <a:avLst/>
          </a:prstGeom>
          <a:noFill/>
        </p:spPr>
        <p:txBody>
          <a:bodyPr wrap="square">
            <a:spAutoFit/>
          </a:bodyPr>
          <a:lstStyle/>
          <a:p>
            <a:pPr algn="l"/>
            <a:r>
              <a:rPr sz="1100" b="1" i="0">
                <a:solidFill>
                  <a:srgbClr val="FFFFFF"/>
                </a:solidFill>
                <a:latin typeface="Meiryo UI"/>
              </a:rPr>
              <a:t>💰 自費レンタル  [件数バッジ]</a:t>
            </a:r>
          </a:p>
        </p:txBody>
      </p:sp>
      <p:sp>
        <p:nvSpPr>
          <p:cNvPr id="23" name="Rectangle 22"/>
          <p:cNvSpPr/>
          <p:nvPr/>
        </p:nvSpPr>
        <p:spPr>
          <a:xfrm>
            <a:off x="411480" y="2075688"/>
            <a:ext cx="11338560" cy="320040"/>
          </a:xfrm>
          <a:prstGeom prst="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103120"/>
            <a:ext cx="1619794" cy="274320"/>
          </a:xfrm>
          <a:prstGeom prst="rect">
            <a:avLst/>
          </a:prstGeom>
          <a:noFill/>
        </p:spPr>
        <p:txBody>
          <a:bodyPr wrap="square">
            <a:spAutoFit/>
          </a:bodyPr>
          <a:lstStyle/>
          <a:p>
            <a:pPr algn="ctr"/>
            <a:r>
              <a:rPr sz="800" b="1" i="0">
                <a:solidFill>
                  <a:srgbClr val="7C3AED"/>
                </a:solidFill>
                <a:latin typeface="Meiryo UI"/>
              </a:rPr>
              <a:t>商品名</a:t>
            </a:r>
          </a:p>
        </p:txBody>
      </p:sp>
      <p:sp>
        <p:nvSpPr>
          <p:cNvPr id="25" name="TextBox 24"/>
          <p:cNvSpPr txBox="1"/>
          <p:nvPr/>
        </p:nvSpPr>
        <p:spPr>
          <a:xfrm>
            <a:off x="2031274" y="2103120"/>
            <a:ext cx="1619794" cy="274320"/>
          </a:xfrm>
          <a:prstGeom prst="rect">
            <a:avLst/>
          </a:prstGeom>
          <a:noFill/>
        </p:spPr>
        <p:txBody>
          <a:bodyPr wrap="square">
            <a:spAutoFit/>
          </a:bodyPr>
          <a:lstStyle/>
          <a:p>
            <a:pPr algn="ctr"/>
            <a:r>
              <a:rPr sz="800" b="1" i="0">
                <a:solidFill>
                  <a:srgbClr val="7C3AED"/>
                </a:solidFill>
                <a:latin typeface="Meiryo UI"/>
              </a:rPr>
              <a:t>数量</a:t>
            </a:r>
          </a:p>
        </p:txBody>
      </p:sp>
      <p:sp>
        <p:nvSpPr>
          <p:cNvPr id="26" name="TextBox 25"/>
          <p:cNvSpPr txBox="1"/>
          <p:nvPr/>
        </p:nvSpPr>
        <p:spPr>
          <a:xfrm>
            <a:off x="3651068" y="2103120"/>
            <a:ext cx="1619794" cy="274320"/>
          </a:xfrm>
          <a:prstGeom prst="rect">
            <a:avLst/>
          </a:prstGeom>
          <a:noFill/>
        </p:spPr>
        <p:txBody>
          <a:bodyPr wrap="square">
            <a:spAutoFit/>
          </a:bodyPr>
          <a:lstStyle/>
          <a:p>
            <a:pPr algn="ctr"/>
            <a:r>
              <a:rPr sz="800" b="1" i="0">
                <a:solidFill>
                  <a:srgbClr val="7C3AED"/>
                </a:solidFill>
                <a:latin typeface="Meiryo UI"/>
              </a:rPr>
              <a:t>月額（税抜）</a:t>
            </a:r>
          </a:p>
        </p:txBody>
      </p:sp>
      <p:sp>
        <p:nvSpPr>
          <p:cNvPr id="27" name="TextBox 26"/>
          <p:cNvSpPr txBox="1"/>
          <p:nvPr/>
        </p:nvSpPr>
        <p:spPr>
          <a:xfrm>
            <a:off x="5270862" y="2103120"/>
            <a:ext cx="1619794" cy="274320"/>
          </a:xfrm>
          <a:prstGeom prst="rect">
            <a:avLst/>
          </a:prstGeom>
          <a:noFill/>
        </p:spPr>
        <p:txBody>
          <a:bodyPr wrap="square">
            <a:spAutoFit/>
          </a:bodyPr>
          <a:lstStyle/>
          <a:p>
            <a:pPr algn="ctr"/>
            <a:r>
              <a:rPr sz="800" b="1" i="0">
                <a:solidFill>
                  <a:srgbClr val="7C3AED"/>
                </a:solidFill>
                <a:latin typeface="Meiryo UI"/>
              </a:rPr>
              <a:t>税区分</a:t>
            </a:r>
          </a:p>
        </p:txBody>
      </p:sp>
      <p:sp>
        <p:nvSpPr>
          <p:cNvPr id="28" name="TextBox 27"/>
          <p:cNvSpPr txBox="1"/>
          <p:nvPr/>
        </p:nvSpPr>
        <p:spPr>
          <a:xfrm>
            <a:off x="6890657" y="2103120"/>
            <a:ext cx="1619794" cy="274320"/>
          </a:xfrm>
          <a:prstGeom prst="rect">
            <a:avLst/>
          </a:prstGeom>
          <a:noFill/>
        </p:spPr>
        <p:txBody>
          <a:bodyPr wrap="square">
            <a:spAutoFit/>
          </a:bodyPr>
          <a:lstStyle/>
          <a:p>
            <a:pPr algn="ctr"/>
            <a:r>
              <a:rPr sz="800" b="1" i="0">
                <a:solidFill>
                  <a:srgbClr val="7C3AED"/>
                </a:solidFill>
                <a:latin typeface="Meiryo UI"/>
              </a:rPr>
              <a:t>税込金額</a:t>
            </a:r>
          </a:p>
        </p:txBody>
      </p:sp>
      <p:sp>
        <p:nvSpPr>
          <p:cNvPr id="29" name="TextBox 28"/>
          <p:cNvSpPr txBox="1"/>
          <p:nvPr/>
        </p:nvSpPr>
        <p:spPr>
          <a:xfrm>
            <a:off x="8510451" y="2103120"/>
            <a:ext cx="1619794" cy="274320"/>
          </a:xfrm>
          <a:prstGeom prst="rect">
            <a:avLst/>
          </a:prstGeom>
          <a:noFill/>
        </p:spPr>
        <p:txBody>
          <a:bodyPr wrap="square">
            <a:spAutoFit/>
          </a:bodyPr>
          <a:lstStyle/>
          <a:p>
            <a:pPr algn="ctr"/>
            <a:r>
              <a:rPr sz="800" b="1" i="0">
                <a:solidFill>
                  <a:srgbClr val="7C3AED"/>
                </a:solidFill>
                <a:latin typeface="Meiryo UI"/>
              </a:rPr>
              <a:t>利用開始日</a:t>
            </a:r>
          </a:p>
        </p:txBody>
      </p:sp>
      <p:sp>
        <p:nvSpPr>
          <p:cNvPr id="30" name="TextBox 29"/>
          <p:cNvSpPr txBox="1"/>
          <p:nvPr/>
        </p:nvSpPr>
        <p:spPr>
          <a:xfrm>
            <a:off x="10130245" y="2103120"/>
            <a:ext cx="1619794" cy="274320"/>
          </a:xfrm>
          <a:prstGeom prst="rect">
            <a:avLst/>
          </a:prstGeom>
          <a:noFill/>
        </p:spPr>
        <p:txBody>
          <a:bodyPr wrap="square">
            <a:spAutoFit/>
          </a:bodyPr>
          <a:lstStyle/>
          <a:p>
            <a:pPr algn="ctr"/>
            <a:r>
              <a:rPr sz="800" b="1" i="0">
                <a:solidFill>
                  <a:srgbClr val="7C3AED"/>
                </a:solidFill>
                <a:latin typeface="Meiryo UI"/>
              </a:rPr>
              <a:t>利用終了日</a:t>
            </a:r>
          </a:p>
        </p:txBody>
      </p:sp>
      <p:sp>
        <p:nvSpPr>
          <p:cNvPr id="31" name="Rectangle 30"/>
          <p:cNvSpPr/>
          <p:nvPr/>
        </p:nvSpPr>
        <p:spPr>
          <a:xfrm>
            <a:off x="411480" y="2395728"/>
            <a:ext cx="11338560" cy="2743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2414016"/>
            <a:ext cx="1619794" cy="237744"/>
          </a:xfrm>
          <a:prstGeom prst="rect">
            <a:avLst/>
          </a:prstGeom>
          <a:noFill/>
        </p:spPr>
        <p:txBody>
          <a:bodyPr wrap="square">
            <a:spAutoFit/>
          </a:bodyPr>
          <a:lstStyle/>
          <a:p>
            <a:pPr algn="ctr"/>
            <a:r>
              <a:rPr sz="800" b="0" i="0">
                <a:solidFill>
                  <a:srgbClr val="1F2937"/>
                </a:solidFill>
                <a:latin typeface="Meiryo UI"/>
              </a:rPr>
              <a:t>スライディングシート</a:t>
            </a:r>
          </a:p>
        </p:txBody>
      </p:sp>
      <p:sp>
        <p:nvSpPr>
          <p:cNvPr id="33" name="TextBox 32"/>
          <p:cNvSpPr txBox="1"/>
          <p:nvPr/>
        </p:nvSpPr>
        <p:spPr>
          <a:xfrm>
            <a:off x="2031274" y="2414016"/>
            <a:ext cx="1619794" cy="237744"/>
          </a:xfrm>
          <a:prstGeom prst="rect">
            <a:avLst/>
          </a:prstGeom>
          <a:noFill/>
        </p:spPr>
        <p:txBody>
          <a:bodyPr wrap="square">
            <a:spAutoFit/>
          </a:bodyPr>
          <a:lstStyle/>
          <a:p>
            <a:pPr algn="ctr"/>
            <a:r>
              <a:rPr sz="800" b="0" i="0">
                <a:solidFill>
                  <a:srgbClr val="1F2937"/>
                </a:solidFill>
                <a:latin typeface="Meiryo UI"/>
              </a:rPr>
              <a:t>1</a:t>
            </a:r>
          </a:p>
        </p:txBody>
      </p:sp>
      <p:sp>
        <p:nvSpPr>
          <p:cNvPr id="34" name="TextBox 33"/>
          <p:cNvSpPr txBox="1"/>
          <p:nvPr/>
        </p:nvSpPr>
        <p:spPr>
          <a:xfrm>
            <a:off x="3651068" y="2414016"/>
            <a:ext cx="1619794" cy="237744"/>
          </a:xfrm>
          <a:prstGeom prst="rect">
            <a:avLst/>
          </a:prstGeom>
          <a:noFill/>
        </p:spPr>
        <p:txBody>
          <a:bodyPr wrap="square">
            <a:spAutoFit/>
          </a:bodyPr>
          <a:lstStyle/>
          <a:p>
            <a:pPr algn="ctr"/>
            <a:r>
              <a:rPr sz="800" b="0" i="0">
                <a:solidFill>
                  <a:srgbClr val="1F2937"/>
                </a:solidFill>
                <a:latin typeface="Meiryo UI"/>
              </a:rPr>
              <a:t>¥3,000</a:t>
            </a:r>
          </a:p>
        </p:txBody>
      </p:sp>
      <p:sp>
        <p:nvSpPr>
          <p:cNvPr id="35" name="TextBox 34"/>
          <p:cNvSpPr txBox="1"/>
          <p:nvPr/>
        </p:nvSpPr>
        <p:spPr>
          <a:xfrm>
            <a:off x="5270862" y="2414016"/>
            <a:ext cx="1619794" cy="237744"/>
          </a:xfrm>
          <a:prstGeom prst="rect">
            <a:avLst/>
          </a:prstGeom>
          <a:noFill/>
        </p:spPr>
        <p:txBody>
          <a:bodyPr wrap="square">
            <a:spAutoFit/>
          </a:bodyPr>
          <a:lstStyle/>
          <a:p>
            <a:pPr algn="ctr"/>
            <a:r>
              <a:rPr sz="800" b="0" i="0">
                <a:solidFill>
                  <a:srgbClr val="1F2937"/>
                </a:solidFill>
                <a:latin typeface="Meiryo UI"/>
              </a:rPr>
              <a:t>10％</a:t>
            </a:r>
          </a:p>
        </p:txBody>
      </p:sp>
      <p:sp>
        <p:nvSpPr>
          <p:cNvPr id="36" name="TextBox 35"/>
          <p:cNvSpPr txBox="1"/>
          <p:nvPr/>
        </p:nvSpPr>
        <p:spPr>
          <a:xfrm>
            <a:off x="6890657" y="2414016"/>
            <a:ext cx="1619794" cy="237744"/>
          </a:xfrm>
          <a:prstGeom prst="rect">
            <a:avLst/>
          </a:prstGeom>
          <a:noFill/>
        </p:spPr>
        <p:txBody>
          <a:bodyPr wrap="square">
            <a:spAutoFit/>
          </a:bodyPr>
          <a:lstStyle/>
          <a:p>
            <a:pPr algn="ctr"/>
            <a:r>
              <a:rPr sz="800" b="1" i="0">
                <a:solidFill>
                  <a:srgbClr val="7C3AED"/>
                </a:solidFill>
                <a:latin typeface="Meiryo UI"/>
              </a:rPr>
              <a:t>¥3,300</a:t>
            </a:r>
          </a:p>
        </p:txBody>
      </p:sp>
      <p:sp>
        <p:nvSpPr>
          <p:cNvPr id="37" name="TextBox 36"/>
          <p:cNvSpPr txBox="1"/>
          <p:nvPr/>
        </p:nvSpPr>
        <p:spPr>
          <a:xfrm>
            <a:off x="8510451" y="2414016"/>
            <a:ext cx="1619794" cy="237744"/>
          </a:xfrm>
          <a:prstGeom prst="rect">
            <a:avLst/>
          </a:prstGeom>
          <a:noFill/>
        </p:spPr>
        <p:txBody>
          <a:bodyPr wrap="square">
            <a:spAutoFit/>
          </a:bodyPr>
          <a:lstStyle/>
          <a:p>
            <a:pPr algn="ctr"/>
            <a:r>
              <a:rPr sz="800" b="0" i="0">
                <a:solidFill>
                  <a:srgbClr val="1F2937"/>
                </a:solidFill>
                <a:latin typeface="Meiryo UI"/>
              </a:rPr>
              <a:t>2025-04-01</a:t>
            </a:r>
          </a:p>
        </p:txBody>
      </p:sp>
      <p:sp>
        <p:nvSpPr>
          <p:cNvPr id="38" name="TextBox 37"/>
          <p:cNvSpPr txBox="1"/>
          <p:nvPr/>
        </p:nvSpPr>
        <p:spPr>
          <a:xfrm>
            <a:off x="10130245" y="2414016"/>
            <a:ext cx="1619794" cy="237744"/>
          </a:xfrm>
          <a:prstGeom prst="rect">
            <a:avLst/>
          </a:prstGeom>
          <a:noFill/>
        </p:spPr>
        <p:txBody>
          <a:bodyPr wrap="square">
            <a:spAutoFit/>
          </a:bodyPr>
          <a:lstStyle/>
          <a:p>
            <a:pPr algn="ctr"/>
            <a:r>
              <a:rPr sz="800" b="0" i="0">
                <a:solidFill>
                  <a:srgbClr val="1F2937"/>
                </a:solidFill>
                <a:latin typeface="Meiryo UI"/>
              </a:rPr>
              <a:t/>
            </a:r>
          </a:p>
        </p:txBody>
      </p:sp>
      <p:sp>
        <p:nvSpPr>
          <p:cNvPr id="39" name="Rectangle 38"/>
          <p:cNvSpPr/>
          <p:nvPr/>
        </p:nvSpPr>
        <p:spPr>
          <a:xfrm>
            <a:off x="411480" y="2788920"/>
            <a:ext cx="11338560" cy="3840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2834640"/>
            <a:ext cx="4572000" cy="320040"/>
          </a:xfrm>
          <a:prstGeom prst="rect">
            <a:avLst/>
          </a:prstGeom>
          <a:noFill/>
        </p:spPr>
        <p:txBody>
          <a:bodyPr wrap="square">
            <a:spAutoFit/>
          </a:bodyPr>
          <a:lstStyle/>
          <a:p>
            <a:pPr algn="l"/>
            <a:r>
              <a:rPr sz="1100" b="1" i="0">
                <a:solidFill>
                  <a:srgbClr val="FFFFFF"/>
                </a:solidFill>
                <a:latin typeface="Meiryo UI"/>
              </a:rPr>
              <a:t>🛒 販売  [件数バッジ]</a:t>
            </a:r>
          </a:p>
        </p:txBody>
      </p:sp>
      <p:sp>
        <p:nvSpPr>
          <p:cNvPr id="41" name="Rectangle 40"/>
          <p:cNvSpPr/>
          <p:nvPr/>
        </p:nvSpPr>
        <p:spPr>
          <a:xfrm>
            <a:off x="411480" y="3172968"/>
            <a:ext cx="11338560" cy="320040"/>
          </a:xfrm>
          <a:prstGeom prst="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3200400"/>
            <a:ext cx="944880" cy="256032"/>
          </a:xfrm>
          <a:prstGeom prst="rect">
            <a:avLst/>
          </a:prstGeom>
          <a:noFill/>
        </p:spPr>
        <p:txBody>
          <a:bodyPr wrap="square">
            <a:spAutoFit/>
          </a:bodyPr>
          <a:lstStyle/>
          <a:p>
            <a:pPr algn="ctr"/>
            <a:r>
              <a:rPr sz="700" b="1" i="0">
                <a:solidFill>
                  <a:srgbClr val="16A34A"/>
                </a:solidFill>
                <a:latin typeface="Meiryo UI"/>
              </a:rPr>
              <a:t>商品名</a:t>
            </a:r>
          </a:p>
        </p:txBody>
      </p:sp>
      <p:sp>
        <p:nvSpPr>
          <p:cNvPr id="43" name="TextBox 42"/>
          <p:cNvSpPr txBox="1"/>
          <p:nvPr/>
        </p:nvSpPr>
        <p:spPr>
          <a:xfrm>
            <a:off x="1356360" y="3200400"/>
            <a:ext cx="944880" cy="256032"/>
          </a:xfrm>
          <a:prstGeom prst="rect">
            <a:avLst/>
          </a:prstGeom>
          <a:noFill/>
        </p:spPr>
        <p:txBody>
          <a:bodyPr wrap="square">
            <a:spAutoFit/>
          </a:bodyPr>
          <a:lstStyle/>
          <a:p>
            <a:pPr algn="ctr"/>
            <a:r>
              <a:rPr sz="700" b="1" i="0">
                <a:solidFill>
                  <a:srgbClr val="16A34A"/>
                </a:solidFill>
                <a:latin typeface="Meiryo UI"/>
              </a:rPr>
              <a:t>数量</a:t>
            </a:r>
          </a:p>
        </p:txBody>
      </p:sp>
      <p:sp>
        <p:nvSpPr>
          <p:cNvPr id="44" name="TextBox 43"/>
          <p:cNvSpPr txBox="1"/>
          <p:nvPr/>
        </p:nvSpPr>
        <p:spPr>
          <a:xfrm>
            <a:off x="2301240" y="3200400"/>
            <a:ext cx="944880" cy="256032"/>
          </a:xfrm>
          <a:prstGeom prst="rect">
            <a:avLst/>
          </a:prstGeom>
          <a:noFill/>
        </p:spPr>
        <p:txBody>
          <a:bodyPr wrap="square">
            <a:spAutoFit/>
          </a:bodyPr>
          <a:lstStyle/>
          <a:p>
            <a:pPr algn="ctr"/>
            <a:r>
              <a:rPr sz="700" b="1" i="0">
                <a:solidFill>
                  <a:srgbClr val="16A34A"/>
                </a:solidFill>
                <a:latin typeface="Meiryo UI"/>
              </a:rPr>
              <a:t>単価（税抜）</a:t>
            </a:r>
          </a:p>
        </p:txBody>
      </p:sp>
      <p:sp>
        <p:nvSpPr>
          <p:cNvPr id="45" name="TextBox 44"/>
          <p:cNvSpPr txBox="1"/>
          <p:nvPr/>
        </p:nvSpPr>
        <p:spPr>
          <a:xfrm>
            <a:off x="3246120" y="3200400"/>
            <a:ext cx="944880" cy="256032"/>
          </a:xfrm>
          <a:prstGeom prst="rect">
            <a:avLst/>
          </a:prstGeom>
          <a:noFill/>
        </p:spPr>
        <p:txBody>
          <a:bodyPr wrap="square">
            <a:spAutoFit/>
          </a:bodyPr>
          <a:lstStyle/>
          <a:p>
            <a:pPr algn="ctr"/>
            <a:r>
              <a:rPr sz="700" b="1" i="0">
                <a:solidFill>
                  <a:srgbClr val="16A34A"/>
                </a:solidFill>
                <a:latin typeface="Meiryo UI"/>
              </a:rPr>
              <a:t>税区分</a:t>
            </a:r>
          </a:p>
        </p:txBody>
      </p:sp>
      <p:sp>
        <p:nvSpPr>
          <p:cNvPr id="46" name="TextBox 45"/>
          <p:cNvSpPr txBox="1"/>
          <p:nvPr/>
        </p:nvSpPr>
        <p:spPr>
          <a:xfrm>
            <a:off x="4191000" y="3200400"/>
            <a:ext cx="944880" cy="256032"/>
          </a:xfrm>
          <a:prstGeom prst="rect">
            <a:avLst/>
          </a:prstGeom>
          <a:noFill/>
        </p:spPr>
        <p:txBody>
          <a:bodyPr wrap="square">
            <a:spAutoFit/>
          </a:bodyPr>
          <a:lstStyle/>
          <a:p>
            <a:pPr algn="ctr"/>
            <a:r>
              <a:rPr sz="700" b="1" i="0">
                <a:solidFill>
                  <a:srgbClr val="16A34A"/>
                </a:solidFill>
                <a:latin typeface="Meiryo UI"/>
              </a:rPr>
              <a:t>税込金額</a:t>
            </a:r>
          </a:p>
        </p:txBody>
      </p:sp>
      <p:sp>
        <p:nvSpPr>
          <p:cNvPr id="47" name="TextBox 46"/>
          <p:cNvSpPr txBox="1"/>
          <p:nvPr/>
        </p:nvSpPr>
        <p:spPr>
          <a:xfrm>
            <a:off x="5135880" y="3200400"/>
            <a:ext cx="944880" cy="256032"/>
          </a:xfrm>
          <a:prstGeom prst="rect">
            <a:avLst/>
          </a:prstGeom>
          <a:noFill/>
        </p:spPr>
        <p:txBody>
          <a:bodyPr wrap="square">
            <a:spAutoFit/>
          </a:bodyPr>
          <a:lstStyle/>
          <a:p>
            <a:pPr algn="ctr"/>
            <a:r>
              <a:rPr sz="700" b="1" i="0">
                <a:solidFill>
                  <a:srgbClr val="16A34A"/>
                </a:solidFill>
                <a:latin typeface="Meiryo UI"/>
              </a:rPr>
              <a:t>送料（税抜）</a:t>
            </a:r>
          </a:p>
        </p:txBody>
      </p:sp>
      <p:sp>
        <p:nvSpPr>
          <p:cNvPr id="48" name="TextBox 47"/>
          <p:cNvSpPr txBox="1"/>
          <p:nvPr/>
        </p:nvSpPr>
        <p:spPr>
          <a:xfrm>
            <a:off x="6080760" y="3200400"/>
            <a:ext cx="944880" cy="256032"/>
          </a:xfrm>
          <a:prstGeom prst="rect">
            <a:avLst/>
          </a:prstGeom>
          <a:noFill/>
        </p:spPr>
        <p:txBody>
          <a:bodyPr wrap="square">
            <a:spAutoFit/>
          </a:bodyPr>
          <a:lstStyle/>
          <a:p>
            <a:pPr algn="ctr"/>
            <a:r>
              <a:rPr sz="700" b="1" i="0">
                <a:solidFill>
                  <a:srgbClr val="16A34A"/>
                </a:solidFill>
                <a:latin typeface="Meiryo UI"/>
              </a:rPr>
              <a:t>送料消費税</a:t>
            </a:r>
          </a:p>
        </p:txBody>
      </p:sp>
      <p:sp>
        <p:nvSpPr>
          <p:cNvPr id="49" name="TextBox 48"/>
          <p:cNvSpPr txBox="1"/>
          <p:nvPr/>
        </p:nvSpPr>
        <p:spPr>
          <a:xfrm>
            <a:off x="7025640" y="3200400"/>
            <a:ext cx="944880" cy="256032"/>
          </a:xfrm>
          <a:prstGeom prst="rect">
            <a:avLst/>
          </a:prstGeom>
          <a:noFill/>
        </p:spPr>
        <p:txBody>
          <a:bodyPr wrap="square">
            <a:spAutoFit/>
          </a:bodyPr>
          <a:lstStyle/>
          <a:p>
            <a:pPr algn="ctr"/>
            <a:r>
              <a:rPr sz="700" b="1" i="0">
                <a:solidFill>
                  <a:srgbClr val="16A34A"/>
                </a:solidFill>
                <a:latin typeface="Meiryo UI"/>
              </a:rPr>
              <a:t>総計</a:t>
            </a:r>
          </a:p>
        </p:txBody>
      </p:sp>
      <p:sp>
        <p:nvSpPr>
          <p:cNvPr id="50" name="TextBox 49"/>
          <p:cNvSpPr txBox="1"/>
          <p:nvPr/>
        </p:nvSpPr>
        <p:spPr>
          <a:xfrm>
            <a:off x="7970520" y="3200400"/>
            <a:ext cx="944880" cy="256032"/>
          </a:xfrm>
          <a:prstGeom prst="rect">
            <a:avLst/>
          </a:prstGeom>
          <a:noFill/>
        </p:spPr>
        <p:txBody>
          <a:bodyPr wrap="square">
            <a:spAutoFit/>
          </a:bodyPr>
          <a:lstStyle/>
          <a:p>
            <a:pPr algn="ctr"/>
            <a:r>
              <a:rPr sz="700" b="1" i="0">
                <a:solidFill>
                  <a:srgbClr val="16A34A"/>
                </a:solidFill>
                <a:latin typeface="Meiryo UI"/>
              </a:rPr>
              <a:t>受注日</a:t>
            </a:r>
          </a:p>
        </p:txBody>
      </p:sp>
      <p:sp>
        <p:nvSpPr>
          <p:cNvPr id="51" name="TextBox 50"/>
          <p:cNvSpPr txBox="1"/>
          <p:nvPr/>
        </p:nvSpPr>
        <p:spPr>
          <a:xfrm>
            <a:off x="8915400" y="3200400"/>
            <a:ext cx="944880" cy="256032"/>
          </a:xfrm>
          <a:prstGeom prst="rect">
            <a:avLst/>
          </a:prstGeom>
          <a:noFill/>
        </p:spPr>
        <p:txBody>
          <a:bodyPr wrap="square">
            <a:spAutoFit/>
          </a:bodyPr>
          <a:lstStyle/>
          <a:p>
            <a:pPr algn="ctr"/>
            <a:r>
              <a:rPr sz="700" b="1" i="0">
                <a:solidFill>
                  <a:srgbClr val="16A34A"/>
                </a:solidFill>
                <a:latin typeface="Meiryo UI"/>
              </a:rPr>
              <a:t>納品日</a:t>
            </a:r>
          </a:p>
        </p:txBody>
      </p:sp>
      <p:sp>
        <p:nvSpPr>
          <p:cNvPr id="52" name="TextBox 51"/>
          <p:cNvSpPr txBox="1"/>
          <p:nvPr/>
        </p:nvSpPr>
        <p:spPr>
          <a:xfrm>
            <a:off x="9860280" y="3200400"/>
            <a:ext cx="944880" cy="256032"/>
          </a:xfrm>
          <a:prstGeom prst="rect">
            <a:avLst/>
          </a:prstGeom>
          <a:noFill/>
        </p:spPr>
        <p:txBody>
          <a:bodyPr wrap="square">
            <a:spAutoFit/>
          </a:bodyPr>
          <a:lstStyle/>
          <a:p>
            <a:pPr algn="ctr"/>
            <a:r>
              <a:rPr sz="700" b="1" i="0">
                <a:solidFill>
                  <a:srgbClr val="16A34A"/>
                </a:solidFill>
                <a:latin typeface="Meiryo UI"/>
              </a:rPr>
              <a:t>支払方法</a:t>
            </a:r>
          </a:p>
        </p:txBody>
      </p:sp>
      <p:sp>
        <p:nvSpPr>
          <p:cNvPr id="53" name="TextBox 52"/>
          <p:cNvSpPr txBox="1"/>
          <p:nvPr/>
        </p:nvSpPr>
        <p:spPr>
          <a:xfrm>
            <a:off x="10805160" y="3200400"/>
            <a:ext cx="944880" cy="256032"/>
          </a:xfrm>
          <a:prstGeom prst="rect">
            <a:avLst/>
          </a:prstGeom>
          <a:noFill/>
        </p:spPr>
        <p:txBody>
          <a:bodyPr wrap="square">
            <a:spAutoFit/>
          </a:bodyPr>
          <a:lstStyle/>
          <a:p>
            <a:pPr algn="ctr"/>
            <a:r>
              <a:rPr sz="700" b="1" i="0">
                <a:solidFill>
                  <a:srgbClr val="16A34A"/>
                </a:solidFill>
                <a:latin typeface="Meiryo UI"/>
              </a:rPr>
              <a:t>申請</a:t>
            </a:r>
          </a:p>
        </p:txBody>
      </p:sp>
      <p:sp>
        <p:nvSpPr>
          <p:cNvPr id="54" name="Rectangle 53"/>
          <p:cNvSpPr/>
          <p:nvPr/>
        </p:nvSpPr>
        <p:spPr>
          <a:xfrm>
            <a:off x="411480" y="3493008"/>
            <a:ext cx="11338560" cy="2743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80" y="3511296"/>
            <a:ext cx="944880" cy="237744"/>
          </a:xfrm>
          <a:prstGeom prst="rect">
            <a:avLst/>
          </a:prstGeom>
          <a:noFill/>
        </p:spPr>
        <p:txBody>
          <a:bodyPr wrap="square">
            <a:spAutoFit/>
          </a:bodyPr>
          <a:lstStyle/>
          <a:p>
            <a:pPr algn="ctr"/>
            <a:r>
              <a:rPr sz="700" b="0" i="0">
                <a:solidFill>
                  <a:srgbClr val="1F2937"/>
                </a:solidFill>
                <a:latin typeface="Meiryo UI"/>
              </a:rPr>
              <a:t>歩行器</a:t>
            </a:r>
          </a:p>
        </p:txBody>
      </p:sp>
      <p:sp>
        <p:nvSpPr>
          <p:cNvPr id="56" name="TextBox 55"/>
          <p:cNvSpPr txBox="1"/>
          <p:nvPr/>
        </p:nvSpPr>
        <p:spPr>
          <a:xfrm>
            <a:off x="1356360" y="3511296"/>
            <a:ext cx="944880" cy="237744"/>
          </a:xfrm>
          <a:prstGeom prst="rect">
            <a:avLst/>
          </a:prstGeom>
          <a:noFill/>
        </p:spPr>
        <p:txBody>
          <a:bodyPr wrap="square">
            <a:spAutoFit/>
          </a:bodyPr>
          <a:lstStyle/>
          <a:p>
            <a:pPr algn="ctr"/>
            <a:r>
              <a:rPr sz="700" b="0" i="0">
                <a:solidFill>
                  <a:srgbClr val="1F2937"/>
                </a:solidFill>
                <a:latin typeface="Meiryo UI"/>
              </a:rPr>
              <a:t>1</a:t>
            </a:r>
          </a:p>
        </p:txBody>
      </p:sp>
      <p:sp>
        <p:nvSpPr>
          <p:cNvPr id="57" name="TextBox 56"/>
          <p:cNvSpPr txBox="1"/>
          <p:nvPr/>
        </p:nvSpPr>
        <p:spPr>
          <a:xfrm>
            <a:off x="2301240" y="3511296"/>
            <a:ext cx="944880" cy="237744"/>
          </a:xfrm>
          <a:prstGeom prst="rect">
            <a:avLst/>
          </a:prstGeom>
          <a:noFill/>
        </p:spPr>
        <p:txBody>
          <a:bodyPr wrap="square">
            <a:spAutoFit/>
          </a:bodyPr>
          <a:lstStyle/>
          <a:p>
            <a:pPr algn="ctr"/>
            <a:r>
              <a:rPr sz="700" b="0" i="0">
                <a:solidFill>
                  <a:srgbClr val="1F2937"/>
                </a:solidFill>
                <a:latin typeface="Meiryo UI"/>
              </a:rPr>
              <a:t>¥28,000</a:t>
            </a:r>
          </a:p>
        </p:txBody>
      </p:sp>
      <p:sp>
        <p:nvSpPr>
          <p:cNvPr id="58" name="TextBox 57"/>
          <p:cNvSpPr txBox="1"/>
          <p:nvPr/>
        </p:nvSpPr>
        <p:spPr>
          <a:xfrm>
            <a:off x="3246120" y="3511296"/>
            <a:ext cx="944880" cy="237744"/>
          </a:xfrm>
          <a:prstGeom prst="rect">
            <a:avLst/>
          </a:prstGeom>
          <a:noFill/>
        </p:spPr>
        <p:txBody>
          <a:bodyPr wrap="square">
            <a:spAutoFit/>
          </a:bodyPr>
          <a:lstStyle/>
          <a:p>
            <a:pPr algn="ctr"/>
            <a:r>
              <a:rPr sz="700" b="0" i="0">
                <a:solidFill>
                  <a:srgbClr val="1F2937"/>
                </a:solidFill>
                <a:latin typeface="Meiryo UI"/>
              </a:rPr>
              <a:t>10％</a:t>
            </a:r>
          </a:p>
        </p:txBody>
      </p:sp>
      <p:sp>
        <p:nvSpPr>
          <p:cNvPr id="59" name="TextBox 58"/>
          <p:cNvSpPr txBox="1"/>
          <p:nvPr/>
        </p:nvSpPr>
        <p:spPr>
          <a:xfrm>
            <a:off x="4191000" y="3511296"/>
            <a:ext cx="944880" cy="237744"/>
          </a:xfrm>
          <a:prstGeom prst="rect">
            <a:avLst/>
          </a:prstGeom>
          <a:noFill/>
        </p:spPr>
        <p:txBody>
          <a:bodyPr wrap="square">
            <a:spAutoFit/>
          </a:bodyPr>
          <a:lstStyle/>
          <a:p>
            <a:pPr algn="ctr"/>
            <a:r>
              <a:rPr sz="700" b="1" i="0">
                <a:solidFill>
                  <a:srgbClr val="7C3AED"/>
                </a:solidFill>
                <a:latin typeface="Meiryo UI"/>
              </a:rPr>
              <a:t>¥30,800</a:t>
            </a:r>
          </a:p>
        </p:txBody>
      </p:sp>
      <p:sp>
        <p:nvSpPr>
          <p:cNvPr id="60" name="TextBox 59"/>
          <p:cNvSpPr txBox="1"/>
          <p:nvPr/>
        </p:nvSpPr>
        <p:spPr>
          <a:xfrm>
            <a:off x="5135880" y="3511296"/>
            <a:ext cx="944880" cy="237744"/>
          </a:xfrm>
          <a:prstGeom prst="rect">
            <a:avLst/>
          </a:prstGeom>
          <a:noFill/>
        </p:spPr>
        <p:txBody>
          <a:bodyPr wrap="square">
            <a:spAutoFit/>
          </a:bodyPr>
          <a:lstStyle/>
          <a:p>
            <a:pPr algn="ctr"/>
            <a:r>
              <a:rPr sz="700" b="0" i="0">
                <a:solidFill>
                  <a:srgbClr val="1F2937"/>
                </a:solidFill>
                <a:latin typeface="Meiryo UI"/>
              </a:rPr>
              <a:t>¥500</a:t>
            </a:r>
          </a:p>
        </p:txBody>
      </p:sp>
      <p:sp>
        <p:nvSpPr>
          <p:cNvPr id="61" name="TextBox 60"/>
          <p:cNvSpPr txBox="1"/>
          <p:nvPr/>
        </p:nvSpPr>
        <p:spPr>
          <a:xfrm>
            <a:off x="6080760" y="3511296"/>
            <a:ext cx="944880" cy="237744"/>
          </a:xfrm>
          <a:prstGeom prst="rect">
            <a:avLst/>
          </a:prstGeom>
          <a:noFill/>
        </p:spPr>
        <p:txBody>
          <a:bodyPr wrap="square">
            <a:spAutoFit/>
          </a:bodyPr>
          <a:lstStyle/>
          <a:p>
            <a:pPr algn="ctr"/>
            <a:r>
              <a:rPr sz="700" b="0" i="0">
                <a:solidFill>
                  <a:srgbClr val="1F2937"/>
                </a:solidFill>
                <a:latin typeface="Meiryo UI"/>
              </a:rPr>
              <a:t>¥50</a:t>
            </a:r>
          </a:p>
        </p:txBody>
      </p:sp>
      <p:sp>
        <p:nvSpPr>
          <p:cNvPr id="62" name="TextBox 61"/>
          <p:cNvSpPr txBox="1"/>
          <p:nvPr/>
        </p:nvSpPr>
        <p:spPr>
          <a:xfrm>
            <a:off x="7025640" y="3511296"/>
            <a:ext cx="944880" cy="237744"/>
          </a:xfrm>
          <a:prstGeom prst="rect">
            <a:avLst/>
          </a:prstGeom>
          <a:noFill/>
        </p:spPr>
        <p:txBody>
          <a:bodyPr wrap="square">
            <a:spAutoFit/>
          </a:bodyPr>
          <a:lstStyle/>
          <a:p>
            <a:pPr algn="ctr"/>
            <a:r>
              <a:rPr sz="700" b="1" i="0">
                <a:solidFill>
                  <a:srgbClr val="165825"/>
                </a:solidFill>
                <a:latin typeface="Meiryo UI"/>
              </a:rPr>
              <a:t>¥31,350</a:t>
            </a:r>
          </a:p>
        </p:txBody>
      </p:sp>
      <p:sp>
        <p:nvSpPr>
          <p:cNvPr id="63" name="TextBox 62"/>
          <p:cNvSpPr txBox="1"/>
          <p:nvPr/>
        </p:nvSpPr>
        <p:spPr>
          <a:xfrm>
            <a:off x="7970520" y="3511296"/>
            <a:ext cx="944880" cy="237744"/>
          </a:xfrm>
          <a:prstGeom prst="rect">
            <a:avLst/>
          </a:prstGeom>
          <a:noFill/>
        </p:spPr>
        <p:txBody>
          <a:bodyPr wrap="square">
            <a:spAutoFit/>
          </a:bodyPr>
          <a:lstStyle/>
          <a:p>
            <a:pPr algn="ctr"/>
            <a:r>
              <a:rPr sz="700" b="0" i="0">
                <a:solidFill>
                  <a:srgbClr val="1F2937"/>
                </a:solidFill>
                <a:latin typeface="Meiryo UI"/>
              </a:rPr>
              <a:t>2025-04-10</a:t>
            </a:r>
          </a:p>
        </p:txBody>
      </p:sp>
      <p:sp>
        <p:nvSpPr>
          <p:cNvPr id="64" name="TextBox 63"/>
          <p:cNvSpPr txBox="1"/>
          <p:nvPr/>
        </p:nvSpPr>
        <p:spPr>
          <a:xfrm>
            <a:off x="8915400" y="3511296"/>
            <a:ext cx="944880" cy="237744"/>
          </a:xfrm>
          <a:prstGeom prst="rect">
            <a:avLst/>
          </a:prstGeom>
          <a:noFill/>
        </p:spPr>
        <p:txBody>
          <a:bodyPr wrap="square">
            <a:spAutoFit/>
          </a:bodyPr>
          <a:lstStyle/>
          <a:p>
            <a:pPr algn="ctr"/>
            <a:r>
              <a:rPr sz="700" b="0" i="0">
                <a:solidFill>
                  <a:srgbClr val="1F2937"/>
                </a:solidFill>
                <a:latin typeface="Meiryo UI"/>
              </a:rPr>
              <a:t>2025-04-15</a:t>
            </a:r>
          </a:p>
        </p:txBody>
      </p:sp>
      <p:sp>
        <p:nvSpPr>
          <p:cNvPr id="65" name="TextBox 64"/>
          <p:cNvSpPr txBox="1"/>
          <p:nvPr/>
        </p:nvSpPr>
        <p:spPr>
          <a:xfrm>
            <a:off x="9860280" y="3511296"/>
            <a:ext cx="944880" cy="237744"/>
          </a:xfrm>
          <a:prstGeom prst="rect">
            <a:avLst/>
          </a:prstGeom>
          <a:noFill/>
        </p:spPr>
        <p:txBody>
          <a:bodyPr wrap="square">
            <a:spAutoFit/>
          </a:bodyPr>
          <a:lstStyle/>
          <a:p>
            <a:pPr algn="ctr"/>
            <a:r>
              <a:rPr sz="700" b="0" i="0">
                <a:solidFill>
                  <a:srgbClr val="1F2937"/>
                </a:solidFill>
                <a:latin typeface="Meiryo UI"/>
              </a:rPr>
              <a:t>現金</a:t>
            </a:r>
          </a:p>
        </p:txBody>
      </p:sp>
      <p:sp>
        <p:nvSpPr>
          <p:cNvPr id="66" name="TextBox 65"/>
          <p:cNvSpPr txBox="1"/>
          <p:nvPr/>
        </p:nvSpPr>
        <p:spPr>
          <a:xfrm>
            <a:off x="10805160" y="3511296"/>
            <a:ext cx="944880" cy="237744"/>
          </a:xfrm>
          <a:prstGeom prst="rect">
            <a:avLst/>
          </a:prstGeom>
          <a:noFill/>
        </p:spPr>
        <p:txBody>
          <a:bodyPr wrap="square">
            <a:spAutoFit/>
          </a:bodyPr>
          <a:lstStyle/>
          <a:p>
            <a:pPr algn="ctr"/>
            <a:r>
              <a:rPr sz="700" b="0" i="0">
                <a:solidFill>
                  <a:srgbClr val="1F2937"/>
                </a:solidFill>
                <a:latin typeface="Meiryo UI"/>
              </a:rPr>
              <a:t>鹿児島市</a:t>
            </a:r>
          </a:p>
        </p:txBody>
      </p:sp>
      <p:sp>
        <p:nvSpPr>
          <p:cNvPr id="67" name="Rectangle 66"/>
          <p:cNvSpPr/>
          <p:nvPr/>
        </p:nvSpPr>
        <p:spPr>
          <a:xfrm>
            <a:off x="457200" y="3931920"/>
            <a:ext cx="256032" cy="2560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7240" y="3931920"/>
            <a:ext cx="2377440" cy="274320"/>
          </a:xfrm>
          <a:prstGeom prst="rect">
            <a:avLst/>
          </a:prstGeom>
          <a:noFill/>
        </p:spPr>
        <p:txBody>
          <a:bodyPr wrap="square">
            <a:spAutoFit/>
          </a:bodyPr>
          <a:lstStyle/>
          <a:p>
            <a:pPr algn="l"/>
            <a:r>
              <a:rPr sz="1100" b="1" i="0">
                <a:solidFill>
                  <a:srgbClr val="7C3AED"/>
                </a:solidFill>
                <a:latin typeface="Meiryo UI"/>
              </a:rPr>
              <a:t>紫 = 自費レンタル</a:t>
            </a:r>
          </a:p>
        </p:txBody>
      </p:sp>
      <p:sp>
        <p:nvSpPr>
          <p:cNvPr id="69" name="Rectangle 68"/>
          <p:cNvSpPr/>
          <p:nvPr/>
        </p:nvSpPr>
        <p:spPr>
          <a:xfrm>
            <a:off x="3200400" y="3931920"/>
            <a:ext cx="256032" cy="25603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520440" y="3931920"/>
            <a:ext cx="2377440" cy="274320"/>
          </a:xfrm>
          <a:prstGeom prst="rect">
            <a:avLst/>
          </a:prstGeom>
          <a:noFill/>
        </p:spPr>
        <p:txBody>
          <a:bodyPr wrap="square">
            <a:spAutoFit/>
          </a:bodyPr>
          <a:lstStyle/>
          <a:p>
            <a:pPr algn="l"/>
            <a:r>
              <a:rPr sz="1100" b="1" i="0">
                <a:solidFill>
                  <a:srgbClr val="16A34A"/>
                </a:solidFill>
                <a:latin typeface="Meiryo UI"/>
              </a:rPr>
              <a:t>緑 = 販売</a:t>
            </a:r>
          </a:p>
        </p:txBody>
      </p:sp>
      <p:sp>
        <p:nvSpPr>
          <p:cNvPr id="71" name="TextBox 70"/>
          <p:cNvSpPr txBox="1"/>
          <p:nvPr/>
        </p:nvSpPr>
        <p:spPr>
          <a:xfrm>
            <a:off x="457200" y="4297680"/>
            <a:ext cx="10972800" cy="320040"/>
          </a:xfrm>
          <a:prstGeom prst="rect">
            <a:avLst/>
          </a:prstGeom>
          <a:noFill/>
        </p:spPr>
        <p:txBody>
          <a:bodyPr wrap="square">
            <a:spAutoFit/>
          </a:bodyPr>
          <a:lstStyle/>
          <a:p>
            <a:pPr algn="l"/>
            <a:r>
              <a:rPr sz="1200" b="1" i="0">
                <a:solidFill>
                  <a:srgbClr val="D97706"/>
                </a:solidFill>
                <a:latin typeface="Meiryo UI"/>
              </a:rPr>
              <a:t>※ 表示のみ。編集・追加は「福祉用具選定」タブで行います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square">
            <a:spAutoFit/>
          </a:bodyPr>
          <a:lstStyle/>
          <a:p>
            <a:pPr algn="l"/>
            <a:r>
              <a:rPr sz="2600" b="1" i="0">
                <a:solidFill>
                  <a:srgbClr val="FFFFFF"/>
                </a:solidFill>
                <a:latin typeface="Meiryo UI"/>
              </a:rPr>
              <a:t>自費レンタル — テーブルの各列説明</a:t>
            </a:r>
          </a:p>
        </p:txBody>
      </p:sp>
      <p:sp>
        <p:nvSpPr>
          <p:cNvPr id="4" name="Rectangle 3"/>
          <p:cNvSpPr/>
          <p:nvPr/>
        </p:nvSpPr>
        <p:spPr>
          <a:xfrm>
            <a:off x="0" y="1005840"/>
            <a:ext cx="12188952" cy="58521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11430000"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188720"/>
            <a:ext cx="10972800" cy="347472"/>
          </a:xfrm>
          <a:prstGeom prst="rect">
            <a:avLst/>
          </a:prstGeom>
          <a:noFill/>
        </p:spPr>
        <p:txBody>
          <a:bodyPr wrap="square">
            <a:spAutoFit/>
          </a:bodyPr>
          <a:lstStyle/>
          <a:p>
            <a:pPr algn="l"/>
            <a:r>
              <a:rPr sz="1400" b="1" i="0">
                <a:solidFill>
                  <a:srgbClr val="FFFFFF"/>
                </a:solidFill>
                <a:latin typeface="Meiryo UI"/>
              </a:rPr>
              <a:t>💰 自費レンタル（紫テーマ）</a:t>
            </a:r>
          </a:p>
        </p:txBody>
      </p:sp>
      <p:sp>
        <p:nvSpPr>
          <p:cNvPr id="7" name="Rectangle 6"/>
          <p:cNvSpPr/>
          <p:nvPr/>
        </p:nvSpPr>
        <p:spPr>
          <a:xfrm>
            <a:off x="365760" y="1645920"/>
            <a:ext cx="11430000" cy="621792"/>
          </a:xfrm>
          <a:prstGeom prst="rect">
            <a:avLst/>
          </a:prstGeom>
          <a:solidFill>
            <a:srgbClr val="F3E8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09928"/>
            <a:ext cx="2560320" cy="530352"/>
          </a:xfrm>
          <a:prstGeom prst="rect">
            <a:avLst/>
          </a:prstGeom>
          <a:noFill/>
        </p:spPr>
        <p:txBody>
          <a:bodyPr wrap="square">
            <a:spAutoFit/>
          </a:bodyPr>
          <a:lstStyle/>
          <a:p>
            <a:pPr algn="l"/>
            <a:r>
              <a:rPr sz="1300" b="1" i="0">
                <a:solidFill>
                  <a:srgbClr val="7C3AED"/>
                </a:solidFill>
                <a:latin typeface="Meiryo UI"/>
              </a:rPr>
              <a:t>商品名</a:t>
            </a:r>
          </a:p>
        </p:txBody>
      </p:sp>
      <p:sp>
        <p:nvSpPr>
          <p:cNvPr id="9" name="TextBox 8"/>
          <p:cNvSpPr txBox="1"/>
          <p:nvPr/>
        </p:nvSpPr>
        <p:spPr>
          <a:xfrm>
            <a:off x="3108960" y="1709928"/>
            <a:ext cx="8503920" cy="530352"/>
          </a:xfrm>
          <a:prstGeom prst="rect">
            <a:avLst/>
          </a:prstGeom>
          <a:noFill/>
        </p:spPr>
        <p:txBody>
          <a:bodyPr wrap="square">
            <a:spAutoFit/>
          </a:bodyPr>
          <a:lstStyle/>
          <a:p>
            <a:pPr algn="l"/>
            <a:r>
              <a:rPr sz="1200" b="0" i="0">
                <a:solidFill>
                  <a:srgbClr val="1F2937"/>
                </a:solidFill>
                <a:latin typeface="Meiryo UI"/>
              </a:rPr>
              <a:t>福祉用具選定タブで入力した機器名称（請求費目）</a:t>
            </a:r>
          </a:p>
        </p:txBody>
      </p:sp>
      <p:sp>
        <p:nvSpPr>
          <p:cNvPr id="10" name="Rectangle 9"/>
          <p:cNvSpPr/>
          <p:nvPr/>
        </p:nvSpPr>
        <p:spPr>
          <a:xfrm>
            <a:off x="365760" y="2267712"/>
            <a:ext cx="11430000" cy="621792"/>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331720"/>
            <a:ext cx="2560320" cy="530352"/>
          </a:xfrm>
          <a:prstGeom prst="rect">
            <a:avLst/>
          </a:prstGeom>
          <a:noFill/>
        </p:spPr>
        <p:txBody>
          <a:bodyPr wrap="square">
            <a:spAutoFit/>
          </a:bodyPr>
          <a:lstStyle/>
          <a:p>
            <a:pPr algn="l"/>
            <a:r>
              <a:rPr sz="1300" b="1" i="0">
                <a:solidFill>
                  <a:srgbClr val="7C3AED"/>
                </a:solidFill>
                <a:latin typeface="Meiryo UI"/>
              </a:rPr>
              <a:t>数量</a:t>
            </a:r>
          </a:p>
        </p:txBody>
      </p:sp>
      <p:sp>
        <p:nvSpPr>
          <p:cNvPr id="12" name="TextBox 11"/>
          <p:cNvSpPr txBox="1"/>
          <p:nvPr/>
        </p:nvSpPr>
        <p:spPr>
          <a:xfrm>
            <a:off x="3108960" y="2331720"/>
            <a:ext cx="8503920" cy="530352"/>
          </a:xfrm>
          <a:prstGeom prst="rect">
            <a:avLst/>
          </a:prstGeom>
          <a:noFill/>
        </p:spPr>
        <p:txBody>
          <a:bodyPr wrap="square">
            <a:spAutoFit/>
          </a:bodyPr>
          <a:lstStyle/>
          <a:p>
            <a:pPr algn="l"/>
            <a:r>
              <a:rPr sz="1200" b="0" i="0">
                <a:solidFill>
                  <a:srgbClr val="1F2937"/>
                </a:solidFill>
                <a:latin typeface="Meiryo UI"/>
              </a:rPr>
              <a:t>レンタル数量（通常は 1）</a:t>
            </a:r>
          </a:p>
        </p:txBody>
      </p:sp>
      <p:sp>
        <p:nvSpPr>
          <p:cNvPr id="13" name="Rectangle 12"/>
          <p:cNvSpPr/>
          <p:nvPr/>
        </p:nvSpPr>
        <p:spPr>
          <a:xfrm>
            <a:off x="365760" y="2889504"/>
            <a:ext cx="11430000" cy="621792"/>
          </a:xfrm>
          <a:prstGeom prst="rect">
            <a:avLst/>
          </a:prstGeom>
          <a:solidFill>
            <a:srgbClr val="F3E8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953512"/>
            <a:ext cx="2560320" cy="530352"/>
          </a:xfrm>
          <a:prstGeom prst="rect">
            <a:avLst/>
          </a:prstGeom>
          <a:noFill/>
        </p:spPr>
        <p:txBody>
          <a:bodyPr wrap="square">
            <a:spAutoFit/>
          </a:bodyPr>
          <a:lstStyle/>
          <a:p>
            <a:pPr algn="l"/>
            <a:r>
              <a:rPr sz="1300" b="1" i="0">
                <a:solidFill>
                  <a:srgbClr val="7C3AED"/>
                </a:solidFill>
                <a:latin typeface="Meiryo UI"/>
              </a:rPr>
              <a:t>月額（税抜）</a:t>
            </a:r>
          </a:p>
        </p:txBody>
      </p:sp>
      <p:sp>
        <p:nvSpPr>
          <p:cNvPr id="15" name="TextBox 14"/>
          <p:cNvSpPr txBox="1"/>
          <p:nvPr/>
        </p:nvSpPr>
        <p:spPr>
          <a:xfrm>
            <a:off x="3108960" y="2953512"/>
            <a:ext cx="8503920" cy="530352"/>
          </a:xfrm>
          <a:prstGeom prst="rect">
            <a:avLst/>
          </a:prstGeom>
          <a:noFill/>
        </p:spPr>
        <p:txBody>
          <a:bodyPr wrap="square">
            <a:spAutoFit/>
          </a:bodyPr>
          <a:lstStyle/>
          <a:p>
            <a:pPr algn="l"/>
            <a:r>
              <a:rPr sz="1200" b="0" i="0">
                <a:solidFill>
                  <a:srgbClr val="1F2937"/>
                </a:solidFill>
                <a:latin typeface="Meiryo UI"/>
              </a:rPr>
              <a:t>1か月あたりの税抜きレンタル料金（unitPrice）</a:t>
            </a:r>
          </a:p>
        </p:txBody>
      </p:sp>
      <p:sp>
        <p:nvSpPr>
          <p:cNvPr id="16" name="Rectangle 15"/>
          <p:cNvSpPr/>
          <p:nvPr/>
        </p:nvSpPr>
        <p:spPr>
          <a:xfrm>
            <a:off x="365760" y="3511296"/>
            <a:ext cx="11430000" cy="621792"/>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575304"/>
            <a:ext cx="2560320" cy="530352"/>
          </a:xfrm>
          <a:prstGeom prst="rect">
            <a:avLst/>
          </a:prstGeom>
          <a:noFill/>
        </p:spPr>
        <p:txBody>
          <a:bodyPr wrap="square">
            <a:spAutoFit/>
          </a:bodyPr>
          <a:lstStyle/>
          <a:p>
            <a:pPr algn="l"/>
            <a:r>
              <a:rPr sz="1300" b="1" i="0">
                <a:solidFill>
                  <a:srgbClr val="7C3AED"/>
                </a:solidFill>
                <a:latin typeface="Meiryo UI"/>
              </a:rPr>
              <a:t>税区分</a:t>
            </a:r>
          </a:p>
        </p:txBody>
      </p:sp>
      <p:sp>
        <p:nvSpPr>
          <p:cNvPr id="18" name="TextBox 17"/>
          <p:cNvSpPr txBox="1"/>
          <p:nvPr/>
        </p:nvSpPr>
        <p:spPr>
          <a:xfrm>
            <a:off x="3108960" y="3575304"/>
            <a:ext cx="8503920" cy="530352"/>
          </a:xfrm>
          <a:prstGeom prst="rect">
            <a:avLst/>
          </a:prstGeom>
          <a:noFill/>
        </p:spPr>
        <p:txBody>
          <a:bodyPr wrap="square">
            <a:spAutoFit/>
          </a:bodyPr>
          <a:lstStyle/>
          <a:p>
            <a:pPr algn="l"/>
            <a:r>
              <a:rPr sz="1200" b="0" i="0">
                <a:solidFill>
                  <a:srgbClr val="1F2937"/>
                </a:solidFill>
                <a:latin typeface="Meiryo UI"/>
              </a:rPr>
              <a:t>「10％」「軽8％」「非課税」のいずれか</a:t>
            </a:r>
          </a:p>
        </p:txBody>
      </p:sp>
      <p:sp>
        <p:nvSpPr>
          <p:cNvPr id="19" name="Rectangle 18"/>
          <p:cNvSpPr/>
          <p:nvPr/>
        </p:nvSpPr>
        <p:spPr>
          <a:xfrm>
            <a:off x="365760" y="4133088"/>
            <a:ext cx="11430000" cy="621792"/>
          </a:xfrm>
          <a:prstGeom prst="rect">
            <a:avLst/>
          </a:prstGeom>
          <a:solidFill>
            <a:srgbClr val="F3E8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197096"/>
            <a:ext cx="2560320" cy="530352"/>
          </a:xfrm>
          <a:prstGeom prst="rect">
            <a:avLst/>
          </a:prstGeom>
          <a:noFill/>
        </p:spPr>
        <p:txBody>
          <a:bodyPr wrap="square">
            <a:spAutoFit/>
          </a:bodyPr>
          <a:lstStyle/>
          <a:p>
            <a:pPr algn="l"/>
            <a:r>
              <a:rPr sz="1300" b="1" i="0">
                <a:solidFill>
                  <a:srgbClr val="7C3AED"/>
                </a:solidFill>
                <a:latin typeface="Meiryo UI"/>
              </a:rPr>
              <a:t>税込金額</a:t>
            </a:r>
          </a:p>
        </p:txBody>
      </p:sp>
      <p:sp>
        <p:nvSpPr>
          <p:cNvPr id="21" name="TextBox 20"/>
          <p:cNvSpPr txBox="1"/>
          <p:nvPr/>
        </p:nvSpPr>
        <p:spPr>
          <a:xfrm>
            <a:off x="3108960" y="4197096"/>
            <a:ext cx="8503920" cy="530352"/>
          </a:xfrm>
          <a:prstGeom prst="rect">
            <a:avLst/>
          </a:prstGeom>
          <a:noFill/>
        </p:spPr>
        <p:txBody>
          <a:bodyPr wrap="square">
            <a:spAutoFit/>
          </a:bodyPr>
          <a:lstStyle/>
          <a:p>
            <a:pPr algn="l"/>
            <a:r>
              <a:rPr sz="1200" b="0" i="0">
                <a:solidFill>
                  <a:srgbClr val="1F2937"/>
                </a:solidFill>
                <a:latin typeface="Meiryo UI"/>
              </a:rPr>
              <a:t>月額 × 数量 + 消費税（自動計算）
  例: ¥3,000 × 1 × 1.10 = ¥3,300</a:t>
            </a:r>
          </a:p>
        </p:txBody>
      </p:sp>
      <p:sp>
        <p:nvSpPr>
          <p:cNvPr id="22" name="Rectangle 21"/>
          <p:cNvSpPr/>
          <p:nvPr/>
        </p:nvSpPr>
        <p:spPr>
          <a:xfrm>
            <a:off x="365760" y="4754880"/>
            <a:ext cx="11430000" cy="621792"/>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818888"/>
            <a:ext cx="2560320" cy="530352"/>
          </a:xfrm>
          <a:prstGeom prst="rect">
            <a:avLst/>
          </a:prstGeom>
          <a:noFill/>
        </p:spPr>
        <p:txBody>
          <a:bodyPr wrap="square">
            <a:spAutoFit/>
          </a:bodyPr>
          <a:lstStyle/>
          <a:p>
            <a:pPr algn="l"/>
            <a:r>
              <a:rPr sz="1300" b="1" i="0">
                <a:solidFill>
                  <a:srgbClr val="7C3AED"/>
                </a:solidFill>
                <a:latin typeface="Meiryo UI"/>
              </a:rPr>
              <a:t>利用開始日</a:t>
            </a:r>
          </a:p>
        </p:txBody>
      </p:sp>
      <p:sp>
        <p:nvSpPr>
          <p:cNvPr id="24" name="TextBox 23"/>
          <p:cNvSpPr txBox="1"/>
          <p:nvPr/>
        </p:nvSpPr>
        <p:spPr>
          <a:xfrm>
            <a:off x="3108960" y="4818888"/>
            <a:ext cx="8503920" cy="530352"/>
          </a:xfrm>
          <a:prstGeom prst="rect">
            <a:avLst/>
          </a:prstGeom>
          <a:noFill/>
        </p:spPr>
        <p:txBody>
          <a:bodyPr wrap="square">
            <a:spAutoFit/>
          </a:bodyPr>
          <a:lstStyle/>
          <a:p>
            <a:pPr algn="l"/>
            <a:r>
              <a:rPr sz="1200" b="0" i="0">
                <a:solidFill>
                  <a:srgbClr val="1F2937"/>
                </a:solidFill>
                <a:latin typeface="Meiryo UI"/>
              </a:rPr>
              <a:t>レンタル開始日（startDate）</a:t>
            </a:r>
          </a:p>
        </p:txBody>
      </p:sp>
      <p:sp>
        <p:nvSpPr>
          <p:cNvPr id="25" name="Rectangle 24"/>
          <p:cNvSpPr/>
          <p:nvPr/>
        </p:nvSpPr>
        <p:spPr>
          <a:xfrm>
            <a:off x="365760" y="5376672"/>
            <a:ext cx="11430000" cy="621792"/>
          </a:xfrm>
          <a:prstGeom prst="rect">
            <a:avLst/>
          </a:prstGeom>
          <a:solidFill>
            <a:srgbClr val="F3E8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440680"/>
            <a:ext cx="2560320" cy="530352"/>
          </a:xfrm>
          <a:prstGeom prst="rect">
            <a:avLst/>
          </a:prstGeom>
          <a:noFill/>
        </p:spPr>
        <p:txBody>
          <a:bodyPr wrap="square">
            <a:spAutoFit/>
          </a:bodyPr>
          <a:lstStyle/>
          <a:p>
            <a:pPr algn="l"/>
            <a:r>
              <a:rPr sz="1300" b="1" i="0">
                <a:solidFill>
                  <a:srgbClr val="7C3AED"/>
                </a:solidFill>
                <a:latin typeface="Meiryo UI"/>
              </a:rPr>
              <a:t>利用終了日</a:t>
            </a:r>
          </a:p>
        </p:txBody>
      </p:sp>
      <p:sp>
        <p:nvSpPr>
          <p:cNvPr id="27" name="TextBox 26"/>
          <p:cNvSpPr txBox="1"/>
          <p:nvPr/>
        </p:nvSpPr>
        <p:spPr>
          <a:xfrm>
            <a:off x="3108960" y="5440680"/>
            <a:ext cx="8503920" cy="530352"/>
          </a:xfrm>
          <a:prstGeom prst="rect">
            <a:avLst/>
          </a:prstGeom>
          <a:noFill/>
        </p:spPr>
        <p:txBody>
          <a:bodyPr wrap="square">
            <a:spAutoFit/>
          </a:bodyPr>
          <a:lstStyle/>
          <a:p>
            <a:pPr algn="l"/>
            <a:r>
              <a:rPr sz="1200" b="0" i="0">
                <a:solidFill>
                  <a:srgbClr val="1F2937"/>
                </a:solidFill>
                <a:latin typeface="Meiryo UI"/>
              </a:rPr>
              <a:t>レンタル終了日（endDate）。空欄 = 継続中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square">
            <a:spAutoFit/>
          </a:bodyPr>
          <a:lstStyle/>
          <a:p>
            <a:pPr algn="l"/>
            <a:r>
              <a:rPr sz="2600" b="1" i="0">
                <a:solidFill>
                  <a:srgbClr val="FFFFFF"/>
                </a:solidFill>
                <a:latin typeface="Meiryo UI"/>
              </a:rPr>
              <a:t>販売 — テーブルの各列説明</a:t>
            </a:r>
          </a:p>
        </p:txBody>
      </p:sp>
      <p:sp>
        <p:nvSpPr>
          <p:cNvPr id="4" name="Rectangle 3"/>
          <p:cNvSpPr/>
          <p:nvPr/>
        </p:nvSpPr>
        <p:spPr>
          <a:xfrm>
            <a:off x="0" y="1005840"/>
            <a:ext cx="12188952" cy="58521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11430000" cy="4114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188720"/>
            <a:ext cx="10972800" cy="347472"/>
          </a:xfrm>
          <a:prstGeom prst="rect">
            <a:avLst/>
          </a:prstGeom>
          <a:noFill/>
        </p:spPr>
        <p:txBody>
          <a:bodyPr wrap="square">
            <a:spAutoFit/>
          </a:bodyPr>
          <a:lstStyle/>
          <a:p>
            <a:pPr algn="l"/>
            <a:r>
              <a:rPr sz="1400" b="1" i="0">
                <a:solidFill>
                  <a:srgbClr val="FFFFFF"/>
                </a:solidFill>
                <a:latin typeface="Meiryo UI"/>
              </a:rPr>
              <a:t>🛒 販売（緑テーマ）</a:t>
            </a:r>
          </a:p>
        </p:txBody>
      </p:sp>
      <p:sp>
        <p:nvSpPr>
          <p:cNvPr id="7" name="Rectangle 6"/>
          <p:cNvSpPr/>
          <p:nvPr/>
        </p:nvSpPr>
        <p:spPr>
          <a:xfrm>
            <a:off x="365760" y="1645920"/>
            <a:ext cx="11430000" cy="402336"/>
          </a:xfrm>
          <a:prstGeom prst="rect">
            <a:avLst/>
          </a:prstGeom>
          <a:solidFill>
            <a:srgbClr val="DCFCE7"/>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82496"/>
            <a:ext cx="2560320" cy="347472"/>
          </a:xfrm>
          <a:prstGeom prst="rect">
            <a:avLst/>
          </a:prstGeom>
          <a:noFill/>
        </p:spPr>
        <p:txBody>
          <a:bodyPr wrap="square">
            <a:spAutoFit/>
          </a:bodyPr>
          <a:lstStyle/>
          <a:p>
            <a:pPr algn="l"/>
            <a:r>
              <a:rPr sz="1200" b="1" i="0">
                <a:solidFill>
                  <a:srgbClr val="16A34A"/>
                </a:solidFill>
                <a:latin typeface="Meiryo UI"/>
              </a:rPr>
              <a:t>商品名</a:t>
            </a:r>
          </a:p>
        </p:txBody>
      </p:sp>
      <p:sp>
        <p:nvSpPr>
          <p:cNvPr id="9" name="TextBox 8"/>
          <p:cNvSpPr txBox="1"/>
          <p:nvPr/>
        </p:nvSpPr>
        <p:spPr>
          <a:xfrm>
            <a:off x="3108960" y="1682496"/>
            <a:ext cx="8503920" cy="347472"/>
          </a:xfrm>
          <a:prstGeom prst="rect">
            <a:avLst/>
          </a:prstGeom>
          <a:noFill/>
        </p:spPr>
        <p:txBody>
          <a:bodyPr wrap="square">
            <a:spAutoFit/>
          </a:bodyPr>
          <a:lstStyle/>
          <a:p>
            <a:pPr algn="l"/>
            <a:r>
              <a:rPr sz="1100" b="0" i="0">
                <a:solidFill>
                  <a:srgbClr val="1F2937"/>
                </a:solidFill>
                <a:latin typeface="Meiryo UI"/>
              </a:rPr>
              <a:t>販売した福祉用具の名称</a:t>
            </a:r>
          </a:p>
        </p:txBody>
      </p:sp>
      <p:sp>
        <p:nvSpPr>
          <p:cNvPr id="10" name="Rectangle 9"/>
          <p:cNvSpPr/>
          <p:nvPr/>
        </p:nvSpPr>
        <p:spPr>
          <a:xfrm>
            <a:off x="365760" y="2048256"/>
            <a:ext cx="11430000" cy="402336"/>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084832"/>
            <a:ext cx="2560320" cy="347472"/>
          </a:xfrm>
          <a:prstGeom prst="rect">
            <a:avLst/>
          </a:prstGeom>
          <a:noFill/>
        </p:spPr>
        <p:txBody>
          <a:bodyPr wrap="square">
            <a:spAutoFit/>
          </a:bodyPr>
          <a:lstStyle/>
          <a:p>
            <a:pPr algn="l"/>
            <a:r>
              <a:rPr sz="1200" b="1" i="0">
                <a:solidFill>
                  <a:srgbClr val="16A34A"/>
                </a:solidFill>
                <a:latin typeface="Meiryo UI"/>
              </a:rPr>
              <a:t>数量</a:t>
            </a:r>
          </a:p>
        </p:txBody>
      </p:sp>
      <p:sp>
        <p:nvSpPr>
          <p:cNvPr id="12" name="TextBox 11"/>
          <p:cNvSpPr txBox="1"/>
          <p:nvPr/>
        </p:nvSpPr>
        <p:spPr>
          <a:xfrm>
            <a:off x="3108960" y="2084832"/>
            <a:ext cx="8503920" cy="347472"/>
          </a:xfrm>
          <a:prstGeom prst="rect">
            <a:avLst/>
          </a:prstGeom>
          <a:noFill/>
        </p:spPr>
        <p:txBody>
          <a:bodyPr wrap="square">
            <a:spAutoFit/>
          </a:bodyPr>
          <a:lstStyle/>
          <a:p>
            <a:pPr algn="l"/>
            <a:r>
              <a:rPr sz="1100" b="0" i="0">
                <a:solidFill>
                  <a:srgbClr val="1F2937"/>
                </a:solidFill>
                <a:latin typeface="Meiryo UI"/>
              </a:rPr>
              <a:t>販売数量</a:t>
            </a:r>
          </a:p>
        </p:txBody>
      </p:sp>
      <p:sp>
        <p:nvSpPr>
          <p:cNvPr id="13" name="Rectangle 12"/>
          <p:cNvSpPr/>
          <p:nvPr/>
        </p:nvSpPr>
        <p:spPr>
          <a:xfrm>
            <a:off x="365760" y="2450592"/>
            <a:ext cx="11430000" cy="402336"/>
          </a:xfrm>
          <a:prstGeom prst="rect">
            <a:avLst/>
          </a:prstGeom>
          <a:solidFill>
            <a:srgbClr val="DCFCE7"/>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487168"/>
            <a:ext cx="2560320" cy="347472"/>
          </a:xfrm>
          <a:prstGeom prst="rect">
            <a:avLst/>
          </a:prstGeom>
          <a:noFill/>
        </p:spPr>
        <p:txBody>
          <a:bodyPr wrap="square">
            <a:spAutoFit/>
          </a:bodyPr>
          <a:lstStyle/>
          <a:p>
            <a:pPr algn="l"/>
            <a:r>
              <a:rPr sz="1200" b="1" i="0">
                <a:solidFill>
                  <a:srgbClr val="16A34A"/>
                </a:solidFill>
                <a:latin typeface="Meiryo UI"/>
              </a:rPr>
              <a:t>単価（税抜）</a:t>
            </a:r>
          </a:p>
        </p:txBody>
      </p:sp>
      <p:sp>
        <p:nvSpPr>
          <p:cNvPr id="15" name="TextBox 14"/>
          <p:cNvSpPr txBox="1"/>
          <p:nvPr/>
        </p:nvSpPr>
        <p:spPr>
          <a:xfrm>
            <a:off x="3108960" y="2487168"/>
            <a:ext cx="8503920" cy="347472"/>
          </a:xfrm>
          <a:prstGeom prst="rect">
            <a:avLst/>
          </a:prstGeom>
          <a:noFill/>
        </p:spPr>
        <p:txBody>
          <a:bodyPr wrap="square">
            <a:spAutoFit/>
          </a:bodyPr>
          <a:lstStyle/>
          <a:p>
            <a:pPr algn="l"/>
            <a:r>
              <a:rPr sz="1100" b="0" i="0">
                <a:solidFill>
                  <a:srgbClr val="1F2937"/>
                </a:solidFill>
                <a:latin typeface="Meiryo UI"/>
              </a:rPr>
              <a:t>1個あたりの税抜き販売価格</a:t>
            </a:r>
          </a:p>
        </p:txBody>
      </p:sp>
      <p:sp>
        <p:nvSpPr>
          <p:cNvPr id="16" name="Rectangle 15"/>
          <p:cNvSpPr/>
          <p:nvPr/>
        </p:nvSpPr>
        <p:spPr>
          <a:xfrm>
            <a:off x="365760" y="2852928"/>
            <a:ext cx="11430000" cy="402336"/>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889504"/>
            <a:ext cx="2560320" cy="347472"/>
          </a:xfrm>
          <a:prstGeom prst="rect">
            <a:avLst/>
          </a:prstGeom>
          <a:noFill/>
        </p:spPr>
        <p:txBody>
          <a:bodyPr wrap="square">
            <a:spAutoFit/>
          </a:bodyPr>
          <a:lstStyle/>
          <a:p>
            <a:pPr algn="l"/>
            <a:r>
              <a:rPr sz="1200" b="1" i="0">
                <a:solidFill>
                  <a:srgbClr val="16A34A"/>
                </a:solidFill>
                <a:latin typeface="Meiryo UI"/>
              </a:rPr>
              <a:t>税区分</a:t>
            </a:r>
          </a:p>
        </p:txBody>
      </p:sp>
      <p:sp>
        <p:nvSpPr>
          <p:cNvPr id="18" name="TextBox 17"/>
          <p:cNvSpPr txBox="1"/>
          <p:nvPr/>
        </p:nvSpPr>
        <p:spPr>
          <a:xfrm>
            <a:off x="3108960" y="2889504"/>
            <a:ext cx="8503920" cy="347472"/>
          </a:xfrm>
          <a:prstGeom prst="rect">
            <a:avLst/>
          </a:prstGeom>
          <a:noFill/>
        </p:spPr>
        <p:txBody>
          <a:bodyPr wrap="square">
            <a:spAutoFit/>
          </a:bodyPr>
          <a:lstStyle/>
          <a:p>
            <a:pPr algn="l"/>
            <a:r>
              <a:rPr sz="1100" b="0" i="0">
                <a:solidFill>
                  <a:srgbClr val="1F2937"/>
                </a:solidFill>
                <a:latin typeface="Meiryo UI"/>
              </a:rPr>
              <a:t>「10％」「軽8％」「非課税」「税込」</a:t>
            </a:r>
          </a:p>
        </p:txBody>
      </p:sp>
      <p:sp>
        <p:nvSpPr>
          <p:cNvPr id="19" name="Rectangle 18"/>
          <p:cNvSpPr/>
          <p:nvPr/>
        </p:nvSpPr>
        <p:spPr>
          <a:xfrm>
            <a:off x="365760" y="3255264"/>
            <a:ext cx="11430000" cy="402336"/>
          </a:xfrm>
          <a:prstGeom prst="rect">
            <a:avLst/>
          </a:prstGeom>
          <a:solidFill>
            <a:srgbClr val="DCFCE7"/>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291840"/>
            <a:ext cx="2560320" cy="347472"/>
          </a:xfrm>
          <a:prstGeom prst="rect">
            <a:avLst/>
          </a:prstGeom>
          <a:noFill/>
        </p:spPr>
        <p:txBody>
          <a:bodyPr wrap="square">
            <a:spAutoFit/>
          </a:bodyPr>
          <a:lstStyle/>
          <a:p>
            <a:pPr algn="l"/>
            <a:r>
              <a:rPr sz="1200" b="1" i="0">
                <a:solidFill>
                  <a:srgbClr val="16A34A"/>
                </a:solidFill>
                <a:latin typeface="Meiryo UI"/>
              </a:rPr>
              <a:t>税込金額</a:t>
            </a:r>
          </a:p>
        </p:txBody>
      </p:sp>
      <p:sp>
        <p:nvSpPr>
          <p:cNvPr id="21" name="TextBox 20"/>
          <p:cNvSpPr txBox="1"/>
          <p:nvPr/>
        </p:nvSpPr>
        <p:spPr>
          <a:xfrm>
            <a:off x="3108960" y="3291840"/>
            <a:ext cx="8503920" cy="347472"/>
          </a:xfrm>
          <a:prstGeom prst="rect">
            <a:avLst/>
          </a:prstGeom>
          <a:noFill/>
        </p:spPr>
        <p:txBody>
          <a:bodyPr wrap="square">
            <a:spAutoFit/>
          </a:bodyPr>
          <a:lstStyle/>
          <a:p>
            <a:pPr algn="l"/>
            <a:r>
              <a:rPr sz="1100" b="0" i="0">
                <a:solidFill>
                  <a:srgbClr val="1F2937"/>
                </a:solidFill>
                <a:latin typeface="Meiryo UI"/>
              </a:rPr>
              <a:t>単価 × 数量 + 消費税（自動計算）</a:t>
            </a:r>
          </a:p>
        </p:txBody>
      </p:sp>
      <p:sp>
        <p:nvSpPr>
          <p:cNvPr id="22" name="Rectangle 21"/>
          <p:cNvSpPr/>
          <p:nvPr/>
        </p:nvSpPr>
        <p:spPr>
          <a:xfrm>
            <a:off x="365760" y="3657600"/>
            <a:ext cx="11430000" cy="402336"/>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694176"/>
            <a:ext cx="2560320" cy="347472"/>
          </a:xfrm>
          <a:prstGeom prst="rect">
            <a:avLst/>
          </a:prstGeom>
          <a:noFill/>
        </p:spPr>
        <p:txBody>
          <a:bodyPr wrap="square">
            <a:spAutoFit/>
          </a:bodyPr>
          <a:lstStyle/>
          <a:p>
            <a:pPr algn="l"/>
            <a:r>
              <a:rPr sz="1200" b="1" i="0">
                <a:solidFill>
                  <a:srgbClr val="16A34A"/>
                </a:solidFill>
                <a:latin typeface="Meiryo UI"/>
              </a:rPr>
              <a:t>送料（税抜）</a:t>
            </a:r>
          </a:p>
        </p:txBody>
      </p:sp>
      <p:sp>
        <p:nvSpPr>
          <p:cNvPr id="24" name="TextBox 23"/>
          <p:cNvSpPr txBox="1"/>
          <p:nvPr/>
        </p:nvSpPr>
        <p:spPr>
          <a:xfrm>
            <a:off x="3108960" y="3694176"/>
            <a:ext cx="8503920" cy="347472"/>
          </a:xfrm>
          <a:prstGeom prst="rect">
            <a:avLst/>
          </a:prstGeom>
          <a:noFill/>
        </p:spPr>
        <p:txBody>
          <a:bodyPr wrap="square">
            <a:spAutoFit/>
          </a:bodyPr>
          <a:lstStyle/>
          <a:p>
            <a:pPr algn="l"/>
            <a:r>
              <a:rPr sz="1100" b="0" i="0">
                <a:solidFill>
                  <a:srgbClr val="1F2937"/>
                </a:solidFill>
                <a:latin typeface="Meiryo UI"/>
              </a:rPr>
              <a:t>配送料（税抜）。0円の場合は「-」</a:t>
            </a:r>
          </a:p>
        </p:txBody>
      </p:sp>
      <p:sp>
        <p:nvSpPr>
          <p:cNvPr id="25" name="Rectangle 24"/>
          <p:cNvSpPr/>
          <p:nvPr/>
        </p:nvSpPr>
        <p:spPr>
          <a:xfrm>
            <a:off x="365760" y="4059936"/>
            <a:ext cx="11430000" cy="402336"/>
          </a:xfrm>
          <a:prstGeom prst="rect">
            <a:avLst/>
          </a:prstGeom>
          <a:solidFill>
            <a:srgbClr val="DCFCE7"/>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096512"/>
            <a:ext cx="2560320" cy="347472"/>
          </a:xfrm>
          <a:prstGeom prst="rect">
            <a:avLst/>
          </a:prstGeom>
          <a:noFill/>
        </p:spPr>
        <p:txBody>
          <a:bodyPr wrap="square">
            <a:spAutoFit/>
          </a:bodyPr>
          <a:lstStyle/>
          <a:p>
            <a:pPr algn="l"/>
            <a:r>
              <a:rPr sz="1200" b="1" i="0">
                <a:solidFill>
                  <a:srgbClr val="16A34A"/>
                </a:solidFill>
                <a:latin typeface="Meiryo UI"/>
              </a:rPr>
              <a:t>送料消費税</a:t>
            </a:r>
          </a:p>
        </p:txBody>
      </p:sp>
      <p:sp>
        <p:nvSpPr>
          <p:cNvPr id="27" name="TextBox 26"/>
          <p:cNvSpPr txBox="1"/>
          <p:nvPr/>
        </p:nvSpPr>
        <p:spPr>
          <a:xfrm>
            <a:off x="3108960" y="4096512"/>
            <a:ext cx="8503920" cy="347472"/>
          </a:xfrm>
          <a:prstGeom prst="rect">
            <a:avLst/>
          </a:prstGeom>
          <a:noFill/>
        </p:spPr>
        <p:txBody>
          <a:bodyPr wrap="square">
            <a:spAutoFit/>
          </a:bodyPr>
          <a:lstStyle/>
          <a:p>
            <a:pPr algn="l"/>
            <a:r>
              <a:rPr sz="1100" b="0" i="0">
                <a:solidFill>
                  <a:srgbClr val="1F2937"/>
                </a:solidFill>
                <a:latin typeface="Meiryo UI"/>
              </a:rPr>
              <a:t>送料 × 10%（自動計算）</a:t>
            </a:r>
          </a:p>
        </p:txBody>
      </p:sp>
      <p:sp>
        <p:nvSpPr>
          <p:cNvPr id="28" name="Rectangle 27"/>
          <p:cNvSpPr/>
          <p:nvPr/>
        </p:nvSpPr>
        <p:spPr>
          <a:xfrm>
            <a:off x="365760" y="4462272"/>
            <a:ext cx="11430000" cy="402336"/>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498848"/>
            <a:ext cx="2560320" cy="347472"/>
          </a:xfrm>
          <a:prstGeom prst="rect">
            <a:avLst/>
          </a:prstGeom>
          <a:noFill/>
        </p:spPr>
        <p:txBody>
          <a:bodyPr wrap="square">
            <a:spAutoFit/>
          </a:bodyPr>
          <a:lstStyle/>
          <a:p>
            <a:pPr algn="l"/>
            <a:r>
              <a:rPr sz="1200" b="1" i="0">
                <a:solidFill>
                  <a:srgbClr val="16A34A"/>
                </a:solidFill>
                <a:latin typeface="Meiryo UI"/>
              </a:rPr>
              <a:t>総計</a:t>
            </a:r>
          </a:p>
        </p:txBody>
      </p:sp>
      <p:sp>
        <p:nvSpPr>
          <p:cNvPr id="30" name="TextBox 29"/>
          <p:cNvSpPr txBox="1"/>
          <p:nvPr/>
        </p:nvSpPr>
        <p:spPr>
          <a:xfrm>
            <a:off x="3108960" y="4498848"/>
            <a:ext cx="8503920" cy="347472"/>
          </a:xfrm>
          <a:prstGeom prst="rect">
            <a:avLst/>
          </a:prstGeom>
          <a:noFill/>
        </p:spPr>
        <p:txBody>
          <a:bodyPr wrap="square">
            <a:spAutoFit/>
          </a:bodyPr>
          <a:lstStyle/>
          <a:p>
            <a:pPr algn="l"/>
            <a:r>
              <a:rPr sz="1100" b="0" i="0">
                <a:solidFill>
                  <a:srgbClr val="1F2937"/>
                </a:solidFill>
                <a:latin typeface="Meiryo UI"/>
              </a:rPr>
              <a:t>税込金額 + 送料（税抜）+ 送料消費税 + 調整額</a:t>
            </a:r>
          </a:p>
        </p:txBody>
      </p:sp>
      <p:sp>
        <p:nvSpPr>
          <p:cNvPr id="31" name="Rectangle 30"/>
          <p:cNvSpPr/>
          <p:nvPr/>
        </p:nvSpPr>
        <p:spPr>
          <a:xfrm>
            <a:off x="365760" y="4864608"/>
            <a:ext cx="11430000" cy="402336"/>
          </a:xfrm>
          <a:prstGeom prst="rect">
            <a:avLst/>
          </a:prstGeom>
          <a:solidFill>
            <a:srgbClr val="DCFCE7"/>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901184"/>
            <a:ext cx="2560320" cy="347472"/>
          </a:xfrm>
          <a:prstGeom prst="rect">
            <a:avLst/>
          </a:prstGeom>
          <a:noFill/>
        </p:spPr>
        <p:txBody>
          <a:bodyPr wrap="square">
            <a:spAutoFit/>
          </a:bodyPr>
          <a:lstStyle/>
          <a:p>
            <a:pPr algn="l"/>
            <a:r>
              <a:rPr sz="1200" b="1" i="0">
                <a:solidFill>
                  <a:srgbClr val="16A34A"/>
                </a:solidFill>
                <a:latin typeface="Meiryo UI"/>
              </a:rPr>
              <a:t>受注日</a:t>
            </a:r>
          </a:p>
        </p:txBody>
      </p:sp>
      <p:sp>
        <p:nvSpPr>
          <p:cNvPr id="33" name="TextBox 32"/>
          <p:cNvSpPr txBox="1"/>
          <p:nvPr/>
        </p:nvSpPr>
        <p:spPr>
          <a:xfrm>
            <a:off x="3108960" y="4901184"/>
            <a:ext cx="8503920" cy="347472"/>
          </a:xfrm>
          <a:prstGeom prst="rect">
            <a:avLst/>
          </a:prstGeom>
          <a:noFill/>
        </p:spPr>
        <p:txBody>
          <a:bodyPr wrap="square">
            <a:spAutoFit/>
          </a:bodyPr>
          <a:lstStyle/>
          <a:p>
            <a:pPr algn="l"/>
            <a:r>
              <a:rPr sz="1100" b="0" i="0">
                <a:solidFill>
                  <a:srgbClr val="1F2937"/>
                </a:solidFill>
                <a:latin typeface="Meiryo UI"/>
              </a:rPr>
              <a:t>注文を受けた日付</a:t>
            </a:r>
          </a:p>
        </p:txBody>
      </p:sp>
      <p:sp>
        <p:nvSpPr>
          <p:cNvPr id="34" name="Rectangle 33"/>
          <p:cNvSpPr/>
          <p:nvPr/>
        </p:nvSpPr>
        <p:spPr>
          <a:xfrm>
            <a:off x="365760" y="5266944"/>
            <a:ext cx="11430000" cy="402336"/>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5303520"/>
            <a:ext cx="2560320" cy="347472"/>
          </a:xfrm>
          <a:prstGeom prst="rect">
            <a:avLst/>
          </a:prstGeom>
          <a:noFill/>
        </p:spPr>
        <p:txBody>
          <a:bodyPr wrap="square">
            <a:spAutoFit/>
          </a:bodyPr>
          <a:lstStyle/>
          <a:p>
            <a:pPr algn="l"/>
            <a:r>
              <a:rPr sz="1200" b="1" i="0">
                <a:solidFill>
                  <a:srgbClr val="16A34A"/>
                </a:solidFill>
                <a:latin typeface="Meiryo UI"/>
              </a:rPr>
              <a:t>納品日</a:t>
            </a:r>
          </a:p>
        </p:txBody>
      </p:sp>
      <p:sp>
        <p:nvSpPr>
          <p:cNvPr id="36" name="TextBox 35"/>
          <p:cNvSpPr txBox="1"/>
          <p:nvPr/>
        </p:nvSpPr>
        <p:spPr>
          <a:xfrm>
            <a:off x="3108960" y="5303520"/>
            <a:ext cx="8503920" cy="347472"/>
          </a:xfrm>
          <a:prstGeom prst="rect">
            <a:avLst/>
          </a:prstGeom>
          <a:noFill/>
        </p:spPr>
        <p:txBody>
          <a:bodyPr wrap="square">
            <a:spAutoFit/>
          </a:bodyPr>
          <a:lstStyle/>
          <a:p>
            <a:pPr algn="l"/>
            <a:r>
              <a:rPr sz="1100" b="0" i="0">
                <a:solidFill>
                  <a:srgbClr val="1F2937"/>
                </a:solidFill>
                <a:latin typeface="Meiryo UI"/>
              </a:rPr>
              <a:t>商品を届けた日付。月次売上の基準日</a:t>
            </a:r>
          </a:p>
        </p:txBody>
      </p:sp>
      <p:sp>
        <p:nvSpPr>
          <p:cNvPr id="37" name="Rectangle 36"/>
          <p:cNvSpPr/>
          <p:nvPr/>
        </p:nvSpPr>
        <p:spPr>
          <a:xfrm>
            <a:off x="365760" y="5669280"/>
            <a:ext cx="11430000" cy="402336"/>
          </a:xfrm>
          <a:prstGeom prst="rect">
            <a:avLst/>
          </a:prstGeom>
          <a:solidFill>
            <a:srgbClr val="DCFCE7"/>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5705856"/>
            <a:ext cx="2560320" cy="347472"/>
          </a:xfrm>
          <a:prstGeom prst="rect">
            <a:avLst/>
          </a:prstGeom>
          <a:noFill/>
        </p:spPr>
        <p:txBody>
          <a:bodyPr wrap="square">
            <a:spAutoFit/>
          </a:bodyPr>
          <a:lstStyle/>
          <a:p>
            <a:pPr algn="l"/>
            <a:r>
              <a:rPr sz="1200" b="1" i="0">
                <a:solidFill>
                  <a:srgbClr val="16A34A"/>
                </a:solidFill>
                <a:latin typeface="Meiryo UI"/>
              </a:rPr>
              <a:t>支払方法</a:t>
            </a:r>
          </a:p>
        </p:txBody>
      </p:sp>
      <p:sp>
        <p:nvSpPr>
          <p:cNvPr id="39" name="TextBox 38"/>
          <p:cNvSpPr txBox="1"/>
          <p:nvPr/>
        </p:nvSpPr>
        <p:spPr>
          <a:xfrm>
            <a:off x="3108960" y="5705856"/>
            <a:ext cx="8503920" cy="347472"/>
          </a:xfrm>
          <a:prstGeom prst="rect">
            <a:avLst/>
          </a:prstGeom>
          <a:noFill/>
        </p:spPr>
        <p:txBody>
          <a:bodyPr wrap="square">
            <a:spAutoFit/>
          </a:bodyPr>
          <a:lstStyle/>
          <a:p>
            <a:pPr algn="l"/>
            <a:r>
              <a:rPr sz="1100" b="0" i="0">
                <a:solidFill>
                  <a:srgbClr val="1F2937"/>
                </a:solidFill>
                <a:latin typeface="Meiryo UI"/>
              </a:rPr>
              <a:t>現金・振込・クレジットなど</a:t>
            </a:r>
          </a:p>
        </p:txBody>
      </p:sp>
      <p:sp>
        <p:nvSpPr>
          <p:cNvPr id="40" name="Rectangle 39"/>
          <p:cNvSpPr/>
          <p:nvPr/>
        </p:nvSpPr>
        <p:spPr>
          <a:xfrm>
            <a:off x="365760" y="6071616"/>
            <a:ext cx="11430000" cy="402336"/>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6108192"/>
            <a:ext cx="2560320" cy="347472"/>
          </a:xfrm>
          <a:prstGeom prst="rect">
            <a:avLst/>
          </a:prstGeom>
          <a:noFill/>
        </p:spPr>
        <p:txBody>
          <a:bodyPr wrap="square">
            <a:spAutoFit/>
          </a:bodyPr>
          <a:lstStyle/>
          <a:p>
            <a:pPr algn="l"/>
            <a:r>
              <a:rPr sz="1200" b="1" i="0">
                <a:solidFill>
                  <a:srgbClr val="16A34A"/>
                </a:solidFill>
                <a:latin typeface="Meiryo UI"/>
              </a:rPr>
              <a:t>申請</a:t>
            </a:r>
          </a:p>
        </p:txBody>
      </p:sp>
      <p:sp>
        <p:nvSpPr>
          <p:cNvPr id="42" name="TextBox 41"/>
          <p:cNvSpPr txBox="1"/>
          <p:nvPr/>
        </p:nvSpPr>
        <p:spPr>
          <a:xfrm>
            <a:off x="3108960" y="6108192"/>
            <a:ext cx="8503920" cy="347472"/>
          </a:xfrm>
          <a:prstGeom prst="rect">
            <a:avLst/>
          </a:prstGeom>
          <a:noFill/>
        </p:spPr>
        <p:txBody>
          <a:bodyPr wrap="square">
            <a:spAutoFit/>
          </a:bodyPr>
          <a:lstStyle/>
          <a:p>
            <a:pPr algn="l"/>
            <a:r>
              <a:rPr sz="1100" b="0" i="0">
                <a:solidFill>
                  <a:srgbClr val="1F2937"/>
                </a:solidFill>
                <a:latin typeface="Meiryo UI"/>
              </a:rPr>
              <a:t>福祉用具購入費の申請先市区町村（あり/なし）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square">
            <a:spAutoFit/>
          </a:bodyPr>
          <a:lstStyle/>
          <a:p>
            <a:pPr algn="l"/>
            <a:r>
              <a:rPr sz="2600" b="1" i="0">
                <a:solidFill>
                  <a:srgbClr val="FFFFFF"/>
                </a:solidFill>
                <a:latin typeface="Meiryo UI"/>
              </a:rPr>
              <a:t>金額の自動計算ロジック</a:t>
            </a:r>
          </a:p>
        </p:txBody>
      </p:sp>
      <p:sp>
        <p:nvSpPr>
          <p:cNvPr id="4" name="Rectangle 3"/>
          <p:cNvSpPr/>
          <p:nvPr/>
        </p:nvSpPr>
        <p:spPr>
          <a:xfrm>
            <a:off x="0" y="1005840"/>
            <a:ext cx="12188952" cy="58521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5394960" cy="5394960"/>
          </a:xfrm>
          <a:prstGeom prst="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07008"/>
            <a:ext cx="5120640" cy="411480"/>
          </a:xfrm>
          <a:prstGeom prst="rect">
            <a:avLst/>
          </a:prstGeom>
          <a:noFill/>
        </p:spPr>
        <p:txBody>
          <a:bodyPr wrap="square">
            <a:spAutoFit/>
          </a:bodyPr>
          <a:lstStyle/>
          <a:p>
            <a:pPr algn="l"/>
            <a:r>
              <a:rPr sz="1400" b="1" i="0">
                <a:solidFill>
                  <a:srgbClr val="7C3AED"/>
                </a:solidFill>
                <a:latin typeface="Meiryo UI"/>
              </a:rPr>
              <a:t>💰 自費レンタル — 税込金額</a:t>
            </a:r>
          </a:p>
        </p:txBody>
      </p:sp>
      <p:sp>
        <p:nvSpPr>
          <p:cNvPr id="7" name="Rectangle 6"/>
          <p:cNvSpPr/>
          <p:nvPr/>
        </p:nvSpPr>
        <p:spPr>
          <a:xfrm>
            <a:off x="457200" y="1719072"/>
            <a:ext cx="438912" cy="43891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64792"/>
            <a:ext cx="438912" cy="365760"/>
          </a:xfrm>
          <a:prstGeom prst="rect">
            <a:avLst/>
          </a:prstGeom>
          <a:noFill/>
        </p:spPr>
        <p:txBody>
          <a:bodyPr wrap="square">
            <a:spAutoFit/>
          </a:bodyPr>
          <a:lstStyle/>
          <a:p>
            <a:pPr algn="ctr"/>
            <a:r>
              <a:rPr sz="1400" b="1" i="0">
                <a:solidFill>
                  <a:srgbClr val="FFFFFF"/>
                </a:solidFill>
                <a:latin typeface="Meiryo UI"/>
              </a:rPr>
              <a:t>①</a:t>
            </a:r>
          </a:p>
        </p:txBody>
      </p:sp>
      <p:sp>
        <p:nvSpPr>
          <p:cNvPr id="9" name="TextBox 8"/>
          <p:cNvSpPr txBox="1"/>
          <p:nvPr/>
        </p:nvSpPr>
        <p:spPr>
          <a:xfrm>
            <a:off x="1005840" y="1719072"/>
            <a:ext cx="4389120" cy="384048"/>
          </a:xfrm>
          <a:prstGeom prst="rect">
            <a:avLst/>
          </a:prstGeom>
          <a:noFill/>
        </p:spPr>
        <p:txBody>
          <a:bodyPr wrap="square">
            <a:spAutoFit/>
          </a:bodyPr>
          <a:lstStyle/>
          <a:p>
            <a:pPr algn="l"/>
            <a:r>
              <a:rPr sz="1300" b="1" i="0">
                <a:solidFill>
                  <a:srgbClr val="1F2937"/>
                </a:solidFill>
                <a:latin typeface="Meiryo UI"/>
              </a:rPr>
              <a:t>小計</a:t>
            </a:r>
          </a:p>
        </p:txBody>
      </p:sp>
      <p:sp>
        <p:nvSpPr>
          <p:cNvPr id="10" name="TextBox 9"/>
          <p:cNvSpPr txBox="1"/>
          <p:nvPr/>
        </p:nvSpPr>
        <p:spPr>
          <a:xfrm>
            <a:off x="1005840" y="2121408"/>
            <a:ext cx="4389120" cy="914400"/>
          </a:xfrm>
          <a:prstGeom prst="rect">
            <a:avLst/>
          </a:prstGeom>
          <a:noFill/>
        </p:spPr>
        <p:txBody>
          <a:bodyPr wrap="square">
            <a:spAutoFit/>
          </a:bodyPr>
          <a:lstStyle/>
          <a:p>
            <a:pPr algn="l"/>
            <a:r>
              <a:rPr sz="1100" b="0" i="0">
                <a:solidFill>
                  <a:srgbClr val="6B7280"/>
                </a:solidFill>
                <a:latin typeface="Meiryo UI"/>
              </a:rPr>
              <a:t>月額（税抜）× 数量</a:t>
            </a:r>
          </a:p>
        </p:txBody>
      </p:sp>
      <p:sp>
        <p:nvSpPr>
          <p:cNvPr id="11" name="Rectangle 10"/>
          <p:cNvSpPr/>
          <p:nvPr/>
        </p:nvSpPr>
        <p:spPr>
          <a:xfrm>
            <a:off x="457200" y="3182112"/>
            <a:ext cx="438912" cy="43891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27832"/>
            <a:ext cx="438912" cy="365760"/>
          </a:xfrm>
          <a:prstGeom prst="rect">
            <a:avLst/>
          </a:prstGeom>
          <a:noFill/>
        </p:spPr>
        <p:txBody>
          <a:bodyPr wrap="square">
            <a:spAutoFit/>
          </a:bodyPr>
          <a:lstStyle/>
          <a:p>
            <a:pPr algn="ctr"/>
            <a:r>
              <a:rPr sz="1400" b="1" i="0">
                <a:solidFill>
                  <a:srgbClr val="FFFFFF"/>
                </a:solidFill>
                <a:latin typeface="Meiryo UI"/>
              </a:rPr>
              <a:t>②</a:t>
            </a:r>
          </a:p>
        </p:txBody>
      </p:sp>
      <p:sp>
        <p:nvSpPr>
          <p:cNvPr id="13" name="TextBox 12"/>
          <p:cNvSpPr txBox="1"/>
          <p:nvPr/>
        </p:nvSpPr>
        <p:spPr>
          <a:xfrm>
            <a:off x="1005840" y="3182112"/>
            <a:ext cx="4389120" cy="384048"/>
          </a:xfrm>
          <a:prstGeom prst="rect">
            <a:avLst/>
          </a:prstGeom>
          <a:noFill/>
        </p:spPr>
        <p:txBody>
          <a:bodyPr wrap="square">
            <a:spAutoFit/>
          </a:bodyPr>
          <a:lstStyle/>
          <a:p>
            <a:pPr algn="l"/>
            <a:r>
              <a:rPr sz="1300" b="1" i="0">
                <a:solidFill>
                  <a:srgbClr val="1F2937"/>
                </a:solidFill>
                <a:latin typeface="Meiryo UI"/>
              </a:rPr>
              <a:t>消費税</a:t>
            </a:r>
          </a:p>
        </p:txBody>
      </p:sp>
      <p:sp>
        <p:nvSpPr>
          <p:cNvPr id="14" name="TextBox 13"/>
          <p:cNvSpPr txBox="1"/>
          <p:nvPr/>
        </p:nvSpPr>
        <p:spPr>
          <a:xfrm>
            <a:off x="1005840" y="3584448"/>
            <a:ext cx="4389120" cy="914400"/>
          </a:xfrm>
          <a:prstGeom prst="rect">
            <a:avLst/>
          </a:prstGeom>
          <a:noFill/>
        </p:spPr>
        <p:txBody>
          <a:bodyPr wrap="square">
            <a:spAutoFit/>
          </a:bodyPr>
          <a:lstStyle/>
          <a:p>
            <a:pPr algn="l"/>
            <a:r>
              <a:rPr sz="1100" b="0" i="0">
                <a:solidFill>
                  <a:srgbClr val="6B7280"/>
                </a:solidFill>
                <a:latin typeface="Meiryo UI"/>
              </a:rPr>
              <a:t>10% の場合: 小計 × 0.10（四捨五入）
8% の場合:  小計 × 0.08（四捨五入）
非課税:      0</a:t>
            </a:r>
          </a:p>
        </p:txBody>
      </p:sp>
      <p:sp>
        <p:nvSpPr>
          <p:cNvPr id="15" name="Rectangle 14"/>
          <p:cNvSpPr/>
          <p:nvPr/>
        </p:nvSpPr>
        <p:spPr>
          <a:xfrm>
            <a:off x="457200" y="4645152"/>
            <a:ext cx="438912" cy="43891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690872"/>
            <a:ext cx="438912" cy="365760"/>
          </a:xfrm>
          <a:prstGeom prst="rect">
            <a:avLst/>
          </a:prstGeom>
          <a:noFill/>
        </p:spPr>
        <p:txBody>
          <a:bodyPr wrap="square">
            <a:spAutoFit/>
          </a:bodyPr>
          <a:lstStyle/>
          <a:p>
            <a:pPr algn="ctr"/>
            <a:r>
              <a:rPr sz="1400" b="1" i="0">
                <a:solidFill>
                  <a:srgbClr val="FFFFFF"/>
                </a:solidFill>
                <a:latin typeface="Meiryo UI"/>
              </a:rPr>
              <a:t>③</a:t>
            </a:r>
          </a:p>
        </p:txBody>
      </p:sp>
      <p:sp>
        <p:nvSpPr>
          <p:cNvPr id="17" name="TextBox 16"/>
          <p:cNvSpPr txBox="1"/>
          <p:nvPr/>
        </p:nvSpPr>
        <p:spPr>
          <a:xfrm>
            <a:off x="1005840" y="4645152"/>
            <a:ext cx="4389120" cy="384048"/>
          </a:xfrm>
          <a:prstGeom prst="rect">
            <a:avLst/>
          </a:prstGeom>
          <a:noFill/>
        </p:spPr>
        <p:txBody>
          <a:bodyPr wrap="square">
            <a:spAutoFit/>
          </a:bodyPr>
          <a:lstStyle/>
          <a:p>
            <a:pPr algn="l"/>
            <a:r>
              <a:rPr sz="1300" b="1" i="0">
                <a:solidFill>
                  <a:srgbClr val="1F2937"/>
                </a:solidFill>
                <a:latin typeface="Meiryo UI"/>
              </a:rPr>
              <a:t>税込金額</a:t>
            </a:r>
          </a:p>
        </p:txBody>
      </p:sp>
      <p:sp>
        <p:nvSpPr>
          <p:cNvPr id="18" name="TextBox 17"/>
          <p:cNvSpPr txBox="1"/>
          <p:nvPr/>
        </p:nvSpPr>
        <p:spPr>
          <a:xfrm>
            <a:off x="1005840" y="5047488"/>
            <a:ext cx="4389120" cy="914400"/>
          </a:xfrm>
          <a:prstGeom prst="rect">
            <a:avLst/>
          </a:prstGeom>
          <a:noFill/>
        </p:spPr>
        <p:txBody>
          <a:bodyPr wrap="square">
            <a:spAutoFit/>
          </a:bodyPr>
          <a:lstStyle/>
          <a:p>
            <a:pPr algn="l"/>
            <a:r>
              <a:rPr sz="1100" b="0" i="0">
                <a:solidFill>
                  <a:srgbClr val="6B7280"/>
                </a:solidFill>
                <a:latin typeface="Meiryo UI"/>
              </a:rPr>
              <a:t>小計 + 消費税</a:t>
            </a:r>
          </a:p>
        </p:txBody>
      </p:sp>
      <p:sp>
        <p:nvSpPr>
          <p:cNvPr id="19" name="Rectangle 18"/>
          <p:cNvSpPr/>
          <p:nvPr/>
        </p:nvSpPr>
        <p:spPr>
          <a:xfrm>
            <a:off x="6126480" y="1143000"/>
            <a:ext cx="5669280" cy="5394960"/>
          </a:xfrm>
          <a:prstGeom prst="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207008"/>
            <a:ext cx="5394960" cy="411480"/>
          </a:xfrm>
          <a:prstGeom prst="rect">
            <a:avLst/>
          </a:prstGeom>
          <a:noFill/>
        </p:spPr>
        <p:txBody>
          <a:bodyPr wrap="square">
            <a:spAutoFit/>
          </a:bodyPr>
          <a:lstStyle/>
          <a:p>
            <a:pPr algn="l"/>
            <a:r>
              <a:rPr sz="1400" b="1" i="0">
                <a:solidFill>
                  <a:srgbClr val="16A34A"/>
                </a:solidFill>
                <a:latin typeface="Meiryo UI"/>
              </a:rPr>
              <a:t>🛒 販売 — 総計の計算式</a:t>
            </a:r>
          </a:p>
        </p:txBody>
      </p:sp>
      <p:sp>
        <p:nvSpPr>
          <p:cNvPr id="21" name="Rectangle 20"/>
          <p:cNvSpPr/>
          <p:nvPr/>
        </p:nvSpPr>
        <p:spPr>
          <a:xfrm>
            <a:off x="6217920" y="1719072"/>
            <a:ext cx="402336" cy="40233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1755648"/>
            <a:ext cx="402336" cy="347472"/>
          </a:xfrm>
          <a:prstGeom prst="rect">
            <a:avLst/>
          </a:prstGeom>
          <a:noFill/>
        </p:spPr>
        <p:txBody>
          <a:bodyPr wrap="square">
            <a:spAutoFit/>
          </a:bodyPr>
          <a:lstStyle/>
          <a:p>
            <a:pPr algn="ctr"/>
            <a:r>
              <a:rPr sz="1300" b="1" i="0">
                <a:solidFill>
                  <a:srgbClr val="FFFFFF"/>
                </a:solidFill>
                <a:latin typeface="Meiryo UI"/>
              </a:rPr>
              <a:t>①</a:t>
            </a:r>
          </a:p>
        </p:txBody>
      </p:sp>
      <p:sp>
        <p:nvSpPr>
          <p:cNvPr id="23" name="TextBox 22"/>
          <p:cNvSpPr txBox="1"/>
          <p:nvPr/>
        </p:nvSpPr>
        <p:spPr>
          <a:xfrm>
            <a:off x="6720840" y="1719072"/>
            <a:ext cx="4937760" cy="347472"/>
          </a:xfrm>
          <a:prstGeom prst="rect">
            <a:avLst/>
          </a:prstGeom>
          <a:noFill/>
        </p:spPr>
        <p:txBody>
          <a:bodyPr wrap="square">
            <a:spAutoFit/>
          </a:bodyPr>
          <a:lstStyle/>
          <a:p>
            <a:pPr algn="l"/>
            <a:r>
              <a:rPr sz="1300" b="1" i="0">
                <a:solidFill>
                  <a:srgbClr val="1F2937"/>
                </a:solidFill>
                <a:latin typeface="Meiryo UI"/>
              </a:rPr>
              <a:t>小計</a:t>
            </a:r>
          </a:p>
        </p:txBody>
      </p:sp>
      <p:sp>
        <p:nvSpPr>
          <p:cNvPr id="24" name="TextBox 23"/>
          <p:cNvSpPr txBox="1"/>
          <p:nvPr/>
        </p:nvSpPr>
        <p:spPr>
          <a:xfrm>
            <a:off x="6720840" y="2084832"/>
            <a:ext cx="4937760" cy="502920"/>
          </a:xfrm>
          <a:prstGeom prst="rect">
            <a:avLst/>
          </a:prstGeom>
          <a:noFill/>
        </p:spPr>
        <p:txBody>
          <a:bodyPr wrap="square">
            <a:spAutoFit/>
          </a:bodyPr>
          <a:lstStyle/>
          <a:p>
            <a:pPr algn="l"/>
            <a:r>
              <a:rPr sz="1100" b="0" i="0">
                <a:solidFill>
                  <a:srgbClr val="6B7280"/>
                </a:solidFill>
                <a:latin typeface="Meiryo UI"/>
              </a:rPr>
              <a:t>単価（税抜）× 数量</a:t>
            </a:r>
          </a:p>
        </p:txBody>
      </p:sp>
      <p:sp>
        <p:nvSpPr>
          <p:cNvPr id="25" name="Rectangle 24"/>
          <p:cNvSpPr/>
          <p:nvPr/>
        </p:nvSpPr>
        <p:spPr>
          <a:xfrm>
            <a:off x="6217920" y="2633472"/>
            <a:ext cx="402336" cy="40233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2670048"/>
            <a:ext cx="402336" cy="347472"/>
          </a:xfrm>
          <a:prstGeom prst="rect">
            <a:avLst/>
          </a:prstGeom>
          <a:noFill/>
        </p:spPr>
        <p:txBody>
          <a:bodyPr wrap="square">
            <a:spAutoFit/>
          </a:bodyPr>
          <a:lstStyle/>
          <a:p>
            <a:pPr algn="ctr"/>
            <a:r>
              <a:rPr sz="1300" b="1" i="0">
                <a:solidFill>
                  <a:srgbClr val="FFFFFF"/>
                </a:solidFill>
                <a:latin typeface="Meiryo UI"/>
              </a:rPr>
              <a:t>②</a:t>
            </a:r>
          </a:p>
        </p:txBody>
      </p:sp>
      <p:sp>
        <p:nvSpPr>
          <p:cNvPr id="27" name="TextBox 26"/>
          <p:cNvSpPr txBox="1"/>
          <p:nvPr/>
        </p:nvSpPr>
        <p:spPr>
          <a:xfrm>
            <a:off x="6720840" y="2633472"/>
            <a:ext cx="4937760" cy="347472"/>
          </a:xfrm>
          <a:prstGeom prst="rect">
            <a:avLst/>
          </a:prstGeom>
          <a:noFill/>
        </p:spPr>
        <p:txBody>
          <a:bodyPr wrap="square">
            <a:spAutoFit/>
          </a:bodyPr>
          <a:lstStyle/>
          <a:p>
            <a:pPr algn="l"/>
            <a:r>
              <a:rPr sz="1300" b="1" i="0">
                <a:solidFill>
                  <a:srgbClr val="1F2937"/>
                </a:solidFill>
                <a:latin typeface="Meiryo UI"/>
              </a:rPr>
              <a:t>消費税</a:t>
            </a:r>
          </a:p>
        </p:txBody>
      </p:sp>
      <p:sp>
        <p:nvSpPr>
          <p:cNvPr id="28" name="TextBox 27"/>
          <p:cNvSpPr txBox="1"/>
          <p:nvPr/>
        </p:nvSpPr>
        <p:spPr>
          <a:xfrm>
            <a:off x="6720840" y="2999232"/>
            <a:ext cx="4937760" cy="502920"/>
          </a:xfrm>
          <a:prstGeom prst="rect">
            <a:avLst/>
          </a:prstGeom>
          <a:noFill/>
        </p:spPr>
        <p:txBody>
          <a:bodyPr wrap="square">
            <a:spAutoFit/>
          </a:bodyPr>
          <a:lstStyle/>
          <a:p>
            <a:pPr algn="l"/>
            <a:r>
              <a:rPr sz="1100" b="0" i="0">
                <a:solidFill>
                  <a:srgbClr val="6B7280"/>
                </a:solidFill>
                <a:latin typeface="Meiryo UI"/>
              </a:rPr>
              <a:t>小計 × 税率（四捨五入）
※「税込」区分は 0</a:t>
            </a:r>
          </a:p>
        </p:txBody>
      </p:sp>
      <p:sp>
        <p:nvSpPr>
          <p:cNvPr id="29" name="Rectangle 28"/>
          <p:cNvSpPr/>
          <p:nvPr/>
        </p:nvSpPr>
        <p:spPr>
          <a:xfrm>
            <a:off x="6217920" y="3547872"/>
            <a:ext cx="402336" cy="40233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3584448"/>
            <a:ext cx="402336" cy="347472"/>
          </a:xfrm>
          <a:prstGeom prst="rect">
            <a:avLst/>
          </a:prstGeom>
          <a:noFill/>
        </p:spPr>
        <p:txBody>
          <a:bodyPr wrap="square">
            <a:spAutoFit/>
          </a:bodyPr>
          <a:lstStyle/>
          <a:p>
            <a:pPr algn="ctr"/>
            <a:r>
              <a:rPr sz="1300" b="1" i="0">
                <a:solidFill>
                  <a:srgbClr val="FFFFFF"/>
                </a:solidFill>
                <a:latin typeface="Meiryo UI"/>
              </a:rPr>
              <a:t>③</a:t>
            </a:r>
          </a:p>
        </p:txBody>
      </p:sp>
      <p:sp>
        <p:nvSpPr>
          <p:cNvPr id="31" name="TextBox 30"/>
          <p:cNvSpPr txBox="1"/>
          <p:nvPr/>
        </p:nvSpPr>
        <p:spPr>
          <a:xfrm>
            <a:off x="6720840" y="3547872"/>
            <a:ext cx="4937760" cy="347472"/>
          </a:xfrm>
          <a:prstGeom prst="rect">
            <a:avLst/>
          </a:prstGeom>
          <a:noFill/>
        </p:spPr>
        <p:txBody>
          <a:bodyPr wrap="square">
            <a:spAutoFit/>
          </a:bodyPr>
          <a:lstStyle/>
          <a:p>
            <a:pPr algn="l"/>
            <a:r>
              <a:rPr sz="1300" b="1" i="0">
                <a:solidFill>
                  <a:srgbClr val="1F2937"/>
                </a:solidFill>
                <a:latin typeface="Meiryo UI"/>
              </a:rPr>
              <a:t>税込金額</a:t>
            </a:r>
          </a:p>
        </p:txBody>
      </p:sp>
      <p:sp>
        <p:nvSpPr>
          <p:cNvPr id="32" name="TextBox 31"/>
          <p:cNvSpPr txBox="1"/>
          <p:nvPr/>
        </p:nvSpPr>
        <p:spPr>
          <a:xfrm>
            <a:off x="6720840" y="3913632"/>
            <a:ext cx="4937760" cy="502920"/>
          </a:xfrm>
          <a:prstGeom prst="rect">
            <a:avLst/>
          </a:prstGeom>
          <a:noFill/>
        </p:spPr>
        <p:txBody>
          <a:bodyPr wrap="square">
            <a:spAutoFit/>
          </a:bodyPr>
          <a:lstStyle/>
          <a:p>
            <a:pPr algn="l"/>
            <a:r>
              <a:rPr sz="1100" b="0" i="0">
                <a:solidFill>
                  <a:srgbClr val="6B7280"/>
                </a:solidFill>
                <a:latin typeface="Meiryo UI"/>
              </a:rPr>
              <a:t>小計 + 消費税</a:t>
            </a:r>
          </a:p>
        </p:txBody>
      </p:sp>
      <p:sp>
        <p:nvSpPr>
          <p:cNvPr id="33" name="Rectangle 32"/>
          <p:cNvSpPr/>
          <p:nvPr/>
        </p:nvSpPr>
        <p:spPr>
          <a:xfrm>
            <a:off x="6217920" y="4462272"/>
            <a:ext cx="402336" cy="40233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0" y="4498848"/>
            <a:ext cx="402336" cy="347472"/>
          </a:xfrm>
          <a:prstGeom prst="rect">
            <a:avLst/>
          </a:prstGeom>
          <a:noFill/>
        </p:spPr>
        <p:txBody>
          <a:bodyPr wrap="square">
            <a:spAutoFit/>
          </a:bodyPr>
          <a:lstStyle/>
          <a:p>
            <a:pPr algn="ctr"/>
            <a:r>
              <a:rPr sz="1300" b="1" i="0">
                <a:solidFill>
                  <a:srgbClr val="FFFFFF"/>
                </a:solidFill>
                <a:latin typeface="Meiryo UI"/>
              </a:rPr>
              <a:t>④</a:t>
            </a:r>
          </a:p>
        </p:txBody>
      </p:sp>
      <p:sp>
        <p:nvSpPr>
          <p:cNvPr id="35" name="TextBox 34"/>
          <p:cNvSpPr txBox="1"/>
          <p:nvPr/>
        </p:nvSpPr>
        <p:spPr>
          <a:xfrm>
            <a:off x="6720840" y="4462272"/>
            <a:ext cx="4937760" cy="347472"/>
          </a:xfrm>
          <a:prstGeom prst="rect">
            <a:avLst/>
          </a:prstGeom>
          <a:noFill/>
        </p:spPr>
        <p:txBody>
          <a:bodyPr wrap="square">
            <a:spAutoFit/>
          </a:bodyPr>
          <a:lstStyle/>
          <a:p>
            <a:pPr algn="l"/>
            <a:r>
              <a:rPr sz="1300" b="1" i="0">
                <a:solidFill>
                  <a:srgbClr val="1F2937"/>
                </a:solidFill>
                <a:latin typeface="Meiryo UI"/>
              </a:rPr>
              <a:t>送料消費税</a:t>
            </a:r>
          </a:p>
        </p:txBody>
      </p:sp>
      <p:sp>
        <p:nvSpPr>
          <p:cNvPr id="36" name="TextBox 35"/>
          <p:cNvSpPr txBox="1"/>
          <p:nvPr/>
        </p:nvSpPr>
        <p:spPr>
          <a:xfrm>
            <a:off x="6720840" y="4828032"/>
            <a:ext cx="4937760" cy="502920"/>
          </a:xfrm>
          <a:prstGeom prst="rect">
            <a:avLst/>
          </a:prstGeom>
          <a:noFill/>
        </p:spPr>
        <p:txBody>
          <a:bodyPr wrap="square">
            <a:spAutoFit/>
          </a:bodyPr>
          <a:lstStyle/>
          <a:p>
            <a:pPr algn="l"/>
            <a:r>
              <a:rPr sz="1100" b="0" i="0">
                <a:solidFill>
                  <a:srgbClr val="6B7280"/>
                </a:solidFill>
                <a:latin typeface="Meiryo UI"/>
              </a:rPr>
              <a:t>送料（税抜）× 10%（四捨五入）</a:t>
            </a:r>
          </a:p>
        </p:txBody>
      </p:sp>
      <p:sp>
        <p:nvSpPr>
          <p:cNvPr id="37" name="Rectangle 36"/>
          <p:cNvSpPr/>
          <p:nvPr/>
        </p:nvSpPr>
        <p:spPr>
          <a:xfrm>
            <a:off x="6217920" y="5376672"/>
            <a:ext cx="402336" cy="40233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0" y="5413248"/>
            <a:ext cx="402336" cy="347472"/>
          </a:xfrm>
          <a:prstGeom prst="rect">
            <a:avLst/>
          </a:prstGeom>
          <a:noFill/>
        </p:spPr>
        <p:txBody>
          <a:bodyPr wrap="square">
            <a:spAutoFit/>
          </a:bodyPr>
          <a:lstStyle/>
          <a:p>
            <a:pPr algn="ctr"/>
            <a:r>
              <a:rPr sz="1300" b="1" i="0">
                <a:solidFill>
                  <a:srgbClr val="FFFFFF"/>
                </a:solidFill>
                <a:latin typeface="Meiryo UI"/>
              </a:rPr>
              <a:t>⑤</a:t>
            </a:r>
          </a:p>
        </p:txBody>
      </p:sp>
      <p:sp>
        <p:nvSpPr>
          <p:cNvPr id="39" name="TextBox 38"/>
          <p:cNvSpPr txBox="1"/>
          <p:nvPr/>
        </p:nvSpPr>
        <p:spPr>
          <a:xfrm>
            <a:off x="6720840" y="5376672"/>
            <a:ext cx="4937760" cy="347472"/>
          </a:xfrm>
          <a:prstGeom prst="rect">
            <a:avLst/>
          </a:prstGeom>
          <a:noFill/>
        </p:spPr>
        <p:txBody>
          <a:bodyPr wrap="square">
            <a:spAutoFit/>
          </a:bodyPr>
          <a:lstStyle/>
          <a:p>
            <a:pPr algn="l"/>
            <a:r>
              <a:rPr sz="1300" b="1" i="0">
                <a:solidFill>
                  <a:srgbClr val="1F2937"/>
                </a:solidFill>
                <a:latin typeface="Meiryo UI"/>
              </a:rPr>
              <a:t>総計</a:t>
            </a:r>
          </a:p>
        </p:txBody>
      </p:sp>
      <p:sp>
        <p:nvSpPr>
          <p:cNvPr id="40" name="TextBox 39"/>
          <p:cNvSpPr txBox="1"/>
          <p:nvPr/>
        </p:nvSpPr>
        <p:spPr>
          <a:xfrm>
            <a:off x="6720840" y="5742432"/>
            <a:ext cx="4937760" cy="502920"/>
          </a:xfrm>
          <a:prstGeom prst="rect">
            <a:avLst/>
          </a:prstGeom>
          <a:noFill/>
        </p:spPr>
        <p:txBody>
          <a:bodyPr wrap="square">
            <a:spAutoFit/>
          </a:bodyPr>
          <a:lstStyle/>
          <a:p>
            <a:pPr algn="l"/>
            <a:r>
              <a:rPr sz="1100" b="0" i="0">
                <a:solidFill>
                  <a:srgbClr val="6B7280"/>
                </a:solidFill>
                <a:latin typeface="Meiryo UI"/>
              </a:rPr>
              <a:t>税込金額 + 送料（税抜）
+ 送料消費税 + 調整額</a:t>
            </a:r>
          </a:p>
        </p:txBody>
      </p:sp>
      <p:sp>
        <p:nvSpPr>
          <p:cNvPr id="41" name="TextBox 40"/>
          <p:cNvSpPr txBox="1"/>
          <p:nvPr/>
        </p:nvSpPr>
        <p:spPr>
          <a:xfrm>
            <a:off x="365760" y="6263640"/>
            <a:ext cx="11430000" cy="457200"/>
          </a:xfrm>
          <a:prstGeom prst="rect">
            <a:avLst/>
          </a:prstGeom>
          <a:noFill/>
        </p:spPr>
        <p:txBody>
          <a:bodyPr wrap="square">
            <a:spAutoFit/>
          </a:bodyPr>
          <a:lstStyle/>
          <a:p>
            <a:pPr algn="l"/>
            <a:r>
              <a:rPr sz="1000" b="1" i="0">
                <a:solidFill>
                  <a:srgbClr val="D97706"/>
                </a:solidFill>
                <a:latin typeface="Meiryo UI"/>
              </a:rPr>
              <a:t>⚠ 月次売上処理ページの「販売」サマリーは税抜き総計（送料消費税除く）で集計されます。
　 CSV出力の「総計」列は税込み表示のため、数値が異なる場合があります。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square">
            <a:spAutoFit/>
          </a:bodyPr>
          <a:lstStyle/>
          <a:p>
            <a:pPr algn="l"/>
            <a:r>
              <a:rPr sz="2600" b="1" i="0">
                <a:solidFill>
                  <a:srgbClr val="FFFFFF"/>
                </a:solidFill>
                <a:latin typeface="Meiryo UI"/>
              </a:rPr>
              <a:t>データの入力・編集方法</a:t>
            </a:r>
          </a:p>
        </p:txBody>
      </p:sp>
      <p:sp>
        <p:nvSpPr>
          <p:cNvPr id="4" name="Rectangle 3"/>
          <p:cNvSpPr/>
          <p:nvPr/>
        </p:nvSpPr>
        <p:spPr>
          <a:xfrm>
            <a:off x="0" y="1005840"/>
            <a:ext cx="12188952" cy="58521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0"/>
            <a:ext cx="11338560" cy="411480"/>
          </a:xfrm>
          <a:prstGeom prst="rect">
            <a:avLst/>
          </a:prstGeom>
          <a:noFill/>
        </p:spPr>
        <p:txBody>
          <a:bodyPr wrap="square">
            <a:spAutoFit/>
          </a:bodyPr>
          <a:lstStyle/>
          <a:p>
            <a:pPr algn="l"/>
            <a:r>
              <a:rPr sz="1300" b="1" i="0">
                <a:solidFill>
                  <a:srgbClr val="D97706"/>
                </a:solidFill>
                <a:latin typeface="Meiryo UI"/>
              </a:rPr>
              <a:t>売上管理タブは「表示専用」です。データの登録・修正は「福祉用具選定」タブで行います。</a:t>
            </a:r>
          </a:p>
        </p:txBody>
      </p:sp>
      <p:sp>
        <p:nvSpPr>
          <p:cNvPr id="6" name="Rectangle 5"/>
          <p:cNvSpPr/>
          <p:nvPr/>
        </p:nvSpPr>
        <p:spPr>
          <a:xfrm>
            <a:off x="365760" y="1600200"/>
            <a:ext cx="5394960" cy="4983480"/>
          </a:xfrm>
          <a:prstGeom prst="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600200"/>
            <a:ext cx="5394960" cy="43891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645920"/>
            <a:ext cx="5212080" cy="347472"/>
          </a:xfrm>
          <a:prstGeom prst="rect">
            <a:avLst/>
          </a:prstGeom>
          <a:noFill/>
        </p:spPr>
        <p:txBody>
          <a:bodyPr wrap="square">
            <a:spAutoFit/>
          </a:bodyPr>
          <a:lstStyle/>
          <a:p>
            <a:pPr algn="l"/>
            <a:r>
              <a:rPr sz="1400" b="1" i="0">
                <a:solidFill>
                  <a:srgbClr val="FFFFFF"/>
                </a:solidFill>
                <a:latin typeface="Meiryo UI"/>
              </a:rPr>
              <a:t>💰 自費レンタルを登録する</a:t>
            </a:r>
          </a:p>
        </p:txBody>
      </p:sp>
      <p:sp>
        <p:nvSpPr>
          <p:cNvPr id="9" name="Rectangle 8"/>
          <p:cNvSpPr/>
          <p:nvPr/>
        </p:nvSpPr>
        <p:spPr>
          <a:xfrm>
            <a:off x="502920" y="212140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157984"/>
            <a:ext cx="365760" cy="310896"/>
          </a:xfrm>
          <a:prstGeom prst="rect">
            <a:avLst/>
          </a:prstGeom>
          <a:noFill/>
        </p:spPr>
        <p:txBody>
          <a:bodyPr wrap="square">
            <a:spAutoFit/>
          </a:bodyPr>
          <a:lstStyle/>
          <a:p>
            <a:pPr algn="ctr"/>
            <a:r>
              <a:rPr sz="1200" b="1" i="0">
                <a:solidFill>
                  <a:srgbClr val="FFFFFF"/>
                </a:solidFill>
                <a:latin typeface="Meiryo UI"/>
              </a:rPr>
              <a:t>①</a:t>
            </a:r>
          </a:p>
        </p:txBody>
      </p:sp>
      <p:sp>
        <p:nvSpPr>
          <p:cNvPr id="11" name="TextBox 10"/>
          <p:cNvSpPr txBox="1"/>
          <p:nvPr/>
        </p:nvSpPr>
        <p:spPr>
          <a:xfrm>
            <a:off x="960120" y="2157984"/>
            <a:ext cx="4663440" cy="640080"/>
          </a:xfrm>
          <a:prstGeom prst="rect">
            <a:avLst/>
          </a:prstGeom>
          <a:noFill/>
        </p:spPr>
        <p:txBody>
          <a:bodyPr wrap="square">
            <a:spAutoFit/>
          </a:bodyPr>
          <a:lstStyle/>
          <a:p>
            <a:pPr algn="l"/>
            <a:r>
              <a:rPr sz="1200" b="0" i="0">
                <a:solidFill>
                  <a:srgbClr val="1F2937"/>
                </a:solidFill>
                <a:latin typeface="Meiryo UI"/>
              </a:rPr>
              <a:t>「福祉用具選定」タブを開く</a:t>
            </a:r>
          </a:p>
        </p:txBody>
      </p:sp>
      <p:sp>
        <p:nvSpPr>
          <p:cNvPr id="12" name="Rectangle 11"/>
          <p:cNvSpPr/>
          <p:nvPr/>
        </p:nvSpPr>
        <p:spPr>
          <a:xfrm>
            <a:off x="502920" y="299008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26664"/>
            <a:ext cx="365760" cy="310896"/>
          </a:xfrm>
          <a:prstGeom prst="rect">
            <a:avLst/>
          </a:prstGeom>
          <a:noFill/>
        </p:spPr>
        <p:txBody>
          <a:bodyPr wrap="square">
            <a:spAutoFit/>
          </a:bodyPr>
          <a:lstStyle/>
          <a:p>
            <a:pPr algn="ctr"/>
            <a:r>
              <a:rPr sz="1200" b="1" i="0">
                <a:solidFill>
                  <a:srgbClr val="FFFFFF"/>
                </a:solidFill>
                <a:latin typeface="Meiryo UI"/>
              </a:rPr>
              <a:t>②</a:t>
            </a:r>
          </a:p>
        </p:txBody>
      </p:sp>
      <p:sp>
        <p:nvSpPr>
          <p:cNvPr id="14" name="TextBox 13"/>
          <p:cNvSpPr txBox="1"/>
          <p:nvPr/>
        </p:nvSpPr>
        <p:spPr>
          <a:xfrm>
            <a:off x="960120" y="3026664"/>
            <a:ext cx="4663440" cy="640080"/>
          </a:xfrm>
          <a:prstGeom prst="rect">
            <a:avLst/>
          </a:prstGeom>
          <a:noFill/>
        </p:spPr>
        <p:txBody>
          <a:bodyPr wrap="square">
            <a:spAutoFit/>
          </a:bodyPr>
          <a:lstStyle/>
          <a:p>
            <a:pPr algn="l"/>
            <a:r>
              <a:rPr sz="1200" b="0" i="0">
                <a:solidFill>
                  <a:srgbClr val="1F2937"/>
                </a:solidFill>
                <a:latin typeface="Meiryo UI"/>
              </a:rPr>
              <a:t>「機器を追加」ボタンをクリック</a:t>
            </a:r>
          </a:p>
        </p:txBody>
      </p:sp>
      <p:sp>
        <p:nvSpPr>
          <p:cNvPr id="15" name="Rectangle 14"/>
          <p:cNvSpPr/>
          <p:nvPr/>
        </p:nvSpPr>
        <p:spPr>
          <a:xfrm>
            <a:off x="502920" y="385876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895344"/>
            <a:ext cx="365760" cy="310896"/>
          </a:xfrm>
          <a:prstGeom prst="rect">
            <a:avLst/>
          </a:prstGeom>
          <a:noFill/>
        </p:spPr>
        <p:txBody>
          <a:bodyPr wrap="square">
            <a:spAutoFit/>
          </a:bodyPr>
          <a:lstStyle/>
          <a:p>
            <a:pPr algn="ctr"/>
            <a:r>
              <a:rPr sz="1200" b="1" i="0">
                <a:solidFill>
                  <a:srgbClr val="FFFFFF"/>
                </a:solidFill>
                <a:latin typeface="Meiryo UI"/>
              </a:rPr>
              <a:t>③</a:t>
            </a:r>
          </a:p>
        </p:txBody>
      </p:sp>
      <p:sp>
        <p:nvSpPr>
          <p:cNvPr id="17" name="TextBox 16"/>
          <p:cNvSpPr txBox="1"/>
          <p:nvPr/>
        </p:nvSpPr>
        <p:spPr>
          <a:xfrm>
            <a:off x="960120" y="3895344"/>
            <a:ext cx="4663440" cy="640080"/>
          </a:xfrm>
          <a:prstGeom prst="rect">
            <a:avLst/>
          </a:prstGeom>
          <a:noFill/>
        </p:spPr>
        <p:txBody>
          <a:bodyPr wrap="square">
            <a:spAutoFit/>
          </a:bodyPr>
          <a:lstStyle/>
          <a:p>
            <a:pPr algn="l"/>
            <a:r>
              <a:rPr sz="1200" b="0" i="0">
                <a:solidFill>
                  <a:srgbClr val="1F2937"/>
                </a:solidFill>
                <a:latin typeface="Meiryo UI"/>
              </a:rPr>
              <a:t>種類:「自費レンタル」を選択</a:t>
            </a:r>
          </a:p>
        </p:txBody>
      </p:sp>
      <p:sp>
        <p:nvSpPr>
          <p:cNvPr id="18" name="Rectangle 17"/>
          <p:cNvSpPr/>
          <p:nvPr/>
        </p:nvSpPr>
        <p:spPr>
          <a:xfrm>
            <a:off x="502920" y="472744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764024"/>
            <a:ext cx="365760" cy="310896"/>
          </a:xfrm>
          <a:prstGeom prst="rect">
            <a:avLst/>
          </a:prstGeom>
          <a:noFill/>
        </p:spPr>
        <p:txBody>
          <a:bodyPr wrap="square">
            <a:spAutoFit/>
          </a:bodyPr>
          <a:lstStyle/>
          <a:p>
            <a:pPr algn="ctr"/>
            <a:r>
              <a:rPr sz="1200" b="1" i="0">
                <a:solidFill>
                  <a:srgbClr val="FFFFFF"/>
                </a:solidFill>
                <a:latin typeface="Meiryo UI"/>
              </a:rPr>
              <a:t>④</a:t>
            </a:r>
          </a:p>
        </p:txBody>
      </p:sp>
      <p:sp>
        <p:nvSpPr>
          <p:cNvPr id="20" name="TextBox 19"/>
          <p:cNvSpPr txBox="1"/>
          <p:nvPr/>
        </p:nvSpPr>
        <p:spPr>
          <a:xfrm>
            <a:off x="960120" y="4764024"/>
            <a:ext cx="4663440" cy="640080"/>
          </a:xfrm>
          <a:prstGeom prst="rect">
            <a:avLst/>
          </a:prstGeom>
          <a:noFill/>
        </p:spPr>
        <p:txBody>
          <a:bodyPr wrap="square">
            <a:spAutoFit/>
          </a:bodyPr>
          <a:lstStyle/>
          <a:p>
            <a:pPr algn="l"/>
            <a:r>
              <a:rPr sz="1200" b="0" i="0">
                <a:solidFill>
                  <a:srgbClr val="1F2937"/>
                </a:solidFill>
                <a:latin typeface="Meiryo UI"/>
              </a:rPr>
              <a:t>属性:「自社物件」または「リース物件」を選択</a:t>
            </a:r>
          </a:p>
        </p:txBody>
      </p:sp>
      <p:sp>
        <p:nvSpPr>
          <p:cNvPr id="21" name="Rectangle 20"/>
          <p:cNvSpPr/>
          <p:nvPr/>
        </p:nvSpPr>
        <p:spPr>
          <a:xfrm>
            <a:off x="502920" y="559612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5632704"/>
            <a:ext cx="365760" cy="310896"/>
          </a:xfrm>
          <a:prstGeom prst="rect">
            <a:avLst/>
          </a:prstGeom>
          <a:noFill/>
        </p:spPr>
        <p:txBody>
          <a:bodyPr wrap="square">
            <a:spAutoFit/>
          </a:bodyPr>
          <a:lstStyle/>
          <a:p>
            <a:pPr algn="ctr"/>
            <a:r>
              <a:rPr sz="1200" b="1" i="0">
                <a:solidFill>
                  <a:srgbClr val="FFFFFF"/>
                </a:solidFill>
                <a:latin typeface="Meiryo UI"/>
              </a:rPr>
              <a:t>⑤</a:t>
            </a:r>
          </a:p>
        </p:txBody>
      </p:sp>
      <p:sp>
        <p:nvSpPr>
          <p:cNvPr id="23" name="TextBox 22"/>
          <p:cNvSpPr txBox="1"/>
          <p:nvPr/>
        </p:nvSpPr>
        <p:spPr>
          <a:xfrm>
            <a:off x="960120" y="5632704"/>
            <a:ext cx="4663440" cy="640080"/>
          </a:xfrm>
          <a:prstGeom prst="rect">
            <a:avLst/>
          </a:prstGeom>
          <a:noFill/>
        </p:spPr>
        <p:txBody>
          <a:bodyPr wrap="square">
            <a:spAutoFit/>
          </a:bodyPr>
          <a:lstStyle/>
          <a:p>
            <a:pPr algn="l"/>
            <a:r>
              <a:rPr sz="1200" b="0" i="0">
                <a:solidFill>
                  <a:srgbClr val="1F2937"/>
                </a:solidFill>
                <a:latin typeface="Meiryo UI"/>
              </a:rPr>
              <a:t>商品名・月額・税区分・
    利用開始日などを入力して保存</a:t>
            </a:r>
          </a:p>
        </p:txBody>
      </p:sp>
      <p:sp>
        <p:nvSpPr>
          <p:cNvPr id="24" name="Rectangle 23"/>
          <p:cNvSpPr/>
          <p:nvPr/>
        </p:nvSpPr>
        <p:spPr>
          <a:xfrm>
            <a:off x="6126480" y="1600200"/>
            <a:ext cx="5669280" cy="4983480"/>
          </a:xfrm>
          <a:prstGeom prst="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80" y="1600200"/>
            <a:ext cx="5669280" cy="43891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1645920"/>
            <a:ext cx="5394960" cy="347472"/>
          </a:xfrm>
          <a:prstGeom prst="rect">
            <a:avLst/>
          </a:prstGeom>
          <a:noFill/>
        </p:spPr>
        <p:txBody>
          <a:bodyPr wrap="square">
            <a:spAutoFit/>
          </a:bodyPr>
          <a:lstStyle/>
          <a:p>
            <a:pPr algn="l"/>
            <a:r>
              <a:rPr sz="1400" b="1" i="0">
                <a:solidFill>
                  <a:srgbClr val="FFFFFF"/>
                </a:solidFill>
                <a:latin typeface="Meiryo UI"/>
              </a:rPr>
              <a:t>🛒 販売を登録する</a:t>
            </a:r>
          </a:p>
        </p:txBody>
      </p:sp>
      <p:sp>
        <p:nvSpPr>
          <p:cNvPr id="27" name="Rectangle 26"/>
          <p:cNvSpPr/>
          <p:nvPr/>
        </p:nvSpPr>
        <p:spPr>
          <a:xfrm>
            <a:off x="6263640" y="2121408"/>
            <a:ext cx="36576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2157984"/>
            <a:ext cx="365760" cy="310896"/>
          </a:xfrm>
          <a:prstGeom prst="rect">
            <a:avLst/>
          </a:prstGeom>
          <a:noFill/>
        </p:spPr>
        <p:txBody>
          <a:bodyPr wrap="square">
            <a:spAutoFit/>
          </a:bodyPr>
          <a:lstStyle/>
          <a:p>
            <a:pPr algn="ctr"/>
            <a:r>
              <a:rPr sz="1200" b="1" i="0">
                <a:solidFill>
                  <a:srgbClr val="FFFFFF"/>
                </a:solidFill>
                <a:latin typeface="Meiryo UI"/>
              </a:rPr>
              <a:t>①</a:t>
            </a:r>
          </a:p>
        </p:txBody>
      </p:sp>
      <p:sp>
        <p:nvSpPr>
          <p:cNvPr id="29" name="TextBox 28"/>
          <p:cNvSpPr txBox="1"/>
          <p:nvPr/>
        </p:nvSpPr>
        <p:spPr>
          <a:xfrm>
            <a:off x="6720840" y="2157984"/>
            <a:ext cx="4937760" cy="594360"/>
          </a:xfrm>
          <a:prstGeom prst="rect">
            <a:avLst/>
          </a:prstGeom>
          <a:noFill/>
        </p:spPr>
        <p:txBody>
          <a:bodyPr wrap="square">
            <a:spAutoFit/>
          </a:bodyPr>
          <a:lstStyle/>
          <a:p>
            <a:pPr algn="l"/>
            <a:r>
              <a:rPr sz="1200" b="0" i="0">
                <a:solidFill>
                  <a:srgbClr val="1F2937"/>
                </a:solidFill>
                <a:latin typeface="Meiryo UI"/>
              </a:rPr>
              <a:t>「福祉用具選定」タブを開く</a:t>
            </a:r>
          </a:p>
        </p:txBody>
      </p:sp>
      <p:sp>
        <p:nvSpPr>
          <p:cNvPr id="30" name="Rectangle 29"/>
          <p:cNvSpPr/>
          <p:nvPr/>
        </p:nvSpPr>
        <p:spPr>
          <a:xfrm>
            <a:off x="6263640" y="2871216"/>
            <a:ext cx="36576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2907792"/>
            <a:ext cx="365760" cy="310896"/>
          </a:xfrm>
          <a:prstGeom prst="rect">
            <a:avLst/>
          </a:prstGeom>
          <a:noFill/>
        </p:spPr>
        <p:txBody>
          <a:bodyPr wrap="square">
            <a:spAutoFit/>
          </a:bodyPr>
          <a:lstStyle/>
          <a:p>
            <a:pPr algn="ctr"/>
            <a:r>
              <a:rPr sz="1200" b="1" i="0">
                <a:solidFill>
                  <a:srgbClr val="FFFFFF"/>
                </a:solidFill>
                <a:latin typeface="Meiryo UI"/>
              </a:rPr>
              <a:t>②</a:t>
            </a:r>
          </a:p>
        </p:txBody>
      </p:sp>
      <p:sp>
        <p:nvSpPr>
          <p:cNvPr id="32" name="TextBox 31"/>
          <p:cNvSpPr txBox="1"/>
          <p:nvPr/>
        </p:nvSpPr>
        <p:spPr>
          <a:xfrm>
            <a:off x="6720840" y="2907792"/>
            <a:ext cx="4937760" cy="594360"/>
          </a:xfrm>
          <a:prstGeom prst="rect">
            <a:avLst/>
          </a:prstGeom>
          <a:noFill/>
        </p:spPr>
        <p:txBody>
          <a:bodyPr wrap="square">
            <a:spAutoFit/>
          </a:bodyPr>
          <a:lstStyle/>
          <a:p>
            <a:pPr algn="l"/>
            <a:r>
              <a:rPr sz="1200" b="0" i="0">
                <a:solidFill>
                  <a:srgbClr val="1F2937"/>
                </a:solidFill>
                <a:latin typeface="Meiryo UI"/>
              </a:rPr>
              <a:t>「機器を追加」ボタンをクリック</a:t>
            </a:r>
          </a:p>
        </p:txBody>
      </p:sp>
      <p:sp>
        <p:nvSpPr>
          <p:cNvPr id="33" name="Rectangle 32"/>
          <p:cNvSpPr/>
          <p:nvPr/>
        </p:nvSpPr>
        <p:spPr>
          <a:xfrm>
            <a:off x="6263640" y="3621024"/>
            <a:ext cx="36576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3640" y="3657600"/>
            <a:ext cx="365760" cy="310896"/>
          </a:xfrm>
          <a:prstGeom prst="rect">
            <a:avLst/>
          </a:prstGeom>
          <a:noFill/>
        </p:spPr>
        <p:txBody>
          <a:bodyPr wrap="square">
            <a:spAutoFit/>
          </a:bodyPr>
          <a:lstStyle/>
          <a:p>
            <a:pPr algn="ctr"/>
            <a:r>
              <a:rPr sz="1200" b="1" i="0">
                <a:solidFill>
                  <a:srgbClr val="FFFFFF"/>
                </a:solidFill>
                <a:latin typeface="Meiryo UI"/>
              </a:rPr>
              <a:t>③</a:t>
            </a:r>
          </a:p>
        </p:txBody>
      </p:sp>
      <p:sp>
        <p:nvSpPr>
          <p:cNvPr id="35" name="TextBox 34"/>
          <p:cNvSpPr txBox="1"/>
          <p:nvPr/>
        </p:nvSpPr>
        <p:spPr>
          <a:xfrm>
            <a:off x="6720840" y="3657600"/>
            <a:ext cx="4937760" cy="594360"/>
          </a:xfrm>
          <a:prstGeom prst="rect">
            <a:avLst/>
          </a:prstGeom>
          <a:noFill/>
        </p:spPr>
        <p:txBody>
          <a:bodyPr wrap="square">
            <a:spAutoFit/>
          </a:bodyPr>
          <a:lstStyle/>
          <a:p>
            <a:pPr algn="l"/>
            <a:r>
              <a:rPr sz="1200" b="0" i="0">
                <a:solidFill>
                  <a:srgbClr val="1F2937"/>
                </a:solidFill>
                <a:latin typeface="Meiryo UI"/>
              </a:rPr>
              <a:t>種類:「販売」を選択</a:t>
            </a:r>
          </a:p>
        </p:txBody>
      </p:sp>
      <p:sp>
        <p:nvSpPr>
          <p:cNvPr id="36" name="Rectangle 35"/>
          <p:cNvSpPr/>
          <p:nvPr/>
        </p:nvSpPr>
        <p:spPr>
          <a:xfrm>
            <a:off x="6263640" y="4370832"/>
            <a:ext cx="36576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3640" y="4407408"/>
            <a:ext cx="365760" cy="310896"/>
          </a:xfrm>
          <a:prstGeom prst="rect">
            <a:avLst/>
          </a:prstGeom>
          <a:noFill/>
        </p:spPr>
        <p:txBody>
          <a:bodyPr wrap="square">
            <a:spAutoFit/>
          </a:bodyPr>
          <a:lstStyle/>
          <a:p>
            <a:pPr algn="ctr"/>
            <a:r>
              <a:rPr sz="1200" b="1" i="0">
                <a:solidFill>
                  <a:srgbClr val="FFFFFF"/>
                </a:solidFill>
                <a:latin typeface="Meiryo UI"/>
              </a:rPr>
              <a:t>④</a:t>
            </a:r>
          </a:p>
        </p:txBody>
      </p:sp>
      <p:sp>
        <p:nvSpPr>
          <p:cNvPr id="38" name="TextBox 37"/>
          <p:cNvSpPr txBox="1"/>
          <p:nvPr/>
        </p:nvSpPr>
        <p:spPr>
          <a:xfrm>
            <a:off x="6720840" y="4407408"/>
            <a:ext cx="4937760" cy="594360"/>
          </a:xfrm>
          <a:prstGeom prst="rect">
            <a:avLst/>
          </a:prstGeom>
          <a:noFill/>
        </p:spPr>
        <p:txBody>
          <a:bodyPr wrap="square">
            <a:spAutoFit/>
          </a:bodyPr>
          <a:lstStyle/>
          <a:p>
            <a:pPr algn="l"/>
            <a:r>
              <a:rPr sz="1200" b="0" i="0">
                <a:solidFill>
                  <a:srgbClr val="1F2937"/>
                </a:solidFill>
                <a:latin typeface="Meiryo UI"/>
              </a:rPr>
              <a:t>属性:「自社物件」または「リース物件」を選択</a:t>
            </a:r>
          </a:p>
        </p:txBody>
      </p:sp>
      <p:sp>
        <p:nvSpPr>
          <p:cNvPr id="39" name="Rectangle 38"/>
          <p:cNvSpPr/>
          <p:nvPr/>
        </p:nvSpPr>
        <p:spPr>
          <a:xfrm>
            <a:off x="6263640" y="5120640"/>
            <a:ext cx="36576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5157216"/>
            <a:ext cx="365760" cy="310896"/>
          </a:xfrm>
          <a:prstGeom prst="rect">
            <a:avLst/>
          </a:prstGeom>
          <a:noFill/>
        </p:spPr>
        <p:txBody>
          <a:bodyPr wrap="square">
            <a:spAutoFit/>
          </a:bodyPr>
          <a:lstStyle/>
          <a:p>
            <a:pPr algn="ctr"/>
            <a:r>
              <a:rPr sz="1200" b="1" i="0">
                <a:solidFill>
                  <a:srgbClr val="FFFFFF"/>
                </a:solidFill>
                <a:latin typeface="Meiryo UI"/>
              </a:rPr>
              <a:t>⑤</a:t>
            </a:r>
          </a:p>
        </p:txBody>
      </p:sp>
      <p:sp>
        <p:nvSpPr>
          <p:cNvPr id="41" name="TextBox 40"/>
          <p:cNvSpPr txBox="1"/>
          <p:nvPr/>
        </p:nvSpPr>
        <p:spPr>
          <a:xfrm>
            <a:off x="6720840" y="5157216"/>
            <a:ext cx="4937760" cy="594360"/>
          </a:xfrm>
          <a:prstGeom prst="rect">
            <a:avLst/>
          </a:prstGeom>
          <a:noFill/>
        </p:spPr>
        <p:txBody>
          <a:bodyPr wrap="square">
            <a:spAutoFit/>
          </a:bodyPr>
          <a:lstStyle/>
          <a:p>
            <a:pPr algn="l"/>
            <a:r>
              <a:rPr sz="1200" b="0" i="0">
                <a:solidFill>
                  <a:srgbClr val="1F2937"/>
                </a:solidFill>
                <a:latin typeface="Meiryo UI"/>
              </a:rPr>
              <a:t>商品名・納品日（必須）・
    単価・税区分などを入力</a:t>
            </a:r>
          </a:p>
        </p:txBody>
      </p:sp>
      <p:sp>
        <p:nvSpPr>
          <p:cNvPr id="42" name="Rectangle 41"/>
          <p:cNvSpPr/>
          <p:nvPr/>
        </p:nvSpPr>
        <p:spPr>
          <a:xfrm>
            <a:off x="6263640" y="5870448"/>
            <a:ext cx="365760" cy="365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5907024"/>
            <a:ext cx="365760" cy="310896"/>
          </a:xfrm>
          <a:prstGeom prst="rect">
            <a:avLst/>
          </a:prstGeom>
          <a:noFill/>
        </p:spPr>
        <p:txBody>
          <a:bodyPr wrap="square">
            <a:spAutoFit/>
          </a:bodyPr>
          <a:lstStyle/>
          <a:p>
            <a:pPr algn="ctr"/>
            <a:r>
              <a:rPr sz="1200" b="1" i="0">
                <a:solidFill>
                  <a:srgbClr val="FFFFFF"/>
                </a:solidFill>
                <a:latin typeface="Meiryo UI"/>
              </a:rPr>
              <a:t>⑥</a:t>
            </a:r>
          </a:p>
        </p:txBody>
      </p:sp>
      <p:sp>
        <p:nvSpPr>
          <p:cNvPr id="44" name="TextBox 43"/>
          <p:cNvSpPr txBox="1"/>
          <p:nvPr/>
        </p:nvSpPr>
        <p:spPr>
          <a:xfrm>
            <a:off x="6720840" y="5907024"/>
            <a:ext cx="4937760" cy="594360"/>
          </a:xfrm>
          <a:prstGeom prst="rect">
            <a:avLst/>
          </a:prstGeom>
          <a:noFill/>
        </p:spPr>
        <p:txBody>
          <a:bodyPr wrap="square">
            <a:spAutoFit/>
          </a:bodyPr>
          <a:lstStyle/>
          <a:p>
            <a:pPr algn="l"/>
            <a:r>
              <a:rPr sz="1200" b="0" i="0">
                <a:solidFill>
                  <a:srgbClr val="1F2937"/>
                </a:solidFill>
                <a:latin typeface="Meiryo UI"/>
              </a:rPr>
              <a:t>送料・支払方法・申請情報を
    必要に応じて入力して保存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square">
            <a:spAutoFit/>
          </a:bodyPr>
          <a:lstStyle/>
          <a:p>
            <a:pPr algn="l"/>
            <a:r>
              <a:rPr sz="2600" b="1" i="0">
                <a:solidFill>
                  <a:srgbClr val="FFFFFF"/>
                </a:solidFill>
                <a:latin typeface="Meiryo UI"/>
              </a:rPr>
              <a:t>FAQ — よくある質問</a:t>
            </a:r>
          </a:p>
        </p:txBody>
      </p:sp>
      <p:sp>
        <p:nvSpPr>
          <p:cNvPr id="4" name="Rectangle 3"/>
          <p:cNvSpPr/>
          <p:nvPr/>
        </p:nvSpPr>
        <p:spPr>
          <a:xfrm>
            <a:off x="0" y="1005840"/>
            <a:ext cx="12188952" cy="58521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88720"/>
            <a:ext cx="11430000" cy="859536"/>
          </a:xfrm>
          <a:prstGeom prst="rect">
            <a:avLst/>
          </a:prstGeom>
          <a:solidFill>
            <a:srgbClr val="F5F3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365760" cy="85953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61872"/>
            <a:ext cx="365760" cy="347472"/>
          </a:xfrm>
          <a:prstGeom prst="rect">
            <a:avLst/>
          </a:prstGeom>
          <a:noFill/>
        </p:spPr>
        <p:txBody>
          <a:bodyPr wrap="square">
            <a:spAutoFit/>
          </a:bodyPr>
          <a:lstStyle/>
          <a:p>
            <a:pPr algn="ctr"/>
            <a:r>
              <a:rPr sz="1300" b="1" i="0">
                <a:solidFill>
                  <a:srgbClr val="FFFFFF"/>
                </a:solidFill>
                <a:latin typeface="Meiryo UI"/>
              </a:rPr>
              <a:t>Q</a:t>
            </a:r>
          </a:p>
        </p:txBody>
      </p:sp>
      <p:sp>
        <p:nvSpPr>
          <p:cNvPr id="8" name="TextBox 7"/>
          <p:cNvSpPr txBox="1"/>
          <p:nvPr/>
        </p:nvSpPr>
        <p:spPr>
          <a:xfrm>
            <a:off x="804672" y="1243584"/>
            <a:ext cx="10789920" cy="347472"/>
          </a:xfrm>
          <a:prstGeom prst="rect">
            <a:avLst/>
          </a:prstGeom>
          <a:noFill/>
        </p:spPr>
        <p:txBody>
          <a:bodyPr wrap="square">
            <a:spAutoFit/>
          </a:bodyPr>
          <a:lstStyle/>
          <a:p>
            <a:pPr algn="l"/>
            <a:r>
              <a:rPr sz="1200" b="1" i="0">
                <a:solidFill>
                  <a:srgbClr val="1F2937"/>
                </a:solidFill>
                <a:latin typeface="Meiryo UI"/>
              </a:rPr>
              <a:t>「自費レンタル・販売データはありません」と表示される</a:t>
            </a:r>
          </a:p>
        </p:txBody>
      </p:sp>
      <p:sp>
        <p:nvSpPr>
          <p:cNvPr id="9" name="TextBox 8"/>
          <p:cNvSpPr txBox="1"/>
          <p:nvPr/>
        </p:nvSpPr>
        <p:spPr>
          <a:xfrm>
            <a:off x="804672" y="1609344"/>
            <a:ext cx="10789920" cy="420624"/>
          </a:xfrm>
          <a:prstGeom prst="rect">
            <a:avLst/>
          </a:prstGeom>
          <a:noFill/>
        </p:spPr>
        <p:txBody>
          <a:bodyPr wrap="square">
            <a:spAutoFit/>
          </a:bodyPr>
          <a:lstStyle/>
          <a:p>
            <a:pPr algn="l"/>
            <a:r>
              <a:rPr sz="1100" b="0" i="0">
                <a:solidFill>
                  <a:srgbClr val="6B7280"/>
                </a:solidFill>
                <a:latin typeface="Meiryo UI"/>
              </a:rPr>
              <a:t>この利用者に自費レンタルまたは販売の登録がありません。
「福祉用具選定」タブで機器を追加してください。</a:t>
            </a:r>
          </a:p>
        </p:txBody>
      </p:sp>
      <p:sp>
        <p:nvSpPr>
          <p:cNvPr id="10" name="Rectangle 9"/>
          <p:cNvSpPr/>
          <p:nvPr/>
        </p:nvSpPr>
        <p:spPr>
          <a:xfrm>
            <a:off x="365760" y="2084832"/>
            <a:ext cx="11430000" cy="859536"/>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084832"/>
            <a:ext cx="365760" cy="85953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157984"/>
            <a:ext cx="365760" cy="347472"/>
          </a:xfrm>
          <a:prstGeom prst="rect">
            <a:avLst/>
          </a:prstGeom>
          <a:noFill/>
        </p:spPr>
        <p:txBody>
          <a:bodyPr wrap="square">
            <a:spAutoFit/>
          </a:bodyPr>
          <a:lstStyle/>
          <a:p>
            <a:pPr algn="ctr"/>
            <a:r>
              <a:rPr sz="1300" b="1" i="0">
                <a:solidFill>
                  <a:srgbClr val="FFFFFF"/>
                </a:solidFill>
                <a:latin typeface="Meiryo UI"/>
              </a:rPr>
              <a:t>Q</a:t>
            </a:r>
          </a:p>
        </p:txBody>
      </p:sp>
      <p:sp>
        <p:nvSpPr>
          <p:cNvPr id="13" name="TextBox 12"/>
          <p:cNvSpPr txBox="1"/>
          <p:nvPr/>
        </p:nvSpPr>
        <p:spPr>
          <a:xfrm>
            <a:off x="804672" y="2139696"/>
            <a:ext cx="10789920" cy="347472"/>
          </a:xfrm>
          <a:prstGeom prst="rect">
            <a:avLst/>
          </a:prstGeom>
          <a:noFill/>
        </p:spPr>
        <p:txBody>
          <a:bodyPr wrap="square">
            <a:spAutoFit/>
          </a:bodyPr>
          <a:lstStyle/>
          <a:p>
            <a:pPr algn="l"/>
            <a:r>
              <a:rPr sz="1200" b="1" i="0">
                <a:solidFill>
                  <a:srgbClr val="1F2937"/>
                </a:solidFill>
                <a:latin typeface="Meiryo UI"/>
              </a:rPr>
              <a:t>税込金額の計算が合わない</a:t>
            </a:r>
          </a:p>
        </p:txBody>
      </p:sp>
      <p:sp>
        <p:nvSpPr>
          <p:cNvPr id="14" name="TextBox 13"/>
          <p:cNvSpPr txBox="1"/>
          <p:nvPr/>
        </p:nvSpPr>
        <p:spPr>
          <a:xfrm>
            <a:off x="804672" y="2505456"/>
            <a:ext cx="10789920" cy="420624"/>
          </a:xfrm>
          <a:prstGeom prst="rect">
            <a:avLst/>
          </a:prstGeom>
          <a:noFill/>
        </p:spPr>
        <p:txBody>
          <a:bodyPr wrap="square">
            <a:spAutoFit/>
          </a:bodyPr>
          <a:lstStyle/>
          <a:p>
            <a:pPr algn="l"/>
            <a:r>
              <a:rPr sz="1100" b="0" i="0">
                <a:solidFill>
                  <a:srgbClr val="6B7280"/>
                </a:solidFill>
                <a:latin typeface="Meiryo UI"/>
              </a:rPr>
              <a:t>消費税は四捨五入で計算します（例: ¥3,005 × 10% → ¥300.5 → ¥301 → ¥3,306）。
「税込」区分の場合は消費税 0 として計算します。</a:t>
            </a:r>
          </a:p>
        </p:txBody>
      </p:sp>
      <p:sp>
        <p:nvSpPr>
          <p:cNvPr id="15" name="Rectangle 14"/>
          <p:cNvSpPr/>
          <p:nvPr/>
        </p:nvSpPr>
        <p:spPr>
          <a:xfrm>
            <a:off x="365760" y="2980944"/>
            <a:ext cx="11430000" cy="859536"/>
          </a:xfrm>
          <a:prstGeom prst="rect">
            <a:avLst/>
          </a:prstGeom>
          <a:solidFill>
            <a:srgbClr val="F5F3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2980944"/>
            <a:ext cx="365760" cy="85953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054096"/>
            <a:ext cx="365760" cy="347472"/>
          </a:xfrm>
          <a:prstGeom prst="rect">
            <a:avLst/>
          </a:prstGeom>
          <a:noFill/>
        </p:spPr>
        <p:txBody>
          <a:bodyPr wrap="square">
            <a:spAutoFit/>
          </a:bodyPr>
          <a:lstStyle/>
          <a:p>
            <a:pPr algn="ctr"/>
            <a:r>
              <a:rPr sz="1300" b="1" i="0">
                <a:solidFill>
                  <a:srgbClr val="FFFFFF"/>
                </a:solidFill>
                <a:latin typeface="Meiryo UI"/>
              </a:rPr>
              <a:t>Q</a:t>
            </a:r>
          </a:p>
        </p:txBody>
      </p:sp>
      <p:sp>
        <p:nvSpPr>
          <p:cNvPr id="18" name="TextBox 17"/>
          <p:cNvSpPr txBox="1"/>
          <p:nvPr/>
        </p:nvSpPr>
        <p:spPr>
          <a:xfrm>
            <a:off x="804672" y="3035808"/>
            <a:ext cx="10789920" cy="347472"/>
          </a:xfrm>
          <a:prstGeom prst="rect">
            <a:avLst/>
          </a:prstGeom>
          <a:noFill/>
        </p:spPr>
        <p:txBody>
          <a:bodyPr wrap="square">
            <a:spAutoFit/>
          </a:bodyPr>
          <a:lstStyle/>
          <a:p>
            <a:pPr algn="l"/>
            <a:r>
              <a:rPr sz="1200" b="1" i="0">
                <a:solidFill>
                  <a:srgbClr val="1F2937"/>
                </a:solidFill>
                <a:latin typeface="Meiryo UI"/>
              </a:rPr>
              <a:t>販売の「総計」と月次売上処理の金額が違う</a:t>
            </a:r>
          </a:p>
        </p:txBody>
      </p:sp>
      <p:sp>
        <p:nvSpPr>
          <p:cNvPr id="19" name="TextBox 18"/>
          <p:cNvSpPr txBox="1"/>
          <p:nvPr/>
        </p:nvSpPr>
        <p:spPr>
          <a:xfrm>
            <a:off x="804672" y="3401568"/>
            <a:ext cx="10789920" cy="420624"/>
          </a:xfrm>
          <a:prstGeom prst="rect">
            <a:avLst/>
          </a:prstGeom>
          <a:noFill/>
        </p:spPr>
        <p:txBody>
          <a:bodyPr wrap="square">
            <a:spAutoFit/>
          </a:bodyPr>
          <a:lstStyle/>
          <a:p>
            <a:pPr algn="l"/>
            <a:r>
              <a:rPr sz="1100" b="0" i="0">
                <a:solidFill>
                  <a:srgbClr val="6B7280"/>
                </a:solidFill>
                <a:latin typeface="Meiryo UI"/>
              </a:rPr>
              <a:t>月次売上処理の販売サマリーは税抜き表示（税込金額 + 送料税抜 + 調整額）、
このタブの「総計」は税込み表示（送料消費税も含む）のため差異が生じます。</a:t>
            </a:r>
          </a:p>
        </p:txBody>
      </p:sp>
      <p:sp>
        <p:nvSpPr>
          <p:cNvPr id="20" name="Rectangle 19"/>
          <p:cNvSpPr/>
          <p:nvPr/>
        </p:nvSpPr>
        <p:spPr>
          <a:xfrm>
            <a:off x="365760" y="3877056"/>
            <a:ext cx="11430000" cy="859536"/>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3877056"/>
            <a:ext cx="365760" cy="85953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3950208"/>
            <a:ext cx="365760" cy="347472"/>
          </a:xfrm>
          <a:prstGeom prst="rect">
            <a:avLst/>
          </a:prstGeom>
          <a:noFill/>
        </p:spPr>
        <p:txBody>
          <a:bodyPr wrap="square">
            <a:spAutoFit/>
          </a:bodyPr>
          <a:lstStyle/>
          <a:p>
            <a:pPr algn="ctr"/>
            <a:r>
              <a:rPr sz="1300" b="1" i="0">
                <a:solidFill>
                  <a:srgbClr val="FFFFFF"/>
                </a:solidFill>
                <a:latin typeface="Meiryo UI"/>
              </a:rPr>
              <a:t>Q</a:t>
            </a:r>
          </a:p>
        </p:txBody>
      </p:sp>
      <p:sp>
        <p:nvSpPr>
          <p:cNvPr id="23" name="TextBox 22"/>
          <p:cNvSpPr txBox="1"/>
          <p:nvPr/>
        </p:nvSpPr>
        <p:spPr>
          <a:xfrm>
            <a:off x="804672" y="3931920"/>
            <a:ext cx="10789920" cy="347472"/>
          </a:xfrm>
          <a:prstGeom prst="rect">
            <a:avLst/>
          </a:prstGeom>
          <a:noFill/>
        </p:spPr>
        <p:txBody>
          <a:bodyPr wrap="square">
            <a:spAutoFit/>
          </a:bodyPr>
          <a:lstStyle/>
          <a:p>
            <a:pPr algn="l"/>
            <a:r>
              <a:rPr sz="1200" b="1" i="0">
                <a:solidFill>
                  <a:srgbClr val="1F2937"/>
                </a:solidFill>
                <a:latin typeface="Meiryo UI"/>
              </a:rPr>
              <a:t>「申請」列に市区町村名が出ない</a:t>
            </a:r>
          </a:p>
        </p:txBody>
      </p:sp>
      <p:sp>
        <p:nvSpPr>
          <p:cNvPr id="24" name="TextBox 23"/>
          <p:cNvSpPr txBox="1"/>
          <p:nvPr/>
        </p:nvSpPr>
        <p:spPr>
          <a:xfrm>
            <a:off x="804672" y="4297680"/>
            <a:ext cx="10789920" cy="420624"/>
          </a:xfrm>
          <a:prstGeom prst="rect">
            <a:avLst/>
          </a:prstGeom>
          <a:noFill/>
        </p:spPr>
        <p:txBody>
          <a:bodyPr wrap="square">
            <a:spAutoFit/>
          </a:bodyPr>
          <a:lstStyle/>
          <a:p>
            <a:pPr algn="l"/>
            <a:r>
              <a:rPr sz="1100" b="0" i="0">
                <a:solidFill>
                  <a:srgbClr val="6B7280"/>
                </a:solidFill>
                <a:latin typeface="Meiryo UI"/>
              </a:rPr>
              <a:t>福祉用具選定タブの販売フォームで「申請あり」をオン、
「申請市区町村」欄に入力されている場合のみ表示されます。</a:t>
            </a:r>
          </a:p>
        </p:txBody>
      </p:sp>
      <p:sp>
        <p:nvSpPr>
          <p:cNvPr id="25" name="Rectangle 24"/>
          <p:cNvSpPr/>
          <p:nvPr/>
        </p:nvSpPr>
        <p:spPr>
          <a:xfrm>
            <a:off x="365760" y="4773168"/>
            <a:ext cx="11430000" cy="859536"/>
          </a:xfrm>
          <a:prstGeom prst="rect">
            <a:avLst/>
          </a:prstGeom>
          <a:solidFill>
            <a:srgbClr val="F5F3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4773168"/>
            <a:ext cx="365760" cy="85953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4846320"/>
            <a:ext cx="365760" cy="347472"/>
          </a:xfrm>
          <a:prstGeom prst="rect">
            <a:avLst/>
          </a:prstGeom>
          <a:noFill/>
        </p:spPr>
        <p:txBody>
          <a:bodyPr wrap="square">
            <a:spAutoFit/>
          </a:bodyPr>
          <a:lstStyle/>
          <a:p>
            <a:pPr algn="ctr"/>
            <a:r>
              <a:rPr sz="1300" b="1" i="0">
                <a:solidFill>
                  <a:srgbClr val="FFFFFF"/>
                </a:solidFill>
                <a:latin typeface="Meiryo UI"/>
              </a:rPr>
              <a:t>Q</a:t>
            </a:r>
          </a:p>
        </p:txBody>
      </p:sp>
      <p:sp>
        <p:nvSpPr>
          <p:cNvPr id="28" name="TextBox 27"/>
          <p:cNvSpPr txBox="1"/>
          <p:nvPr/>
        </p:nvSpPr>
        <p:spPr>
          <a:xfrm>
            <a:off x="804672" y="4828032"/>
            <a:ext cx="10789920" cy="347472"/>
          </a:xfrm>
          <a:prstGeom prst="rect">
            <a:avLst/>
          </a:prstGeom>
          <a:noFill/>
        </p:spPr>
        <p:txBody>
          <a:bodyPr wrap="square">
            <a:spAutoFit/>
          </a:bodyPr>
          <a:lstStyle/>
          <a:p>
            <a:pPr algn="l"/>
            <a:r>
              <a:rPr sz="1200" b="1" i="0">
                <a:solidFill>
                  <a:srgbClr val="1F2937"/>
                </a:solidFill>
                <a:latin typeface="Meiryo UI"/>
              </a:rPr>
              <a:t>納品日を入れたのに月次売上に出ない</a:t>
            </a:r>
          </a:p>
        </p:txBody>
      </p:sp>
      <p:sp>
        <p:nvSpPr>
          <p:cNvPr id="29" name="TextBox 28"/>
          <p:cNvSpPr txBox="1"/>
          <p:nvPr/>
        </p:nvSpPr>
        <p:spPr>
          <a:xfrm>
            <a:off x="804672" y="5193792"/>
            <a:ext cx="10789920" cy="420624"/>
          </a:xfrm>
          <a:prstGeom prst="rect">
            <a:avLst/>
          </a:prstGeom>
          <a:noFill/>
        </p:spPr>
        <p:txBody>
          <a:bodyPr wrap="square">
            <a:spAutoFit/>
          </a:bodyPr>
          <a:lstStyle/>
          <a:p>
            <a:pPr algn="l"/>
            <a:r>
              <a:rPr sz="1100" b="0" i="0">
                <a:solidFill>
                  <a:srgbClr val="6B7280"/>
                </a:solidFill>
                <a:latin typeface="Meiryo UI"/>
              </a:rPr>
              <a:t>月次売上処理の対象月と納品日の月が一致しているか確認してください。
販売は「納品日」の月に計上されます。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