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12188952" cy="2011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17920"/>
            <a:ext cx="12188952"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097280"/>
            <a:ext cx="9144000" cy="1371600"/>
          </a:xfrm>
          <a:prstGeom prst="rect">
            <a:avLst/>
          </a:prstGeom>
          <a:noFill/>
        </p:spPr>
        <p:txBody>
          <a:bodyPr wrap="square">
            <a:spAutoFit/>
          </a:bodyPr>
          <a:lstStyle/>
          <a:p>
            <a:pPr algn="ctr"/>
            <a:r>
              <a:rPr sz="4400" b="1">
                <a:solidFill>
                  <a:srgbClr val="FFFFFF"/>
                </a:solidFill>
                <a:latin typeface="Meiryo UI"/>
              </a:rPr>
              <a:t>WelfareAssist Pro</a:t>
            </a:r>
          </a:p>
        </p:txBody>
      </p:sp>
      <p:sp>
        <p:nvSpPr>
          <p:cNvPr id="6" name="TextBox 5"/>
          <p:cNvSpPr txBox="1"/>
          <p:nvPr/>
        </p:nvSpPr>
        <p:spPr>
          <a:xfrm>
            <a:off x="1371600" y="2651760"/>
            <a:ext cx="9144000" cy="1097280"/>
          </a:xfrm>
          <a:prstGeom prst="rect">
            <a:avLst/>
          </a:prstGeom>
          <a:noFill/>
        </p:spPr>
        <p:txBody>
          <a:bodyPr wrap="square">
            <a:spAutoFit/>
          </a:bodyPr>
          <a:lstStyle/>
          <a:p>
            <a:pPr algn="ctr"/>
            <a:r>
              <a:rPr sz="3200" b="0">
                <a:solidFill>
                  <a:srgbClr val="BFDBFE"/>
                </a:solidFill>
                <a:latin typeface="Meiryo UI"/>
              </a:rPr>
              <a:t>新人向けアプリガイド</a:t>
            </a:r>
          </a:p>
        </p:txBody>
      </p:sp>
      <p:sp>
        <p:nvSpPr>
          <p:cNvPr id="7" name="TextBox 6"/>
          <p:cNvSpPr txBox="1"/>
          <p:nvPr/>
        </p:nvSpPr>
        <p:spPr>
          <a:xfrm>
            <a:off x="1371600" y="3657600"/>
            <a:ext cx="9144000" cy="731520"/>
          </a:xfrm>
          <a:prstGeom prst="rect">
            <a:avLst/>
          </a:prstGeom>
          <a:noFill/>
        </p:spPr>
        <p:txBody>
          <a:bodyPr wrap="square">
            <a:spAutoFit/>
          </a:bodyPr>
          <a:lstStyle/>
          <a:p>
            <a:pPr algn="ctr"/>
            <a:r>
              <a:rPr sz="1800" b="0">
                <a:solidFill>
                  <a:srgbClr val="93C5FD"/>
                </a:solidFill>
                <a:latin typeface="Meiryo UI"/>
              </a:rPr>
              <a:t>〜福祉用具専門相談員向け業務管理アプリ〜</a:t>
            </a:r>
          </a:p>
        </p:txBody>
      </p:sp>
      <p:sp>
        <p:nvSpPr>
          <p:cNvPr id="8" name="TextBox 7"/>
          <p:cNvSpPr txBox="1"/>
          <p:nvPr/>
        </p:nvSpPr>
        <p:spPr>
          <a:xfrm>
            <a:off x="1371600" y="6217920"/>
            <a:ext cx="9144000" cy="548640"/>
          </a:xfrm>
          <a:prstGeom prst="rect">
            <a:avLst/>
          </a:prstGeom>
          <a:noFill/>
        </p:spPr>
        <p:txBody>
          <a:bodyPr wrap="square">
            <a:spAutoFit/>
          </a:bodyPr>
          <a:lstStyle/>
          <a:p>
            <a:pPr algn="ctr"/>
            <a:r>
              <a:rPr sz="1400" b="0">
                <a:solidFill>
                  <a:srgbClr val="FFFFFF"/>
                </a:solidFill>
                <a:latin typeface="Meiryo UI"/>
              </a:rPr>
              <a:t>株式会社あおぞら</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目次</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Rectangle 6"/>
          <p:cNvSpPr/>
          <p:nvPr/>
        </p:nvSpPr>
        <p:spPr>
          <a:xfrm>
            <a:off x="457200" y="1234440"/>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502920" cy="548640"/>
          </a:xfrm>
          <a:prstGeom prst="rect">
            <a:avLst/>
          </a:prstGeom>
          <a:noFill/>
        </p:spPr>
        <p:txBody>
          <a:bodyPr wrap="square">
            <a:spAutoFit/>
          </a:bodyPr>
          <a:lstStyle/>
          <a:p>
            <a:pPr algn="ctr"/>
            <a:r>
              <a:rPr sz="1400" b="1">
                <a:solidFill>
                  <a:srgbClr val="FFFFFF"/>
                </a:solidFill>
                <a:latin typeface="Meiryo UI"/>
              </a:rPr>
              <a:t>01</a:t>
            </a:r>
          </a:p>
        </p:txBody>
      </p:sp>
      <p:sp>
        <p:nvSpPr>
          <p:cNvPr id="9" name="TextBox 8"/>
          <p:cNvSpPr txBox="1"/>
          <p:nvPr/>
        </p:nvSpPr>
        <p:spPr>
          <a:xfrm>
            <a:off x="1051560" y="1188720"/>
            <a:ext cx="4572000" cy="411480"/>
          </a:xfrm>
          <a:prstGeom prst="rect">
            <a:avLst/>
          </a:prstGeom>
          <a:noFill/>
        </p:spPr>
        <p:txBody>
          <a:bodyPr wrap="square">
            <a:spAutoFit/>
          </a:bodyPr>
          <a:lstStyle/>
          <a:p>
            <a:pPr algn="l"/>
            <a:r>
              <a:rPr sz="1600" b="1">
                <a:solidFill>
                  <a:srgbClr val="1A202C"/>
                </a:solidFill>
                <a:latin typeface="Meiryo UI"/>
              </a:rPr>
              <a:t>アプリの概要</a:t>
            </a:r>
          </a:p>
        </p:txBody>
      </p:sp>
      <p:sp>
        <p:nvSpPr>
          <p:cNvPr id="10" name="TextBox 9"/>
          <p:cNvSpPr txBox="1"/>
          <p:nvPr/>
        </p:nvSpPr>
        <p:spPr>
          <a:xfrm>
            <a:off x="1051560" y="1572768"/>
            <a:ext cx="4572000" cy="411480"/>
          </a:xfrm>
          <a:prstGeom prst="rect">
            <a:avLst/>
          </a:prstGeom>
          <a:noFill/>
        </p:spPr>
        <p:txBody>
          <a:bodyPr wrap="square">
            <a:spAutoFit/>
          </a:bodyPr>
          <a:lstStyle/>
          <a:p>
            <a:pPr algn="l"/>
            <a:r>
              <a:rPr sz="1200" b="0">
                <a:solidFill>
                  <a:srgbClr val="717D8A"/>
                </a:solidFill>
                <a:latin typeface="Meiryo UI"/>
              </a:rPr>
              <a:t>何のためのアプリか？</a:t>
            </a:r>
          </a:p>
        </p:txBody>
      </p:sp>
      <p:sp>
        <p:nvSpPr>
          <p:cNvPr id="11" name="Rectangle 10"/>
          <p:cNvSpPr/>
          <p:nvPr/>
        </p:nvSpPr>
        <p:spPr>
          <a:xfrm>
            <a:off x="6400800" y="1234440"/>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34440"/>
            <a:ext cx="502920" cy="548640"/>
          </a:xfrm>
          <a:prstGeom prst="rect">
            <a:avLst/>
          </a:prstGeom>
          <a:noFill/>
        </p:spPr>
        <p:txBody>
          <a:bodyPr wrap="square">
            <a:spAutoFit/>
          </a:bodyPr>
          <a:lstStyle/>
          <a:p>
            <a:pPr algn="ctr"/>
            <a:r>
              <a:rPr sz="1400" b="1">
                <a:solidFill>
                  <a:srgbClr val="FFFFFF"/>
                </a:solidFill>
                <a:latin typeface="Meiryo UI"/>
              </a:rPr>
              <a:t>02</a:t>
            </a:r>
          </a:p>
        </p:txBody>
      </p:sp>
      <p:sp>
        <p:nvSpPr>
          <p:cNvPr id="13" name="TextBox 12"/>
          <p:cNvSpPr txBox="1"/>
          <p:nvPr/>
        </p:nvSpPr>
        <p:spPr>
          <a:xfrm>
            <a:off x="6995160" y="1188720"/>
            <a:ext cx="4572000" cy="411480"/>
          </a:xfrm>
          <a:prstGeom prst="rect">
            <a:avLst/>
          </a:prstGeom>
          <a:noFill/>
        </p:spPr>
        <p:txBody>
          <a:bodyPr wrap="square">
            <a:spAutoFit/>
          </a:bodyPr>
          <a:lstStyle/>
          <a:p>
            <a:pPr algn="l"/>
            <a:r>
              <a:rPr sz="1600" b="1">
                <a:solidFill>
                  <a:srgbClr val="1A202C"/>
                </a:solidFill>
                <a:latin typeface="Meiryo UI"/>
              </a:rPr>
              <a:t>ログインと画面構成</a:t>
            </a:r>
          </a:p>
        </p:txBody>
      </p:sp>
      <p:sp>
        <p:nvSpPr>
          <p:cNvPr id="14" name="TextBox 13"/>
          <p:cNvSpPr txBox="1"/>
          <p:nvPr/>
        </p:nvSpPr>
        <p:spPr>
          <a:xfrm>
            <a:off x="6995160" y="1572768"/>
            <a:ext cx="4572000" cy="411480"/>
          </a:xfrm>
          <a:prstGeom prst="rect">
            <a:avLst/>
          </a:prstGeom>
          <a:noFill/>
        </p:spPr>
        <p:txBody>
          <a:bodyPr wrap="square">
            <a:spAutoFit/>
          </a:bodyPr>
          <a:lstStyle/>
          <a:p>
            <a:pPr algn="l"/>
            <a:r>
              <a:rPr sz="1200" b="0">
                <a:solidFill>
                  <a:srgbClr val="717D8A"/>
                </a:solidFill>
                <a:latin typeface="Meiryo UI"/>
              </a:rPr>
              <a:t>最初にすること</a:t>
            </a:r>
          </a:p>
        </p:txBody>
      </p:sp>
      <p:sp>
        <p:nvSpPr>
          <p:cNvPr id="15" name="Rectangle 14"/>
          <p:cNvSpPr/>
          <p:nvPr/>
        </p:nvSpPr>
        <p:spPr>
          <a:xfrm>
            <a:off x="457200" y="2258568"/>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58568"/>
            <a:ext cx="502920" cy="548640"/>
          </a:xfrm>
          <a:prstGeom prst="rect">
            <a:avLst/>
          </a:prstGeom>
          <a:noFill/>
        </p:spPr>
        <p:txBody>
          <a:bodyPr wrap="square">
            <a:spAutoFit/>
          </a:bodyPr>
          <a:lstStyle/>
          <a:p>
            <a:pPr algn="ctr"/>
            <a:r>
              <a:rPr sz="1400" b="1">
                <a:solidFill>
                  <a:srgbClr val="FFFFFF"/>
                </a:solidFill>
                <a:latin typeface="Meiryo UI"/>
              </a:rPr>
              <a:t>03</a:t>
            </a:r>
          </a:p>
        </p:txBody>
      </p:sp>
      <p:sp>
        <p:nvSpPr>
          <p:cNvPr id="17" name="TextBox 16"/>
          <p:cNvSpPr txBox="1"/>
          <p:nvPr/>
        </p:nvSpPr>
        <p:spPr>
          <a:xfrm>
            <a:off x="1051560" y="2212848"/>
            <a:ext cx="4572000" cy="411480"/>
          </a:xfrm>
          <a:prstGeom prst="rect">
            <a:avLst/>
          </a:prstGeom>
          <a:noFill/>
        </p:spPr>
        <p:txBody>
          <a:bodyPr wrap="square">
            <a:spAutoFit/>
          </a:bodyPr>
          <a:lstStyle/>
          <a:p>
            <a:pPr algn="l"/>
            <a:r>
              <a:rPr sz="1600" b="1">
                <a:solidFill>
                  <a:srgbClr val="1A202C"/>
                </a:solidFill>
                <a:latin typeface="Meiryo UI"/>
              </a:rPr>
              <a:t>利用者管理</a:t>
            </a:r>
          </a:p>
        </p:txBody>
      </p:sp>
      <p:sp>
        <p:nvSpPr>
          <p:cNvPr id="18" name="TextBox 17"/>
          <p:cNvSpPr txBox="1"/>
          <p:nvPr/>
        </p:nvSpPr>
        <p:spPr>
          <a:xfrm>
            <a:off x="1051560" y="2596896"/>
            <a:ext cx="4572000" cy="411480"/>
          </a:xfrm>
          <a:prstGeom prst="rect">
            <a:avLst/>
          </a:prstGeom>
          <a:noFill/>
        </p:spPr>
        <p:txBody>
          <a:bodyPr wrap="square">
            <a:spAutoFit/>
          </a:bodyPr>
          <a:lstStyle/>
          <a:p>
            <a:pPr algn="l"/>
            <a:r>
              <a:rPr sz="1200" b="0">
                <a:solidFill>
                  <a:srgbClr val="717D8A"/>
                </a:solidFill>
                <a:latin typeface="Meiryo UI"/>
              </a:rPr>
              <a:t>6つのタブで情報を管理</a:t>
            </a:r>
          </a:p>
        </p:txBody>
      </p:sp>
      <p:sp>
        <p:nvSpPr>
          <p:cNvPr id="19" name="Rectangle 18"/>
          <p:cNvSpPr/>
          <p:nvPr/>
        </p:nvSpPr>
        <p:spPr>
          <a:xfrm>
            <a:off x="6400800" y="2258568"/>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58568"/>
            <a:ext cx="502920" cy="548640"/>
          </a:xfrm>
          <a:prstGeom prst="rect">
            <a:avLst/>
          </a:prstGeom>
          <a:noFill/>
        </p:spPr>
        <p:txBody>
          <a:bodyPr wrap="square">
            <a:spAutoFit/>
          </a:bodyPr>
          <a:lstStyle/>
          <a:p>
            <a:pPr algn="ctr"/>
            <a:r>
              <a:rPr sz="1400" b="1">
                <a:solidFill>
                  <a:srgbClr val="FFFFFF"/>
                </a:solidFill>
                <a:latin typeface="Meiryo UI"/>
              </a:rPr>
              <a:t>04</a:t>
            </a:r>
          </a:p>
        </p:txBody>
      </p:sp>
      <p:sp>
        <p:nvSpPr>
          <p:cNvPr id="21" name="TextBox 20"/>
          <p:cNvSpPr txBox="1"/>
          <p:nvPr/>
        </p:nvSpPr>
        <p:spPr>
          <a:xfrm>
            <a:off x="6995160" y="2212848"/>
            <a:ext cx="4572000" cy="411480"/>
          </a:xfrm>
          <a:prstGeom prst="rect">
            <a:avLst/>
          </a:prstGeom>
          <a:noFill/>
        </p:spPr>
        <p:txBody>
          <a:bodyPr wrap="square">
            <a:spAutoFit/>
          </a:bodyPr>
          <a:lstStyle/>
          <a:p>
            <a:pPr algn="l"/>
            <a:r>
              <a:rPr sz="1600" b="1">
                <a:solidFill>
                  <a:srgbClr val="1A202C"/>
                </a:solidFill>
                <a:latin typeface="Meiryo UI"/>
              </a:rPr>
              <a:t>カイポケCSVインポート</a:t>
            </a:r>
          </a:p>
        </p:txBody>
      </p:sp>
      <p:sp>
        <p:nvSpPr>
          <p:cNvPr id="22" name="TextBox 21"/>
          <p:cNvSpPr txBox="1"/>
          <p:nvPr/>
        </p:nvSpPr>
        <p:spPr>
          <a:xfrm>
            <a:off x="6995160" y="2596896"/>
            <a:ext cx="4572000" cy="411480"/>
          </a:xfrm>
          <a:prstGeom prst="rect">
            <a:avLst/>
          </a:prstGeom>
          <a:noFill/>
        </p:spPr>
        <p:txBody>
          <a:bodyPr wrap="square">
            <a:spAutoFit/>
          </a:bodyPr>
          <a:lstStyle/>
          <a:p>
            <a:pPr algn="l"/>
            <a:r>
              <a:rPr sz="1200" b="0">
                <a:solidFill>
                  <a:srgbClr val="717D8A"/>
                </a:solidFill>
                <a:latin typeface="Meiryo UI"/>
              </a:rPr>
              <a:t>毎月の介護保険レンタルデータ取込</a:t>
            </a:r>
          </a:p>
        </p:txBody>
      </p:sp>
      <p:sp>
        <p:nvSpPr>
          <p:cNvPr id="23" name="Rectangle 22"/>
          <p:cNvSpPr/>
          <p:nvPr/>
        </p:nvSpPr>
        <p:spPr>
          <a:xfrm>
            <a:off x="457200" y="3282696"/>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282696"/>
            <a:ext cx="502920" cy="548640"/>
          </a:xfrm>
          <a:prstGeom prst="rect">
            <a:avLst/>
          </a:prstGeom>
          <a:noFill/>
        </p:spPr>
        <p:txBody>
          <a:bodyPr wrap="square">
            <a:spAutoFit/>
          </a:bodyPr>
          <a:lstStyle/>
          <a:p>
            <a:pPr algn="ctr"/>
            <a:r>
              <a:rPr sz="1400" b="1">
                <a:solidFill>
                  <a:srgbClr val="FFFFFF"/>
                </a:solidFill>
                <a:latin typeface="Meiryo UI"/>
              </a:rPr>
              <a:t>05</a:t>
            </a:r>
          </a:p>
        </p:txBody>
      </p:sp>
      <p:sp>
        <p:nvSpPr>
          <p:cNvPr id="25" name="TextBox 24"/>
          <p:cNvSpPr txBox="1"/>
          <p:nvPr/>
        </p:nvSpPr>
        <p:spPr>
          <a:xfrm>
            <a:off x="1051560" y="3236976"/>
            <a:ext cx="4572000" cy="411480"/>
          </a:xfrm>
          <a:prstGeom prst="rect">
            <a:avLst/>
          </a:prstGeom>
          <a:noFill/>
        </p:spPr>
        <p:txBody>
          <a:bodyPr wrap="square">
            <a:spAutoFit/>
          </a:bodyPr>
          <a:lstStyle/>
          <a:p>
            <a:pPr algn="l"/>
            <a:r>
              <a:rPr sz="1600" b="1">
                <a:solidFill>
                  <a:srgbClr val="1A202C"/>
                </a:solidFill>
                <a:latin typeface="Meiryo UI"/>
              </a:rPr>
              <a:t>月次売上処理</a:t>
            </a:r>
          </a:p>
        </p:txBody>
      </p:sp>
      <p:sp>
        <p:nvSpPr>
          <p:cNvPr id="26" name="TextBox 25"/>
          <p:cNvSpPr txBox="1"/>
          <p:nvPr/>
        </p:nvSpPr>
        <p:spPr>
          <a:xfrm>
            <a:off x="1051560" y="3621024"/>
            <a:ext cx="4572000" cy="411480"/>
          </a:xfrm>
          <a:prstGeom prst="rect">
            <a:avLst/>
          </a:prstGeom>
          <a:noFill/>
        </p:spPr>
        <p:txBody>
          <a:bodyPr wrap="square">
            <a:spAutoFit/>
          </a:bodyPr>
          <a:lstStyle/>
          <a:p>
            <a:pPr algn="l"/>
            <a:r>
              <a:rPr sz="1200" b="0">
                <a:solidFill>
                  <a:srgbClr val="717D8A"/>
                </a:solidFill>
                <a:latin typeface="Meiryo UI"/>
              </a:rPr>
              <a:t>売上確認・CSV出力・確定</a:t>
            </a:r>
          </a:p>
        </p:txBody>
      </p:sp>
      <p:sp>
        <p:nvSpPr>
          <p:cNvPr id="27" name="Rectangle 26"/>
          <p:cNvSpPr/>
          <p:nvPr/>
        </p:nvSpPr>
        <p:spPr>
          <a:xfrm>
            <a:off x="6400800" y="3282696"/>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3282696"/>
            <a:ext cx="502920" cy="548640"/>
          </a:xfrm>
          <a:prstGeom prst="rect">
            <a:avLst/>
          </a:prstGeom>
          <a:noFill/>
        </p:spPr>
        <p:txBody>
          <a:bodyPr wrap="square">
            <a:spAutoFit/>
          </a:bodyPr>
          <a:lstStyle/>
          <a:p>
            <a:pPr algn="ctr"/>
            <a:r>
              <a:rPr sz="1400" b="1">
                <a:solidFill>
                  <a:srgbClr val="FFFFFF"/>
                </a:solidFill>
                <a:latin typeface="Meiryo UI"/>
              </a:rPr>
              <a:t>06</a:t>
            </a:r>
          </a:p>
        </p:txBody>
      </p:sp>
      <p:sp>
        <p:nvSpPr>
          <p:cNvPr id="29" name="TextBox 28"/>
          <p:cNvSpPr txBox="1"/>
          <p:nvPr/>
        </p:nvSpPr>
        <p:spPr>
          <a:xfrm>
            <a:off x="6995160" y="3236976"/>
            <a:ext cx="4572000" cy="411480"/>
          </a:xfrm>
          <a:prstGeom prst="rect">
            <a:avLst/>
          </a:prstGeom>
          <a:noFill/>
        </p:spPr>
        <p:txBody>
          <a:bodyPr wrap="square">
            <a:spAutoFit/>
          </a:bodyPr>
          <a:lstStyle/>
          <a:p>
            <a:pPr algn="l"/>
            <a:r>
              <a:rPr sz="1600" b="1">
                <a:solidFill>
                  <a:srgbClr val="1A202C"/>
                </a:solidFill>
                <a:latin typeface="Meiryo UI"/>
              </a:rPr>
              <a:t>売上・仕入突合</a:t>
            </a:r>
          </a:p>
        </p:txBody>
      </p:sp>
      <p:sp>
        <p:nvSpPr>
          <p:cNvPr id="30" name="TextBox 29"/>
          <p:cNvSpPr txBox="1"/>
          <p:nvPr/>
        </p:nvSpPr>
        <p:spPr>
          <a:xfrm>
            <a:off x="6995160" y="3621024"/>
            <a:ext cx="4572000" cy="411480"/>
          </a:xfrm>
          <a:prstGeom prst="rect">
            <a:avLst/>
          </a:prstGeom>
          <a:noFill/>
        </p:spPr>
        <p:txBody>
          <a:bodyPr wrap="square">
            <a:spAutoFit/>
          </a:bodyPr>
          <a:lstStyle/>
          <a:p>
            <a:pPr algn="l"/>
            <a:r>
              <a:rPr sz="1200" b="0">
                <a:solidFill>
                  <a:srgbClr val="717D8A"/>
                </a:solidFill>
                <a:latin typeface="Meiryo UI"/>
              </a:rPr>
              <a:t>卸会社請求書との照合</a:t>
            </a:r>
          </a:p>
        </p:txBody>
      </p:sp>
      <p:sp>
        <p:nvSpPr>
          <p:cNvPr id="31" name="Rectangle 30"/>
          <p:cNvSpPr/>
          <p:nvPr/>
        </p:nvSpPr>
        <p:spPr>
          <a:xfrm>
            <a:off x="457200" y="4306824"/>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306824"/>
            <a:ext cx="502920" cy="548640"/>
          </a:xfrm>
          <a:prstGeom prst="rect">
            <a:avLst/>
          </a:prstGeom>
          <a:noFill/>
        </p:spPr>
        <p:txBody>
          <a:bodyPr wrap="square">
            <a:spAutoFit/>
          </a:bodyPr>
          <a:lstStyle/>
          <a:p>
            <a:pPr algn="ctr"/>
            <a:r>
              <a:rPr sz="1400" b="1">
                <a:solidFill>
                  <a:srgbClr val="FFFFFF"/>
                </a:solidFill>
                <a:latin typeface="Meiryo UI"/>
              </a:rPr>
              <a:t>07</a:t>
            </a:r>
          </a:p>
        </p:txBody>
      </p:sp>
      <p:sp>
        <p:nvSpPr>
          <p:cNvPr id="33" name="TextBox 32"/>
          <p:cNvSpPr txBox="1"/>
          <p:nvPr/>
        </p:nvSpPr>
        <p:spPr>
          <a:xfrm>
            <a:off x="1051560" y="4261104"/>
            <a:ext cx="4572000" cy="411480"/>
          </a:xfrm>
          <a:prstGeom prst="rect">
            <a:avLst/>
          </a:prstGeom>
          <a:noFill/>
        </p:spPr>
        <p:txBody>
          <a:bodyPr wrap="square">
            <a:spAutoFit/>
          </a:bodyPr>
          <a:lstStyle/>
          <a:p>
            <a:pPr algn="l"/>
            <a:r>
              <a:rPr sz="1600" b="1">
                <a:solidFill>
                  <a:srgbClr val="1A202C"/>
                </a:solidFill>
                <a:latin typeface="Meiryo UI"/>
              </a:rPr>
              <a:t>レセプトチェック</a:t>
            </a:r>
          </a:p>
        </p:txBody>
      </p:sp>
      <p:sp>
        <p:nvSpPr>
          <p:cNvPr id="34" name="TextBox 33"/>
          <p:cNvSpPr txBox="1"/>
          <p:nvPr/>
        </p:nvSpPr>
        <p:spPr>
          <a:xfrm>
            <a:off x="1051560" y="4645152"/>
            <a:ext cx="4572000" cy="411480"/>
          </a:xfrm>
          <a:prstGeom prst="rect">
            <a:avLst/>
          </a:prstGeom>
          <a:noFill/>
        </p:spPr>
        <p:txBody>
          <a:bodyPr wrap="square">
            <a:spAutoFit/>
          </a:bodyPr>
          <a:lstStyle/>
          <a:p>
            <a:pPr algn="l"/>
            <a:r>
              <a:rPr sz="1200" b="0">
                <a:solidFill>
                  <a:srgbClr val="717D8A"/>
                </a:solidFill>
                <a:latin typeface="Meiryo UI"/>
              </a:rPr>
              <a:t>請求前の確認チェックリスト</a:t>
            </a:r>
          </a:p>
        </p:txBody>
      </p:sp>
      <p:sp>
        <p:nvSpPr>
          <p:cNvPr id="35" name="Rectangle 34"/>
          <p:cNvSpPr/>
          <p:nvPr/>
        </p:nvSpPr>
        <p:spPr>
          <a:xfrm>
            <a:off x="6400800" y="4306824"/>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306824"/>
            <a:ext cx="502920" cy="548640"/>
          </a:xfrm>
          <a:prstGeom prst="rect">
            <a:avLst/>
          </a:prstGeom>
          <a:noFill/>
        </p:spPr>
        <p:txBody>
          <a:bodyPr wrap="square">
            <a:spAutoFit/>
          </a:bodyPr>
          <a:lstStyle/>
          <a:p>
            <a:pPr algn="ctr"/>
            <a:r>
              <a:rPr sz="1400" b="1">
                <a:solidFill>
                  <a:srgbClr val="FFFFFF"/>
                </a:solidFill>
                <a:latin typeface="Meiryo UI"/>
              </a:rPr>
              <a:t>08</a:t>
            </a:r>
          </a:p>
        </p:txBody>
      </p:sp>
      <p:sp>
        <p:nvSpPr>
          <p:cNvPr id="37" name="TextBox 36"/>
          <p:cNvSpPr txBox="1"/>
          <p:nvPr/>
        </p:nvSpPr>
        <p:spPr>
          <a:xfrm>
            <a:off x="6995160" y="4261104"/>
            <a:ext cx="4572000" cy="411480"/>
          </a:xfrm>
          <a:prstGeom prst="rect">
            <a:avLst/>
          </a:prstGeom>
          <a:noFill/>
        </p:spPr>
        <p:txBody>
          <a:bodyPr wrap="square">
            <a:spAutoFit/>
          </a:bodyPr>
          <a:lstStyle/>
          <a:p>
            <a:pPr algn="l"/>
            <a:r>
              <a:rPr sz="1600" b="1">
                <a:solidFill>
                  <a:srgbClr val="1A202C"/>
                </a:solidFill>
                <a:latin typeface="Meiryo UI"/>
              </a:rPr>
              <a:t>AI機能</a:t>
            </a:r>
          </a:p>
        </p:txBody>
      </p:sp>
      <p:sp>
        <p:nvSpPr>
          <p:cNvPr id="38" name="TextBox 37"/>
          <p:cNvSpPr txBox="1"/>
          <p:nvPr/>
        </p:nvSpPr>
        <p:spPr>
          <a:xfrm>
            <a:off x="6995160" y="4645152"/>
            <a:ext cx="4572000" cy="411480"/>
          </a:xfrm>
          <a:prstGeom prst="rect">
            <a:avLst/>
          </a:prstGeom>
          <a:noFill/>
        </p:spPr>
        <p:txBody>
          <a:bodyPr wrap="square">
            <a:spAutoFit/>
          </a:bodyPr>
          <a:lstStyle/>
          <a:p>
            <a:pPr algn="l"/>
            <a:r>
              <a:rPr sz="1200" b="0">
                <a:solidFill>
                  <a:srgbClr val="717D8A"/>
                </a:solidFill>
                <a:latin typeface="Meiryo UI"/>
              </a:rPr>
              <a:t>議事録生成・OCR・用具提案</a:t>
            </a:r>
          </a:p>
        </p:txBody>
      </p:sp>
      <p:sp>
        <p:nvSpPr>
          <p:cNvPr id="39" name="Rectangle 38"/>
          <p:cNvSpPr/>
          <p:nvPr/>
        </p:nvSpPr>
        <p:spPr>
          <a:xfrm>
            <a:off x="457200" y="5330952"/>
            <a:ext cx="502920" cy="5486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5330952"/>
            <a:ext cx="502920" cy="548640"/>
          </a:xfrm>
          <a:prstGeom prst="rect">
            <a:avLst/>
          </a:prstGeom>
          <a:noFill/>
        </p:spPr>
        <p:txBody>
          <a:bodyPr wrap="square">
            <a:spAutoFit/>
          </a:bodyPr>
          <a:lstStyle/>
          <a:p>
            <a:pPr algn="ctr"/>
            <a:r>
              <a:rPr sz="1400" b="1">
                <a:solidFill>
                  <a:srgbClr val="FFFFFF"/>
                </a:solidFill>
                <a:latin typeface="Meiryo UI"/>
              </a:rPr>
              <a:t>09</a:t>
            </a:r>
          </a:p>
        </p:txBody>
      </p:sp>
      <p:sp>
        <p:nvSpPr>
          <p:cNvPr id="41" name="TextBox 40"/>
          <p:cNvSpPr txBox="1"/>
          <p:nvPr/>
        </p:nvSpPr>
        <p:spPr>
          <a:xfrm>
            <a:off x="1051560" y="5285232"/>
            <a:ext cx="4572000" cy="411480"/>
          </a:xfrm>
          <a:prstGeom prst="rect">
            <a:avLst/>
          </a:prstGeom>
          <a:noFill/>
        </p:spPr>
        <p:txBody>
          <a:bodyPr wrap="square">
            <a:spAutoFit/>
          </a:bodyPr>
          <a:lstStyle/>
          <a:p>
            <a:pPr algn="l"/>
            <a:r>
              <a:rPr sz="1600" b="1">
                <a:solidFill>
                  <a:srgbClr val="1A202C"/>
                </a:solidFill>
                <a:latin typeface="Meiryo UI"/>
              </a:rPr>
              <a:t>ベッド管理 / 変更情報</a:t>
            </a:r>
          </a:p>
        </p:txBody>
      </p:sp>
      <p:sp>
        <p:nvSpPr>
          <p:cNvPr id="42" name="TextBox 41"/>
          <p:cNvSpPr txBox="1"/>
          <p:nvPr/>
        </p:nvSpPr>
        <p:spPr>
          <a:xfrm>
            <a:off x="1051560" y="5669280"/>
            <a:ext cx="4572000" cy="411480"/>
          </a:xfrm>
          <a:prstGeom prst="rect">
            <a:avLst/>
          </a:prstGeom>
          <a:noFill/>
        </p:spPr>
        <p:txBody>
          <a:bodyPr wrap="square">
            <a:spAutoFit/>
          </a:bodyPr>
          <a:lstStyle/>
          <a:p>
            <a:pPr algn="l"/>
            <a:r>
              <a:rPr sz="1200" b="0">
                <a:solidFill>
                  <a:srgbClr val="717D8A"/>
                </a:solidFill>
                <a:latin typeface="Meiryo UI"/>
              </a:rPr>
              <a:t>在庫管理・変更記録の一覧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01. アプリの概要</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88720"/>
            <a:ext cx="10972800" cy="548640"/>
          </a:xfrm>
          <a:prstGeom prst="rect">
            <a:avLst/>
          </a:prstGeom>
          <a:noFill/>
        </p:spPr>
        <p:txBody>
          <a:bodyPr wrap="square">
            <a:spAutoFit/>
          </a:bodyPr>
          <a:lstStyle/>
          <a:p>
            <a:pPr algn="l"/>
            <a:r>
              <a:rPr sz="2200" b="1">
                <a:solidFill>
                  <a:srgbClr val="2B6CB0"/>
                </a:solidFill>
                <a:latin typeface="Meiryo UI"/>
              </a:rPr>
              <a:t>WelfareAssist Pro とは</a:t>
            </a:r>
          </a:p>
        </p:txBody>
      </p:sp>
      <p:sp>
        <p:nvSpPr>
          <p:cNvPr id="8" name="TextBox 7"/>
          <p:cNvSpPr txBox="1"/>
          <p:nvPr/>
        </p:nvSpPr>
        <p:spPr>
          <a:xfrm>
            <a:off x="457200" y="1691640"/>
            <a:ext cx="10972800" cy="548640"/>
          </a:xfrm>
          <a:prstGeom prst="rect">
            <a:avLst/>
          </a:prstGeom>
          <a:noFill/>
        </p:spPr>
        <p:txBody>
          <a:bodyPr wrap="square">
            <a:spAutoFit/>
          </a:bodyPr>
          <a:lstStyle/>
          <a:p>
            <a:pPr algn="l"/>
            <a:r>
              <a:rPr sz="1600" b="0">
                <a:solidFill>
                  <a:srgbClr val="1A202C"/>
                </a:solidFill>
                <a:latin typeface="Meiryo UI"/>
              </a:rPr>
              <a:t>福祉用具専門相談員の日常業務をひとつのアプリで完結するための業務管理システムです。</a:t>
            </a:r>
          </a:p>
        </p:txBody>
      </p:sp>
      <p:sp>
        <p:nvSpPr>
          <p:cNvPr id="9" name="Rectangle 8"/>
          <p:cNvSpPr/>
          <p:nvPr/>
        </p:nvSpPr>
        <p:spPr>
          <a:xfrm>
            <a:off x="365760" y="210312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67127"/>
            <a:ext cx="5120640" cy="411480"/>
          </a:xfrm>
          <a:prstGeom prst="rect">
            <a:avLst/>
          </a:prstGeom>
          <a:noFill/>
        </p:spPr>
        <p:txBody>
          <a:bodyPr wrap="square">
            <a:spAutoFit/>
          </a:bodyPr>
          <a:lstStyle/>
          <a:p>
            <a:pPr algn="l"/>
            <a:r>
              <a:rPr sz="1500" b="1">
                <a:solidFill>
                  <a:srgbClr val="2B6CB0"/>
                </a:solidFill>
                <a:latin typeface="Meiryo UI"/>
              </a:rPr>
              <a:t>✦ 福祉用具集計</a:t>
            </a:r>
          </a:p>
        </p:txBody>
      </p:sp>
      <p:sp>
        <p:nvSpPr>
          <p:cNvPr id="11" name="TextBox 10"/>
          <p:cNvSpPr txBox="1"/>
          <p:nvPr/>
        </p:nvSpPr>
        <p:spPr>
          <a:xfrm>
            <a:off x="548640" y="2560320"/>
            <a:ext cx="5120640" cy="411480"/>
          </a:xfrm>
          <a:prstGeom prst="rect">
            <a:avLst/>
          </a:prstGeom>
          <a:noFill/>
        </p:spPr>
        <p:txBody>
          <a:bodyPr wrap="square">
            <a:spAutoFit/>
          </a:bodyPr>
          <a:lstStyle/>
          <a:p>
            <a:pPr algn="l"/>
            <a:r>
              <a:rPr sz="1200" b="0">
                <a:solidFill>
                  <a:srgbClr val="1A202C"/>
                </a:solidFill>
                <a:latin typeface="Meiryo UI"/>
              </a:rPr>
              <a:t>施設別・Status別・事業所別の3タブで福祉用具利用者を集計・一覧表示</a:t>
            </a:r>
          </a:p>
        </p:txBody>
      </p:sp>
      <p:sp>
        <p:nvSpPr>
          <p:cNvPr id="12" name="Rectangle 11"/>
          <p:cNvSpPr/>
          <p:nvPr/>
        </p:nvSpPr>
        <p:spPr>
          <a:xfrm>
            <a:off x="6263640" y="210312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67127"/>
            <a:ext cx="5120640" cy="411480"/>
          </a:xfrm>
          <a:prstGeom prst="rect">
            <a:avLst/>
          </a:prstGeom>
          <a:noFill/>
        </p:spPr>
        <p:txBody>
          <a:bodyPr wrap="square">
            <a:spAutoFit/>
          </a:bodyPr>
          <a:lstStyle/>
          <a:p>
            <a:pPr algn="l"/>
            <a:r>
              <a:rPr sz="1500" b="1">
                <a:solidFill>
                  <a:srgbClr val="2B6CB0"/>
                </a:solidFill>
                <a:latin typeface="Meiryo UI"/>
              </a:rPr>
              <a:t>✦ 利用者管理</a:t>
            </a:r>
          </a:p>
        </p:txBody>
      </p:sp>
      <p:sp>
        <p:nvSpPr>
          <p:cNvPr id="14" name="TextBox 13"/>
          <p:cNvSpPr txBox="1"/>
          <p:nvPr/>
        </p:nvSpPr>
        <p:spPr>
          <a:xfrm>
            <a:off x="6446520" y="2560320"/>
            <a:ext cx="5120640" cy="411480"/>
          </a:xfrm>
          <a:prstGeom prst="rect">
            <a:avLst/>
          </a:prstGeom>
          <a:noFill/>
        </p:spPr>
        <p:txBody>
          <a:bodyPr wrap="square">
            <a:spAutoFit/>
          </a:bodyPr>
          <a:lstStyle/>
          <a:p>
            <a:pPr algn="l"/>
            <a:r>
              <a:rPr sz="1200" b="0">
                <a:solidFill>
                  <a:srgbClr val="1A202C"/>
                </a:solidFill>
                <a:latin typeface="Meiryo UI"/>
              </a:rPr>
              <a:t>8,000件以上の利用者情報をGoogleスプレッドシート＋Kintoneと連携して管理</a:t>
            </a:r>
          </a:p>
        </p:txBody>
      </p:sp>
      <p:sp>
        <p:nvSpPr>
          <p:cNvPr id="15" name="Rectangle 14"/>
          <p:cNvSpPr/>
          <p:nvPr/>
        </p:nvSpPr>
        <p:spPr>
          <a:xfrm>
            <a:off x="365760" y="310896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172968"/>
            <a:ext cx="5120640" cy="411480"/>
          </a:xfrm>
          <a:prstGeom prst="rect">
            <a:avLst/>
          </a:prstGeom>
          <a:noFill/>
        </p:spPr>
        <p:txBody>
          <a:bodyPr wrap="square">
            <a:spAutoFit/>
          </a:bodyPr>
          <a:lstStyle/>
          <a:p>
            <a:pPr algn="l"/>
            <a:r>
              <a:rPr sz="1500" b="1">
                <a:solidFill>
                  <a:srgbClr val="2B6CB0"/>
                </a:solidFill>
                <a:latin typeface="Meiryo UI"/>
              </a:rPr>
              <a:t>✦ 月次売上処理</a:t>
            </a:r>
          </a:p>
        </p:txBody>
      </p:sp>
      <p:sp>
        <p:nvSpPr>
          <p:cNvPr id="17" name="TextBox 16"/>
          <p:cNvSpPr txBox="1"/>
          <p:nvPr/>
        </p:nvSpPr>
        <p:spPr>
          <a:xfrm>
            <a:off x="548640" y="3566160"/>
            <a:ext cx="5120640" cy="411480"/>
          </a:xfrm>
          <a:prstGeom prst="rect">
            <a:avLst/>
          </a:prstGeom>
          <a:noFill/>
        </p:spPr>
        <p:txBody>
          <a:bodyPr wrap="square">
            <a:spAutoFit/>
          </a:bodyPr>
          <a:lstStyle/>
          <a:p>
            <a:pPr algn="l"/>
            <a:r>
              <a:rPr sz="1200" b="0">
                <a:solidFill>
                  <a:srgbClr val="1A202C"/>
                </a:solidFill>
                <a:latin typeface="Meiryo UI"/>
              </a:rPr>
              <a:t>介護保険・自費レンタル・販売の売上を月次でCSV出力</a:t>
            </a:r>
          </a:p>
        </p:txBody>
      </p:sp>
      <p:sp>
        <p:nvSpPr>
          <p:cNvPr id="18" name="Rectangle 17"/>
          <p:cNvSpPr/>
          <p:nvPr/>
        </p:nvSpPr>
        <p:spPr>
          <a:xfrm>
            <a:off x="6263640" y="310896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172968"/>
            <a:ext cx="5120640" cy="411480"/>
          </a:xfrm>
          <a:prstGeom prst="rect">
            <a:avLst/>
          </a:prstGeom>
          <a:noFill/>
        </p:spPr>
        <p:txBody>
          <a:bodyPr wrap="square">
            <a:spAutoFit/>
          </a:bodyPr>
          <a:lstStyle/>
          <a:p>
            <a:pPr algn="l"/>
            <a:r>
              <a:rPr sz="1500" b="1">
                <a:solidFill>
                  <a:srgbClr val="2B6CB0"/>
                </a:solidFill>
                <a:latin typeface="Meiryo UI"/>
              </a:rPr>
              <a:t>✦ 売上・仕入突合</a:t>
            </a:r>
          </a:p>
        </p:txBody>
      </p:sp>
      <p:sp>
        <p:nvSpPr>
          <p:cNvPr id="20" name="TextBox 19"/>
          <p:cNvSpPr txBox="1"/>
          <p:nvPr/>
        </p:nvSpPr>
        <p:spPr>
          <a:xfrm>
            <a:off x="6446520" y="3566160"/>
            <a:ext cx="5120640" cy="411480"/>
          </a:xfrm>
          <a:prstGeom prst="rect">
            <a:avLst/>
          </a:prstGeom>
          <a:noFill/>
        </p:spPr>
        <p:txBody>
          <a:bodyPr wrap="square">
            <a:spAutoFit/>
          </a:bodyPr>
          <a:lstStyle/>
          <a:p>
            <a:pPr algn="l"/>
            <a:r>
              <a:rPr sz="1200" b="0">
                <a:solidFill>
                  <a:srgbClr val="1A202C"/>
                </a:solidFill>
                <a:latin typeface="Meiryo UI"/>
              </a:rPr>
              <a:t>卸会社6社の請求書をAI（OCR）で読み取り、粗利を自動計算</a:t>
            </a:r>
          </a:p>
        </p:txBody>
      </p:sp>
      <p:sp>
        <p:nvSpPr>
          <p:cNvPr id="21" name="Rectangle 20"/>
          <p:cNvSpPr/>
          <p:nvPr/>
        </p:nvSpPr>
        <p:spPr>
          <a:xfrm>
            <a:off x="365760" y="411480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178808"/>
            <a:ext cx="5120640" cy="411480"/>
          </a:xfrm>
          <a:prstGeom prst="rect">
            <a:avLst/>
          </a:prstGeom>
          <a:noFill/>
        </p:spPr>
        <p:txBody>
          <a:bodyPr wrap="square">
            <a:spAutoFit/>
          </a:bodyPr>
          <a:lstStyle/>
          <a:p>
            <a:pPr algn="l"/>
            <a:r>
              <a:rPr sz="1500" b="1">
                <a:solidFill>
                  <a:srgbClr val="2B6CB0"/>
                </a:solidFill>
                <a:latin typeface="Meiryo UI"/>
              </a:rPr>
              <a:t>✦ AI議事録生成</a:t>
            </a:r>
          </a:p>
        </p:txBody>
      </p:sp>
      <p:sp>
        <p:nvSpPr>
          <p:cNvPr id="23" name="TextBox 22"/>
          <p:cNvSpPr txBox="1"/>
          <p:nvPr/>
        </p:nvSpPr>
        <p:spPr>
          <a:xfrm>
            <a:off x="548640" y="4572000"/>
            <a:ext cx="5120640" cy="411480"/>
          </a:xfrm>
          <a:prstGeom prst="rect">
            <a:avLst/>
          </a:prstGeom>
          <a:noFill/>
        </p:spPr>
        <p:txBody>
          <a:bodyPr wrap="square">
            <a:spAutoFit/>
          </a:bodyPr>
          <a:lstStyle/>
          <a:p>
            <a:pPr algn="l"/>
            <a:r>
              <a:rPr sz="1200" b="0">
                <a:solidFill>
                  <a:srgbClr val="1A202C"/>
                </a:solidFill>
                <a:latin typeface="Meiryo UI"/>
              </a:rPr>
              <a:t>Google Meetのメモから担当者会議・カンファレンス議事録を自動生成</a:t>
            </a:r>
          </a:p>
        </p:txBody>
      </p:sp>
      <p:sp>
        <p:nvSpPr>
          <p:cNvPr id="24" name="Rectangle 23"/>
          <p:cNvSpPr/>
          <p:nvPr/>
        </p:nvSpPr>
        <p:spPr>
          <a:xfrm>
            <a:off x="6263640" y="411480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178808"/>
            <a:ext cx="5120640" cy="411480"/>
          </a:xfrm>
          <a:prstGeom prst="rect">
            <a:avLst/>
          </a:prstGeom>
          <a:noFill/>
        </p:spPr>
        <p:txBody>
          <a:bodyPr wrap="square">
            <a:spAutoFit/>
          </a:bodyPr>
          <a:lstStyle/>
          <a:p>
            <a:pPr algn="l"/>
            <a:r>
              <a:rPr sz="1500" b="1">
                <a:solidFill>
                  <a:srgbClr val="2B6CB0"/>
                </a:solidFill>
                <a:latin typeface="Meiryo UI"/>
              </a:rPr>
              <a:t>✦ レセプトチェック</a:t>
            </a:r>
          </a:p>
        </p:txBody>
      </p:sp>
      <p:sp>
        <p:nvSpPr>
          <p:cNvPr id="26" name="TextBox 25"/>
          <p:cNvSpPr txBox="1"/>
          <p:nvPr/>
        </p:nvSpPr>
        <p:spPr>
          <a:xfrm>
            <a:off x="6446520" y="4572000"/>
            <a:ext cx="5120640" cy="411480"/>
          </a:xfrm>
          <a:prstGeom prst="rect">
            <a:avLst/>
          </a:prstGeom>
          <a:noFill/>
        </p:spPr>
        <p:txBody>
          <a:bodyPr wrap="square">
            <a:spAutoFit/>
          </a:bodyPr>
          <a:lstStyle/>
          <a:p>
            <a:pPr algn="l"/>
            <a:r>
              <a:rPr sz="1200" b="0">
                <a:solidFill>
                  <a:srgbClr val="1A202C"/>
                </a:solidFill>
                <a:latin typeface="Meiryo UI"/>
              </a:rPr>
              <a:t>介護保険レンタルの請求前確認チェックリストをアプリ内で管理</a:t>
            </a:r>
          </a:p>
        </p:txBody>
      </p:sp>
      <p:sp>
        <p:nvSpPr>
          <p:cNvPr id="27" name="Rectangle 26"/>
          <p:cNvSpPr/>
          <p:nvPr/>
        </p:nvSpPr>
        <p:spPr>
          <a:xfrm>
            <a:off x="365760" y="5120640"/>
            <a:ext cx="5486400" cy="9144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184648"/>
            <a:ext cx="5120640" cy="411480"/>
          </a:xfrm>
          <a:prstGeom prst="rect">
            <a:avLst/>
          </a:prstGeom>
          <a:noFill/>
        </p:spPr>
        <p:txBody>
          <a:bodyPr wrap="square">
            <a:spAutoFit/>
          </a:bodyPr>
          <a:lstStyle/>
          <a:p>
            <a:pPr algn="l"/>
            <a:r>
              <a:rPr sz="1500" b="1">
                <a:solidFill>
                  <a:srgbClr val="2B6CB0"/>
                </a:solidFill>
                <a:latin typeface="Meiryo UI"/>
              </a:rPr>
              <a:t>✦ ベッド管理</a:t>
            </a:r>
          </a:p>
        </p:txBody>
      </p:sp>
      <p:sp>
        <p:nvSpPr>
          <p:cNvPr id="29" name="TextBox 28"/>
          <p:cNvSpPr txBox="1"/>
          <p:nvPr/>
        </p:nvSpPr>
        <p:spPr>
          <a:xfrm>
            <a:off x="548640" y="5577840"/>
            <a:ext cx="5120640" cy="411480"/>
          </a:xfrm>
          <a:prstGeom prst="rect">
            <a:avLst/>
          </a:prstGeom>
          <a:noFill/>
        </p:spPr>
        <p:txBody>
          <a:bodyPr wrap="square">
            <a:spAutoFit/>
          </a:bodyPr>
          <a:lstStyle/>
          <a:p>
            <a:pPr algn="l"/>
            <a:r>
              <a:rPr sz="1200" b="0">
                <a:solidFill>
                  <a:srgbClr val="1A202C"/>
                </a:solidFill>
                <a:latin typeface="Meiryo UI"/>
              </a:rPr>
              <a:t>自社所有ベッドの在庫・貸出・消毒・償却を一元管理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02. ログインと画面構成</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88720"/>
            <a:ext cx="10972800" cy="457200"/>
          </a:xfrm>
          <a:prstGeom prst="rect">
            <a:avLst/>
          </a:prstGeom>
          <a:noFill/>
        </p:spPr>
        <p:txBody>
          <a:bodyPr wrap="square">
            <a:spAutoFit/>
          </a:bodyPr>
          <a:lstStyle/>
          <a:p>
            <a:pPr algn="l"/>
            <a:r>
              <a:rPr sz="2000" b="1">
                <a:solidFill>
                  <a:srgbClr val="2B6CB0"/>
                </a:solidFill>
                <a:latin typeface="Meiryo UI"/>
              </a:rPr>
              <a:t>ログイン方法</a:t>
            </a:r>
          </a:p>
        </p:txBody>
      </p:sp>
      <p:sp>
        <p:nvSpPr>
          <p:cNvPr id="8" name="Rectangle 7"/>
          <p:cNvSpPr/>
          <p:nvPr/>
        </p:nvSpPr>
        <p:spPr>
          <a:xfrm>
            <a:off x="457200" y="1691640"/>
            <a:ext cx="41148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91640"/>
            <a:ext cx="411480" cy="384048"/>
          </a:xfrm>
          <a:prstGeom prst="rect">
            <a:avLst/>
          </a:prstGeom>
          <a:noFill/>
        </p:spPr>
        <p:txBody>
          <a:bodyPr wrap="square">
            <a:spAutoFit/>
          </a:bodyPr>
          <a:lstStyle/>
          <a:p>
            <a:pPr algn="ctr"/>
            <a:r>
              <a:rPr sz="1400" b="1">
                <a:solidFill>
                  <a:srgbClr val="FFFFFF"/>
                </a:solidFill>
                <a:latin typeface="Meiryo UI"/>
              </a:rPr>
              <a:t>1</a:t>
            </a:r>
          </a:p>
        </p:txBody>
      </p:sp>
      <p:sp>
        <p:nvSpPr>
          <p:cNvPr id="10" name="TextBox 9"/>
          <p:cNvSpPr txBox="1"/>
          <p:nvPr/>
        </p:nvSpPr>
        <p:spPr>
          <a:xfrm>
            <a:off x="960120" y="1719072"/>
            <a:ext cx="10515600" cy="384048"/>
          </a:xfrm>
          <a:prstGeom prst="rect">
            <a:avLst/>
          </a:prstGeom>
          <a:noFill/>
        </p:spPr>
        <p:txBody>
          <a:bodyPr wrap="square">
            <a:spAutoFit/>
          </a:bodyPr>
          <a:lstStyle/>
          <a:p>
            <a:pPr algn="l"/>
            <a:r>
              <a:rPr sz="1500" b="0">
                <a:solidFill>
                  <a:srgbClr val="1A202C"/>
                </a:solidFill>
                <a:latin typeface="Meiryo UI"/>
              </a:rPr>
              <a:t>ブラウザで https://welfare-assist-pro.web.app を開く</a:t>
            </a:r>
          </a:p>
        </p:txBody>
      </p:sp>
      <p:sp>
        <p:nvSpPr>
          <p:cNvPr id="11" name="Rectangle 10"/>
          <p:cNvSpPr/>
          <p:nvPr/>
        </p:nvSpPr>
        <p:spPr>
          <a:xfrm>
            <a:off x="457200" y="2194560"/>
            <a:ext cx="41148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94560"/>
            <a:ext cx="411480" cy="384048"/>
          </a:xfrm>
          <a:prstGeom prst="rect">
            <a:avLst/>
          </a:prstGeom>
          <a:noFill/>
        </p:spPr>
        <p:txBody>
          <a:bodyPr wrap="square">
            <a:spAutoFit/>
          </a:bodyPr>
          <a:lstStyle/>
          <a:p>
            <a:pPr algn="ctr"/>
            <a:r>
              <a:rPr sz="1400" b="1">
                <a:solidFill>
                  <a:srgbClr val="FFFFFF"/>
                </a:solidFill>
                <a:latin typeface="Meiryo UI"/>
              </a:rPr>
              <a:t>2</a:t>
            </a:r>
          </a:p>
        </p:txBody>
      </p:sp>
      <p:sp>
        <p:nvSpPr>
          <p:cNvPr id="13" name="TextBox 12"/>
          <p:cNvSpPr txBox="1"/>
          <p:nvPr/>
        </p:nvSpPr>
        <p:spPr>
          <a:xfrm>
            <a:off x="960120" y="2221991"/>
            <a:ext cx="10515600" cy="384048"/>
          </a:xfrm>
          <a:prstGeom prst="rect">
            <a:avLst/>
          </a:prstGeom>
          <a:noFill/>
        </p:spPr>
        <p:txBody>
          <a:bodyPr wrap="square">
            <a:spAutoFit/>
          </a:bodyPr>
          <a:lstStyle/>
          <a:p>
            <a:pPr algn="l"/>
            <a:r>
              <a:rPr sz="1500" b="0">
                <a:solidFill>
                  <a:srgbClr val="1A202C"/>
                </a:solidFill>
                <a:latin typeface="Meiryo UI"/>
              </a:rPr>
              <a:t>「Googleでサインイン」ボタンをクリック</a:t>
            </a:r>
          </a:p>
        </p:txBody>
      </p:sp>
      <p:sp>
        <p:nvSpPr>
          <p:cNvPr id="14" name="Rectangle 13"/>
          <p:cNvSpPr/>
          <p:nvPr/>
        </p:nvSpPr>
        <p:spPr>
          <a:xfrm>
            <a:off x="457200" y="2697480"/>
            <a:ext cx="41148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697480"/>
            <a:ext cx="411480" cy="384048"/>
          </a:xfrm>
          <a:prstGeom prst="rect">
            <a:avLst/>
          </a:prstGeom>
          <a:noFill/>
        </p:spPr>
        <p:txBody>
          <a:bodyPr wrap="square">
            <a:spAutoFit/>
          </a:bodyPr>
          <a:lstStyle/>
          <a:p>
            <a:pPr algn="ctr"/>
            <a:r>
              <a:rPr sz="1400" b="1">
                <a:solidFill>
                  <a:srgbClr val="FFFFFF"/>
                </a:solidFill>
                <a:latin typeface="Meiryo UI"/>
              </a:rPr>
              <a:t>3</a:t>
            </a:r>
          </a:p>
        </p:txBody>
      </p:sp>
      <p:sp>
        <p:nvSpPr>
          <p:cNvPr id="16" name="TextBox 15"/>
          <p:cNvSpPr txBox="1"/>
          <p:nvPr/>
        </p:nvSpPr>
        <p:spPr>
          <a:xfrm>
            <a:off x="960120" y="2724912"/>
            <a:ext cx="10515600" cy="384048"/>
          </a:xfrm>
          <a:prstGeom prst="rect">
            <a:avLst/>
          </a:prstGeom>
          <a:noFill/>
        </p:spPr>
        <p:txBody>
          <a:bodyPr wrap="square">
            <a:spAutoFit/>
          </a:bodyPr>
          <a:lstStyle/>
          <a:p>
            <a:pPr algn="l"/>
            <a:r>
              <a:rPr sz="1500" b="0">
                <a:solidFill>
                  <a:srgbClr val="1A202C"/>
                </a:solidFill>
                <a:latin typeface="Meiryo UI"/>
              </a:rPr>
              <a:t>会社のGoogleアカウント（@社内ドメイン）でログイン</a:t>
            </a:r>
          </a:p>
        </p:txBody>
      </p:sp>
      <p:sp>
        <p:nvSpPr>
          <p:cNvPr id="17" name="TextBox 16"/>
          <p:cNvSpPr txBox="1"/>
          <p:nvPr/>
        </p:nvSpPr>
        <p:spPr>
          <a:xfrm>
            <a:off x="457200" y="3429000"/>
            <a:ext cx="10972800" cy="457200"/>
          </a:xfrm>
          <a:prstGeom prst="rect">
            <a:avLst/>
          </a:prstGeom>
          <a:noFill/>
        </p:spPr>
        <p:txBody>
          <a:bodyPr wrap="square">
            <a:spAutoFit/>
          </a:bodyPr>
          <a:lstStyle/>
          <a:p>
            <a:pPr algn="l"/>
            <a:r>
              <a:rPr sz="2000" b="1">
                <a:solidFill>
                  <a:srgbClr val="2B6CB0"/>
                </a:solidFill>
                <a:latin typeface="Meiryo UI"/>
              </a:rPr>
              <a:t>画面構成</a:t>
            </a:r>
          </a:p>
        </p:txBody>
      </p:sp>
      <p:sp>
        <p:nvSpPr>
          <p:cNvPr id="18" name="Rectangle 17"/>
          <p:cNvSpPr/>
          <p:nvPr/>
        </p:nvSpPr>
        <p:spPr>
          <a:xfrm>
            <a:off x="457200" y="3931920"/>
            <a:ext cx="5577840" cy="22860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77639"/>
            <a:ext cx="5212080" cy="457200"/>
          </a:xfrm>
          <a:prstGeom prst="rect">
            <a:avLst/>
          </a:prstGeom>
          <a:noFill/>
        </p:spPr>
        <p:txBody>
          <a:bodyPr wrap="square">
            <a:spAutoFit/>
          </a:bodyPr>
          <a:lstStyle/>
          <a:p>
            <a:pPr algn="l"/>
            <a:r>
              <a:rPr sz="1500" b="1">
                <a:solidFill>
                  <a:srgbClr val="2B6CB0"/>
                </a:solidFill>
                <a:latin typeface="Meiryo UI"/>
              </a:rPr>
              <a:t>左サイドバー（幅320px）</a:t>
            </a:r>
          </a:p>
        </p:txBody>
      </p:sp>
      <p:sp>
        <p:nvSpPr>
          <p:cNvPr id="20" name="TextBox 19"/>
          <p:cNvSpPr txBox="1"/>
          <p:nvPr/>
        </p:nvSpPr>
        <p:spPr>
          <a:xfrm>
            <a:off x="640080" y="4434840"/>
            <a:ext cx="5212080" cy="1645920"/>
          </a:xfrm>
          <a:prstGeom prst="rect">
            <a:avLst/>
          </a:prstGeom>
          <a:noFill/>
        </p:spPr>
        <p:txBody>
          <a:bodyPr wrap="square">
            <a:spAutoFit/>
          </a:bodyPr>
          <a:lstStyle/>
          <a:p>
            <a:pPr algn="l"/>
            <a:r>
              <a:rPr sz="1300" b="0">
                <a:solidFill>
                  <a:srgbClr val="1A202C"/>
                </a:solidFill>
                <a:latin typeface="Meiryo UI"/>
              </a:rPr>
              <a:t>・ 利用者検索（氏名/カナ/あおぞらID）</a:t>
            </a:r>
          </a:p>
          <a:p>
            <a:pPr algn="l"/>
            <a:r>
              <a:rPr sz="1300" b="0">
                <a:solidFill>
                  <a:srgbClr val="1A202C"/>
                </a:solidFill>
                <a:latin typeface="Meiryo UI"/>
              </a:rPr>
              <a:t>・ 各種ページボタン（福祉用具集計/突合/月次売上/変更情報/ベッド管理/レセプト/ヘルプ）</a:t>
            </a:r>
          </a:p>
          <a:p>
            <a:pPr algn="l"/>
            <a:r>
              <a:rPr sz="1300" b="0">
                <a:solidFill>
                  <a:srgbClr val="1A202C"/>
                </a:solidFill>
                <a:latin typeface="Meiryo UI"/>
              </a:rPr>
              <a:t>・ 利用者一覧（クリックで詳細表示）</a:t>
            </a:r>
          </a:p>
        </p:txBody>
      </p:sp>
      <p:sp>
        <p:nvSpPr>
          <p:cNvPr id="21" name="Rectangle 20"/>
          <p:cNvSpPr/>
          <p:nvPr/>
        </p:nvSpPr>
        <p:spPr>
          <a:xfrm>
            <a:off x="6309360" y="3931920"/>
            <a:ext cx="5577840" cy="228600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977639"/>
            <a:ext cx="5212080" cy="457200"/>
          </a:xfrm>
          <a:prstGeom prst="rect">
            <a:avLst/>
          </a:prstGeom>
          <a:noFill/>
        </p:spPr>
        <p:txBody>
          <a:bodyPr wrap="square">
            <a:spAutoFit/>
          </a:bodyPr>
          <a:lstStyle/>
          <a:p>
            <a:pPr algn="l"/>
            <a:r>
              <a:rPr sz="1500" b="1">
                <a:solidFill>
                  <a:srgbClr val="2B6CB0"/>
                </a:solidFill>
                <a:latin typeface="Meiryo UI"/>
              </a:rPr>
              <a:t>メインコンテンツ（右側）</a:t>
            </a:r>
          </a:p>
        </p:txBody>
      </p:sp>
      <p:sp>
        <p:nvSpPr>
          <p:cNvPr id="23" name="TextBox 22"/>
          <p:cNvSpPr txBox="1"/>
          <p:nvPr/>
        </p:nvSpPr>
        <p:spPr>
          <a:xfrm>
            <a:off x="6492240" y="4434840"/>
            <a:ext cx="5212080" cy="1645920"/>
          </a:xfrm>
          <a:prstGeom prst="rect">
            <a:avLst/>
          </a:prstGeom>
          <a:noFill/>
        </p:spPr>
        <p:txBody>
          <a:bodyPr wrap="square">
            <a:spAutoFit/>
          </a:bodyPr>
          <a:lstStyle/>
          <a:p>
            <a:pPr algn="l"/>
            <a:r>
              <a:rPr sz="1300" b="0">
                <a:solidFill>
                  <a:srgbClr val="1A202C"/>
                </a:solidFill>
                <a:latin typeface="Meiryo UI"/>
              </a:rPr>
              <a:t>・ 利用者詳細（6タブ）または各種専用ページ</a:t>
            </a:r>
          </a:p>
          <a:p>
            <a:pPr algn="l"/>
            <a:r>
              <a:rPr sz="1300" b="0">
                <a:solidFill>
                  <a:srgbClr val="1A202C"/>
                </a:solidFill>
                <a:latin typeface="Meiryo UI"/>
              </a:rPr>
              <a:t>・ 利用者が未選択のときは案内メッセージを表示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03. 利用者管理</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88720"/>
            <a:ext cx="10972800" cy="457200"/>
          </a:xfrm>
          <a:prstGeom prst="rect">
            <a:avLst/>
          </a:prstGeom>
          <a:noFill/>
        </p:spPr>
        <p:txBody>
          <a:bodyPr wrap="square">
            <a:spAutoFit/>
          </a:bodyPr>
          <a:lstStyle/>
          <a:p>
            <a:pPr algn="l"/>
            <a:r>
              <a:rPr sz="2000" b="1">
                <a:solidFill>
                  <a:srgbClr val="2B6CB0"/>
                </a:solidFill>
                <a:latin typeface="Meiryo UI"/>
              </a:rPr>
              <a:t>利用者詳細画面 — 6つのタブ</a:t>
            </a:r>
          </a:p>
        </p:txBody>
      </p:sp>
      <p:sp>
        <p:nvSpPr>
          <p:cNvPr id="8" name="Rectangle 7"/>
          <p:cNvSpPr/>
          <p:nvPr/>
        </p:nvSpPr>
        <p:spPr>
          <a:xfrm>
            <a:off x="365760" y="178308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783080"/>
            <a:ext cx="685800" cy="502920"/>
          </a:xfrm>
          <a:prstGeom prst="rect">
            <a:avLst/>
          </a:prstGeom>
          <a:noFill/>
        </p:spPr>
        <p:txBody>
          <a:bodyPr wrap="square">
            <a:spAutoFit/>
          </a:bodyPr>
          <a:lstStyle/>
          <a:p>
            <a:pPr algn="ctr"/>
            <a:r>
              <a:rPr sz="1100" b="1">
                <a:solidFill>
                  <a:srgbClr val="FFFFFF"/>
                </a:solidFill>
                <a:latin typeface="Meiryo UI"/>
              </a:rPr>
              <a:t>Tab 1</a:t>
            </a:r>
          </a:p>
        </p:txBody>
      </p:sp>
      <p:sp>
        <p:nvSpPr>
          <p:cNvPr id="10" name="TextBox 9"/>
          <p:cNvSpPr txBox="1"/>
          <p:nvPr/>
        </p:nvSpPr>
        <p:spPr>
          <a:xfrm>
            <a:off x="1143000" y="1783080"/>
            <a:ext cx="4754880" cy="457200"/>
          </a:xfrm>
          <a:prstGeom prst="rect">
            <a:avLst/>
          </a:prstGeom>
          <a:noFill/>
        </p:spPr>
        <p:txBody>
          <a:bodyPr wrap="square">
            <a:spAutoFit/>
          </a:bodyPr>
          <a:lstStyle/>
          <a:p>
            <a:pPr algn="l"/>
            <a:r>
              <a:rPr sz="1500" b="1">
                <a:solidFill>
                  <a:srgbClr val="1A202C"/>
                </a:solidFill>
                <a:latin typeface="Meiryo UI"/>
              </a:rPr>
              <a:t>基本情報</a:t>
            </a:r>
          </a:p>
        </p:txBody>
      </p:sp>
      <p:sp>
        <p:nvSpPr>
          <p:cNvPr id="11" name="TextBox 10"/>
          <p:cNvSpPr txBox="1"/>
          <p:nvPr/>
        </p:nvSpPr>
        <p:spPr>
          <a:xfrm>
            <a:off x="365760" y="2331720"/>
            <a:ext cx="5577840" cy="822960"/>
          </a:xfrm>
          <a:prstGeom prst="rect">
            <a:avLst/>
          </a:prstGeom>
          <a:noFill/>
        </p:spPr>
        <p:txBody>
          <a:bodyPr wrap="square">
            <a:spAutoFit/>
          </a:bodyPr>
          <a:lstStyle/>
          <a:p>
            <a:pPr algn="l"/>
            <a:r>
              <a:rPr sz="1200" b="0">
                <a:solidFill>
                  <a:srgbClr val="717D8A"/>
                </a:solidFill>
                <a:latin typeface="Meiryo UI"/>
              </a:rPr>
              <a:t>事業所・施設名・ケアマネ・要介護度など基本属性。編集内容はFirestoreに即時保存され、毎日の自動更新後も保持されます。</a:t>
            </a:r>
          </a:p>
        </p:txBody>
      </p:sp>
      <p:sp>
        <p:nvSpPr>
          <p:cNvPr id="12" name="Rectangle 11"/>
          <p:cNvSpPr/>
          <p:nvPr/>
        </p:nvSpPr>
        <p:spPr>
          <a:xfrm>
            <a:off x="6263640" y="178308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783080"/>
            <a:ext cx="685800" cy="502920"/>
          </a:xfrm>
          <a:prstGeom prst="rect">
            <a:avLst/>
          </a:prstGeom>
          <a:noFill/>
        </p:spPr>
        <p:txBody>
          <a:bodyPr wrap="square">
            <a:spAutoFit/>
          </a:bodyPr>
          <a:lstStyle/>
          <a:p>
            <a:pPr algn="ctr"/>
            <a:r>
              <a:rPr sz="1100" b="1">
                <a:solidFill>
                  <a:srgbClr val="FFFFFF"/>
                </a:solidFill>
                <a:latin typeface="Meiryo UI"/>
              </a:rPr>
              <a:t>Tab 2</a:t>
            </a:r>
          </a:p>
        </p:txBody>
      </p:sp>
      <p:sp>
        <p:nvSpPr>
          <p:cNvPr id="14" name="TextBox 13"/>
          <p:cNvSpPr txBox="1"/>
          <p:nvPr/>
        </p:nvSpPr>
        <p:spPr>
          <a:xfrm>
            <a:off x="7040880" y="1783080"/>
            <a:ext cx="4754880" cy="457200"/>
          </a:xfrm>
          <a:prstGeom prst="rect">
            <a:avLst/>
          </a:prstGeom>
          <a:noFill/>
        </p:spPr>
        <p:txBody>
          <a:bodyPr wrap="square">
            <a:spAutoFit/>
          </a:bodyPr>
          <a:lstStyle/>
          <a:p>
            <a:pPr algn="l"/>
            <a:r>
              <a:rPr sz="1500" b="1">
                <a:solidFill>
                  <a:srgbClr val="1A202C"/>
                </a:solidFill>
                <a:latin typeface="Meiryo UI"/>
              </a:rPr>
              <a:t>病歴・医療情報</a:t>
            </a:r>
          </a:p>
        </p:txBody>
      </p:sp>
      <p:sp>
        <p:nvSpPr>
          <p:cNvPr id="15" name="TextBox 14"/>
          <p:cNvSpPr txBox="1"/>
          <p:nvPr/>
        </p:nvSpPr>
        <p:spPr>
          <a:xfrm>
            <a:off x="6263640" y="2331720"/>
            <a:ext cx="5577840" cy="822960"/>
          </a:xfrm>
          <a:prstGeom prst="rect">
            <a:avLst/>
          </a:prstGeom>
          <a:noFill/>
        </p:spPr>
        <p:txBody>
          <a:bodyPr wrap="square">
            <a:spAutoFit/>
          </a:bodyPr>
          <a:lstStyle/>
          <a:p>
            <a:pPr algn="l"/>
            <a:r>
              <a:rPr sz="1200" b="0">
                <a:solidFill>
                  <a:srgbClr val="717D8A"/>
                </a:solidFill>
                <a:latin typeface="Meiryo UI"/>
              </a:rPr>
              <a:t>病歴・服薬情報を管理。診断書・処方箋などのPDF/画像をAIでテキスト抽出可能。</a:t>
            </a:r>
          </a:p>
        </p:txBody>
      </p:sp>
      <p:sp>
        <p:nvSpPr>
          <p:cNvPr id="16" name="Rectangle 15"/>
          <p:cNvSpPr/>
          <p:nvPr/>
        </p:nvSpPr>
        <p:spPr>
          <a:xfrm>
            <a:off x="365760" y="324612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246120"/>
            <a:ext cx="685800" cy="502920"/>
          </a:xfrm>
          <a:prstGeom prst="rect">
            <a:avLst/>
          </a:prstGeom>
          <a:noFill/>
        </p:spPr>
        <p:txBody>
          <a:bodyPr wrap="square">
            <a:spAutoFit/>
          </a:bodyPr>
          <a:lstStyle/>
          <a:p>
            <a:pPr algn="ctr"/>
            <a:r>
              <a:rPr sz="1100" b="1">
                <a:solidFill>
                  <a:srgbClr val="FFFFFF"/>
                </a:solidFill>
                <a:latin typeface="Meiryo UI"/>
              </a:rPr>
              <a:t>Tab 3</a:t>
            </a:r>
          </a:p>
        </p:txBody>
      </p:sp>
      <p:sp>
        <p:nvSpPr>
          <p:cNvPr id="18" name="TextBox 17"/>
          <p:cNvSpPr txBox="1"/>
          <p:nvPr/>
        </p:nvSpPr>
        <p:spPr>
          <a:xfrm>
            <a:off x="1143000" y="3246120"/>
            <a:ext cx="4754880" cy="457200"/>
          </a:xfrm>
          <a:prstGeom prst="rect">
            <a:avLst/>
          </a:prstGeom>
          <a:noFill/>
        </p:spPr>
        <p:txBody>
          <a:bodyPr wrap="square">
            <a:spAutoFit/>
          </a:bodyPr>
          <a:lstStyle/>
          <a:p>
            <a:pPr algn="l"/>
            <a:r>
              <a:rPr sz="1500" b="1">
                <a:solidFill>
                  <a:srgbClr val="1A202C"/>
                </a:solidFill>
                <a:latin typeface="Meiryo UI"/>
              </a:rPr>
              <a:t>議事録</a:t>
            </a:r>
          </a:p>
        </p:txBody>
      </p:sp>
      <p:sp>
        <p:nvSpPr>
          <p:cNvPr id="19" name="TextBox 18"/>
          <p:cNvSpPr txBox="1"/>
          <p:nvPr/>
        </p:nvSpPr>
        <p:spPr>
          <a:xfrm>
            <a:off x="365760" y="3794759"/>
            <a:ext cx="5577840" cy="822960"/>
          </a:xfrm>
          <a:prstGeom prst="rect">
            <a:avLst/>
          </a:prstGeom>
          <a:noFill/>
        </p:spPr>
        <p:txBody>
          <a:bodyPr wrap="square">
            <a:spAutoFit/>
          </a:bodyPr>
          <a:lstStyle/>
          <a:p>
            <a:pPr algn="l"/>
            <a:r>
              <a:rPr sz="1200" b="0">
                <a:solidFill>
                  <a:srgbClr val="717D8A"/>
                </a:solidFill>
                <a:latin typeface="Meiryo UI"/>
              </a:rPr>
              <a:t>担当者会議・訪問記録を管理。Google Meetのメモ（URL/テキスト/ファイル）からAI議事録を自動生成。</a:t>
            </a:r>
          </a:p>
        </p:txBody>
      </p:sp>
      <p:sp>
        <p:nvSpPr>
          <p:cNvPr id="20" name="Rectangle 19"/>
          <p:cNvSpPr/>
          <p:nvPr/>
        </p:nvSpPr>
        <p:spPr>
          <a:xfrm>
            <a:off x="6263640" y="324612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3246120"/>
            <a:ext cx="685800" cy="502920"/>
          </a:xfrm>
          <a:prstGeom prst="rect">
            <a:avLst/>
          </a:prstGeom>
          <a:noFill/>
        </p:spPr>
        <p:txBody>
          <a:bodyPr wrap="square">
            <a:spAutoFit/>
          </a:bodyPr>
          <a:lstStyle/>
          <a:p>
            <a:pPr algn="ctr"/>
            <a:r>
              <a:rPr sz="1100" b="1">
                <a:solidFill>
                  <a:srgbClr val="FFFFFF"/>
                </a:solidFill>
                <a:latin typeface="Meiryo UI"/>
              </a:rPr>
              <a:t>Tab 4</a:t>
            </a:r>
          </a:p>
        </p:txBody>
      </p:sp>
      <p:sp>
        <p:nvSpPr>
          <p:cNvPr id="22" name="TextBox 21"/>
          <p:cNvSpPr txBox="1"/>
          <p:nvPr/>
        </p:nvSpPr>
        <p:spPr>
          <a:xfrm>
            <a:off x="7040880" y="3246120"/>
            <a:ext cx="4754880" cy="457200"/>
          </a:xfrm>
          <a:prstGeom prst="rect">
            <a:avLst/>
          </a:prstGeom>
          <a:noFill/>
        </p:spPr>
        <p:txBody>
          <a:bodyPr wrap="square">
            <a:spAutoFit/>
          </a:bodyPr>
          <a:lstStyle/>
          <a:p>
            <a:pPr algn="l"/>
            <a:r>
              <a:rPr sz="1500" b="1">
                <a:solidFill>
                  <a:srgbClr val="1A202C"/>
                </a:solidFill>
                <a:latin typeface="Meiryo UI"/>
              </a:rPr>
              <a:t>変更情報</a:t>
            </a:r>
          </a:p>
        </p:txBody>
      </p:sp>
      <p:sp>
        <p:nvSpPr>
          <p:cNvPr id="23" name="TextBox 22"/>
          <p:cNvSpPr txBox="1"/>
          <p:nvPr/>
        </p:nvSpPr>
        <p:spPr>
          <a:xfrm>
            <a:off x="6263640" y="3794759"/>
            <a:ext cx="5577840" cy="822960"/>
          </a:xfrm>
          <a:prstGeom prst="rect">
            <a:avLst/>
          </a:prstGeom>
          <a:noFill/>
        </p:spPr>
        <p:txBody>
          <a:bodyPr wrap="square">
            <a:spAutoFit/>
          </a:bodyPr>
          <a:lstStyle/>
          <a:p>
            <a:pPr algn="l"/>
            <a:r>
              <a:rPr sz="1200" b="0">
                <a:solidFill>
                  <a:srgbClr val="717D8A"/>
                </a:solidFill>
                <a:latin typeface="Meiryo UI"/>
              </a:rPr>
              <a:t>新規・入院・退院・解約・デモなどの変更を記録。デモ開始日・終了日も管理。</a:t>
            </a:r>
          </a:p>
        </p:txBody>
      </p:sp>
      <p:sp>
        <p:nvSpPr>
          <p:cNvPr id="24" name="Rectangle 23"/>
          <p:cNvSpPr/>
          <p:nvPr/>
        </p:nvSpPr>
        <p:spPr>
          <a:xfrm>
            <a:off x="365760" y="470916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4709160"/>
            <a:ext cx="685800" cy="502920"/>
          </a:xfrm>
          <a:prstGeom prst="rect">
            <a:avLst/>
          </a:prstGeom>
          <a:noFill/>
        </p:spPr>
        <p:txBody>
          <a:bodyPr wrap="square">
            <a:spAutoFit/>
          </a:bodyPr>
          <a:lstStyle/>
          <a:p>
            <a:pPr algn="ctr"/>
            <a:r>
              <a:rPr sz="1100" b="1">
                <a:solidFill>
                  <a:srgbClr val="FFFFFF"/>
                </a:solidFill>
                <a:latin typeface="Meiryo UI"/>
              </a:rPr>
              <a:t>Tab 5</a:t>
            </a:r>
          </a:p>
        </p:txBody>
      </p:sp>
      <p:sp>
        <p:nvSpPr>
          <p:cNvPr id="26" name="TextBox 25"/>
          <p:cNvSpPr txBox="1"/>
          <p:nvPr/>
        </p:nvSpPr>
        <p:spPr>
          <a:xfrm>
            <a:off x="1143000" y="4709160"/>
            <a:ext cx="4754880" cy="457200"/>
          </a:xfrm>
          <a:prstGeom prst="rect">
            <a:avLst/>
          </a:prstGeom>
          <a:noFill/>
        </p:spPr>
        <p:txBody>
          <a:bodyPr wrap="square">
            <a:spAutoFit/>
          </a:bodyPr>
          <a:lstStyle/>
          <a:p>
            <a:pPr algn="l"/>
            <a:r>
              <a:rPr sz="1500" b="1">
                <a:solidFill>
                  <a:srgbClr val="1A202C"/>
                </a:solidFill>
                <a:latin typeface="Meiryo UI"/>
              </a:rPr>
              <a:t>福祉用具選定</a:t>
            </a:r>
          </a:p>
        </p:txBody>
      </p:sp>
      <p:sp>
        <p:nvSpPr>
          <p:cNvPr id="27" name="TextBox 26"/>
          <p:cNvSpPr txBox="1"/>
          <p:nvPr/>
        </p:nvSpPr>
        <p:spPr>
          <a:xfrm>
            <a:off x="365760" y="5257800"/>
            <a:ext cx="5577840" cy="822960"/>
          </a:xfrm>
          <a:prstGeom prst="rect">
            <a:avLst/>
          </a:prstGeom>
          <a:noFill/>
        </p:spPr>
        <p:txBody>
          <a:bodyPr wrap="square">
            <a:spAutoFit/>
          </a:bodyPr>
          <a:lstStyle/>
          <a:p>
            <a:pPr algn="l"/>
            <a:r>
              <a:rPr sz="1200" b="0">
                <a:solidFill>
                  <a:srgbClr val="717D8A"/>
                </a:solidFill>
                <a:latin typeface="Meiryo UI"/>
              </a:rPr>
              <a:t>レンタル・販売品目の一覧・追加。種類→メーカー→商品名の順に選択（マスター連動）。</a:t>
            </a:r>
          </a:p>
        </p:txBody>
      </p:sp>
      <p:sp>
        <p:nvSpPr>
          <p:cNvPr id="28" name="Rectangle 27"/>
          <p:cNvSpPr/>
          <p:nvPr/>
        </p:nvSpPr>
        <p:spPr>
          <a:xfrm>
            <a:off x="6263640" y="4709160"/>
            <a:ext cx="685800" cy="50292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4709160"/>
            <a:ext cx="685800" cy="502920"/>
          </a:xfrm>
          <a:prstGeom prst="rect">
            <a:avLst/>
          </a:prstGeom>
          <a:noFill/>
        </p:spPr>
        <p:txBody>
          <a:bodyPr wrap="square">
            <a:spAutoFit/>
          </a:bodyPr>
          <a:lstStyle/>
          <a:p>
            <a:pPr algn="ctr"/>
            <a:r>
              <a:rPr sz="1100" b="1">
                <a:solidFill>
                  <a:srgbClr val="FFFFFF"/>
                </a:solidFill>
                <a:latin typeface="Meiryo UI"/>
              </a:rPr>
              <a:t>Tab 6</a:t>
            </a:r>
          </a:p>
        </p:txBody>
      </p:sp>
      <p:sp>
        <p:nvSpPr>
          <p:cNvPr id="30" name="TextBox 29"/>
          <p:cNvSpPr txBox="1"/>
          <p:nvPr/>
        </p:nvSpPr>
        <p:spPr>
          <a:xfrm>
            <a:off x="7040880" y="4709160"/>
            <a:ext cx="4754880" cy="457200"/>
          </a:xfrm>
          <a:prstGeom prst="rect">
            <a:avLst/>
          </a:prstGeom>
          <a:noFill/>
        </p:spPr>
        <p:txBody>
          <a:bodyPr wrap="square">
            <a:spAutoFit/>
          </a:bodyPr>
          <a:lstStyle/>
          <a:p>
            <a:pPr algn="l"/>
            <a:r>
              <a:rPr sz="1500" b="1">
                <a:solidFill>
                  <a:srgbClr val="1A202C"/>
                </a:solidFill>
                <a:latin typeface="Meiryo UI"/>
              </a:rPr>
              <a:t>売上管理</a:t>
            </a:r>
          </a:p>
        </p:txBody>
      </p:sp>
      <p:sp>
        <p:nvSpPr>
          <p:cNvPr id="31" name="TextBox 30"/>
          <p:cNvSpPr txBox="1"/>
          <p:nvPr/>
        </p:nvSpPr>
        <p:spPr>
          <a:xfrm>
            <a:off x="6263640" y="5257800"/>
            <a:ext cx="5577840" cy="822960"/>
          </a:xfrm>
          <a:prstGeom prst="rect">
            <a:avLst/>
          </a:prstGeom>
          <a:noFill/>
        </p:spPr>
        <p:txBody>
          <a:bodyPr wrap="square">
            <a:spAutoFit/>
          </a:bodyPr>
          <a:lstStyle/>
          <a:p>
            <a:pPr algn="l"/>
            <a:r>
              <a:rPr sz="1200" b="0">
                <a:solidFill>
                  <a:srgbClr val="717D8A"/>
                </a:solidFill>
                <a:latin typeface="Meiryo UI"/>
              </a:rPr>
              <a:t>月別の売上・仕入・粗利を確認。突合済みデータが自動反映。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04. カイポケCSVインポート</a:t>
            </a:r>
          </a:p>
        </p:txBody>
      </p:sp>
      <p:sp>
        <p:nvSpPr>
          <p:cNvPr id="5" name="Rectangle 4"/>
          <p:cNvSpPr/>
          <p:nvPr/>
        </p:nvSpPr>
        <p:spPr>
          <a:xfrm>
            <a:off x="0" y="6492240"/>
            <a:ext cx="1218895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57200"/>
          </a:xfrm>
          <a:prstGeom prst="rect">
            <a:avLst/>
          </a:prstGeom>
          <a:noFill/>
        </p:spPr>
        <p:txBody>
          <a:bodyPr wrap="square">
            <a:spAutoFit/>
          </a:bodyPr>
          <a:lstStyle/>
          <a:p>
            <a:pPr algn="l"/>
            <a:r>
              <a:rPr sz="1600" b="0">
                <a:solidFill>
                  <a:srgbClr val="1A202C"/>
                </a:solidFill>
                <a:latin typeface="Meiryo UI"/>
              </a:rPr>
              <a:t>毎月1回、介護保険レンタルデータをカイポケからインポートします</a:t>
            </a:r>
          </a:p>
        </p:txBody>
      </p:sp>
      <p:sp>
        <p:nvSpPr>
          <p:cNvPr id="8" name="TextBox 7"/>
          <p:cNvSpPr txBox="1"/>
          <p:nvPr/>
        </p:nvSpPr>
        <p:spPr>
          <a:xfrm>
            <a:off x="457200" y="1691640"/>
            <a:ext cx="5486400" cy="411480"/>
          </a:xfrm>
          <a:prstGeom prst="rect">
            <a:avLst/>
          </a:prstGeom>
          <a:noFill/>
        </p:spPr>
        <p:txBody>
          <a:bodyPr wrap="square">
            <a:spAutoFit/>
          </a:bodyPr>
          <a:lstStyle/>
          <a:p>
            <a:pPr algn="l"/>
            <a:r>
              <a:rPr sz="1800" b="1">
                <a:solidFill>
                  <a:srgbClr val="6D28D9"/>
                </a:solidFill>
                <a:latin typeface="Meiryo UI"/>
              </a:rPr>
              <a:t>必要なファイル（2種類）</a:t>
            </a:r>
          </a:p>
        </p:txBody>
      </p:sp>
      <p:sp>
        <p:nvSpPr>
          <p:cNvPr id="9" name="Rectangle 8"/>
          <p:cNvSpPr/>
          <p:nvPr/>
        </p:nvSpPr>
        <p:spPr>
          <a:xfrm>
            <a:off x="457200" y="2194560"/>
            <a:ext cx="320040"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94560"/>
            <a:ext cx="320040" cy="502920"/>
          </a:xfrm>
          <a:prstGeom prst="rect">
            <a:avLst/>
          </a:prstGeom>
          <a:noFill/>
        </p:spPr>
        <p:txBody>
          <a:bodyPr wrap="square">
            <a:spAutoFit/>
          </a:bodyPr>
          <a:lstStyle/>
          <a:p>
            <a:pPr algn="ctr"/>
            <a:r>
              <a:rPr sz="1300" b="1">
                <a:solidFill>
                  <a:srgbClr val="FFFFFF"/>
                </a:solidFill>
                <a:latin typeface="Meiryo UI"/>
              </a:rPr>
              <a:t>1</a:t>
            </a:r>
          </a:p>
        </p:txBody>
      </p:sp>
      <p:sp>
        <p:nvSpPr>
          <p:cNvPr id="11" name="TextBox 10"/>
          <p:cNvSpPr txBox="1"/>
          <p:nvPr/>
        </p:nvSpPr>
        <p:spPr>
          <a:xfrm>
            <a:off x="868680" y="2194560"/>
            <a:ext cx="4846320" cy="320040"/>
          </a:xfrm>
          <a:prstGeom prst="rect">
            <a:avLst/>
          </a:prstGeom>
          <a:noFill/>
        </p:spPr>
        <p:txBody>
          <a:bodyPr wrap="square">
            <a:spAutoFit/>
          </a:bodyPr>
          <a:lstStyle/>
          <a:p>
            <a:pPr algn="l"/>
            <a:r>
              <a:rPr sz="1400" b="1">
                <a:solidFill>
                  <a:srgbClr val="1A202C"/>
                </a:solidFill>
                <a:latin typeface="Meiryo UI"/>
              </a:rPr>
              <a:t>サービスチェックシート.csv</a:t>
            </a:r>
          </a:p>
        </p:txBody>
      </p:sp>
      <p:sp>
        <p:nvSpPr>
          <p:cNvPr id="12" name="TextBox 11"/>
          <p:cNvSpPr txBox="1"/>
          <p:nvPr/>
        </p:nvSpPr>
        <p:spPr>
          <a:xfrm>
            <a:off x="868680" y="2468879"/>
            <a:ext cx="4846320" cy="320040"/>
          </a:xfrm>
          <a:prstGeom prst="rect">
            <a:avLst/>
          </a:prstGeom>
          <a:noFill/>
        </p:spPr>
        <p:txBody>
          <a:bodyPr wrap="square">
            <a:spAutoFit/>
          </a:bodyPr>
          <a:lstStyle/>
          <a:p>
            <a:pPr algn="l"/>
            <a:r>
              <a:rPr sz="1200" b="0">
                <a:solidFill>
                  <a:srgbClr val="717D8A"/>
                </a:solidFill>
                <a:latin typeface="Meiryo UI"/>
              </a:rPr>
              <a:t>カイポケ → 帳票出力 → サービスチェックシート</a:t>
            </a:r>
          </a:p>
        </p:txBody>
      </p:sp>
      <p:sp>
        <p:nvSpPr>
          <p:cNvPr id="13" name="Rectangle 12"/>
          <p:cNvSpPr/>
          <p:nvPr/>
        </p:nvSpPr>
        <p:spPr>
          <a:xfrm>
            <a:off x="457200" y="2834639"/>
            <a:ext cx="320040" cy="5029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834639"/>
            <a:ext cx="320040" cy="502920"/>
          </a:xfrm>
          <a:prstGeom prst="rect">
            <a:avLst/>
          </a:prstGeom>
          <a:noFill/>
        </p:spPr>
        <p:txBody>
          <a:bodyPr wrap="square">
            <a:spAutoFit/>
          </a:bodyPr>
          <a:lstStyle/>
          <a:p>
            <a:pPr algn="ctr"/>
            <a:r>
              <a:rPr sz="1300" b="1">
                <a:solidFill>
                  <a:srgbClr val="FFFFFF"/>
                </a:solidFill>
                <a:latin typeface="Meiryo UI"/>
              </a:rPr>
              <a:t>2</a:t>
            </a:r>
          </a:p>
        </p:txBody>
      </p:sp>
      <p:sp>
        <p:nvSpPr>
          <p:cNvPr id="15" name="TextBox 14"/>
          <p:cNvSpPr txBox="1"/>
          <p:nvPr/>
        </p:nvSpPr>
        <p:spPr>
          <a:xfrm>
            <a:off x="868680" y="2834639"/>
            <a:ext cx="4846320" cy="320040"/>
          </a:xfrm>
          <a:prstGeom prst="rect">
            <a:avLst/>
          </a:prstGeom>
          <a:noFill/>
        </p:spPr>
        <p:txBody>
          <a:bodyPr wrap="square">
            <a:spAutoFit/>
          </a:bodyPr>
          <a:lstStyle/>
          <a:p>
            <a:pPr algn="l"/>
            <a:r>
              <a:rPr sz="1400" b="1">
                <a:solidFill>
                  <a:srgbClr val="1A202C"/>
                </a:solidFill>
                <a:latin typeface="Meiryo UI"/>
              </a:rPr>
              <a:t>利用者請求.csv</a:t>
            </a:r>
          </a:p>
        </p:txBody>
      </p:sp>
      <p:sp>
        <p:nvSpPr>
          <p:cNvPr id="16" name="TextBox 15"/>
          <p:cNvSpPr txBox="1"/>
          <p:nvPr/>
        </p:nvSpPr>
        <p:spPr>
          <a:xfrm>
            <a:off x="868680" y="3108959"/>
            <a:ext cx="4846320" cy="320040"/>
          </a:xfrm>
          <a:prstGeom prst="rect">
            <a:avLst/>
          </a:prstGeom>
          <a:noFill/>
        </p:spPr>
        <p:txBody>
          <a:bodyPr wrap="square">
            <a:spAutoFit/>
          </a:bodyPr>
          <a:lstStyle/>
          <a:p>
            <a:pPr algn="l"/>
            <a:r>
              <a:rPr sz="1200" b="0">
                <a:solidFill>
                  <a:srgbClr val="717D8A"/>
                </a:solidFill>
                <a:latin typeface="Meiryo UI"/>
              </a:rPr>
              <a:t>カイポケ → 請求管理 → 利用者請求一覧</a:t>
            </a:r>
          </a:p>
        </p:txBody>
      </p:sp>
      <p:sp>
        <p:nvSpPr>
          <p:cNvPr id="17" name="Rectangle 16"/>
          <p:cNvSpPr/>
          <p:nvPr/>
        </p:nvSpPr>
        <p:spPr>
          <a:xfrm>
            <a:off x="457200" y="3520440"/>
            <a:ext cx="5212080" cy="457200"/>
          </a:xfrm>
          <a:prstGeom prst="rect">
            <a:avLst/>
          </a:prstGeom>
          <a:solidFill>
            <a:srgbClr val="FDF4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547872"/>
            <a:ext cx="5029200" cy="411480"/>
          </a:xfrm>
          <a:prstGeom prst="rect">
            <a:avLst/>
          </a:prstGeom>
          <a:noFill/>
        </p:spPr>
        <p:txBody>
          <a:bodyPr wrap="square">
            <a:spAutoFit/>
          </a:bodyPr>
          <a:lstStyle/>
          <a:p>
            <a:pPr algn="l"/>
            <a:r>
              <a:rPr sz="1300" b="1">
                <a:solidFill>
                  <a:srgbClr val="6D28D9"/>
                </a:solidFill>
                <a:latin typeface="Meiryo UI"/>
              </a:rPr>
              <a:t>⚠ 2ファイルとも必ず同じ対象月で出力してください</a:t>
            </a:r>
          </a:p>
        </p:txBody>
      </p:sp>
      <p:sp>
        <p:nvSpPr>
          <p:cNvPr id="19" name="TextBox 18"/>
          <p:cNvSpPr txBox="1"/>
          <p:nvPr/>
        </p:nvSpPr>
        <p:spPr>
          <a:xfrm>
            <a:off x="6217920" y="1691640"/>
            <a:ext cx="5486400" cy="411480"/>
          </a:xfrm>
          <a:prstGeom prst="rect">
            <a:avLst/>
          </a:prstGeom>
          <a:noFill/>
        </p:spPr>
        <p:txBody>
          <a:bodyPr wrap="square">
            <a:spAutoFit/>
          </a:bodyPr>
          <a:lstStyle/>
          <a:p>
            <a:pPr algn="l"/>
            <a:r>
              <a:rPr sz="1800" b="1">
                <a:solidFill>
                  <a:srgbClr val="6D28D9"/>
                </a:solidFill>
                <a:latin typeface="Meiryo UI"/>
              </a:rPr>
              <a:t>インポート手順</a:t>
            </a:r>
          </a:p>
        </p:txBody>
      </p:sp>
      <p:sp>
        <p:nvSpPr>
          <p:cNvPr id="20" name="Rectangle 19"/>
          <p:cNvSpPr/>
          <p:nvPr/>
        </p:nvSpPr>
        <p:spPr>
          <a:xfrm>
            <a:off x="6217920" y="2194560"/>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2194560"/>
            <a:ext cx="320040" cy="384048"/>
          </a:xfrm>
          <a:prstGeom prst="rect">
            <a:avLst/>
          </a:prstGeom>
          <a:noFill/>
        </p:spPr>
        <p:txBody>
          <a:bodyPr wrap="square">
            <a:spAutoFit/>
          </a:bodyPr>
          <a:lstStyle/>
          <a:p>
            <a:pPr algn="ctr"/>
            <a:r>
              <a:rPr sz="1200" b="1">
                <a:solidFill>
                  <a:srgbClr val="FFFFFF"/>
                </a:solidFill>
                <a:latin typeface="Meiryo UI"/>
              </a:rPr>
              <a:t>1</a:t>
            </a:r>
          </a:p>
        </p:txBody>
      </p:sp>
      <p:sp>
        <p:nvSpPr>
          <p:cNvPr id="22" name="TextBox 21"/>
          <p:cNvSpPr txBox="1"/>
          <p:nvPr/>
        </p:nvSpPr>
        <p:spPr>
          <a:xfrm>
            <a:off x="6629400" y="2194560"/>
            <a:ext cx="5120640" cy="457200"/>
          </a:xfrm>
          <a:prstGeom prst="rect">
            <a:avLst/>
          </a:prstGeom>
          <a:noFill/>
        </p:spPr>
        <p:txBody>
          <a:bodyPr wrap="square">
            <a:spAutoFit/>
          </a:bodyPr>
          <a:lstStyle/>
          <a:p>
            <a:pPr algn="l"/>
            <a:r>
              <a:rPr sz="1300" b="0">
                <a:solidFill>
                  <a:srgbClr val="1A202C"/>
                </a:solidFill>
                <a:latin typeface="Meiryo UI"/>
              </a:rPr>
              <a:t>「月次売上処理」→「介護保険レンタル」タブを開く</a:t>
            </a:r>
          </a:p>
        </p:txBody>
      </p:sp>
      <p:sp>
        <p:nvSpPr>
          <p:cNvPr id="23" name="Rectangle 22"/>
          <p:cNvSpPr/>
          <p:nvPr/>
        </p:nvSpPr>
        <p:spPr>
          <a:xfrm>
            <a:off x="6217920" y="2761488"/>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2761488"/>
            <a:ext cx="320040" cy="384048"/>
          </a:xfrm>
          <a:prstGeom prst="rect">
            <a:avLst/>
          </a:prstGeom>
          <a:noFill/>
        </p:spPr>
        <p:txBody>
          <a:bodyPr wrap="square">
            <a:spAutoFit/>
          </a:bodyPr>
          <a:lstStyle/>
          <a:p>
            <a:pPr algn="ctr"/>
            <a:r>
              <a:rPr sz="1200" b="1">
                <a:solidFill>
                  <a:srgbClr val="FFFFFF"/>
                </a:solidFill>
                <a:latin typeface="Meiryo UI"/>
              </a:rPr>
              <a:t>2</a:t>
            </a:r>
          </a:p>
        </p:txBody>
      </p:sp>
      <p:sp>
        <p:nvSpPr>
          <p:cNvPr id="25" name="TextBox 24"/>
          <p:cNvSpPr txBox="1"/>
          <p:nvPr/>
        </p:nvSpPr>
        <p:spPr>
          <a:xfrm>
            <a:off x="6629400" y="2761488"/>
            <a:ext cx="5120640" cy="457200"/>
          </a:xfrm>
          <a:prstGeom prst="rect">
            <a:avLst/>
          </a:prstGeom>
          <a:noFill/>
        </p:spPr>
        <p:txBody>
          <a:bodyPr wrap="square">
            <a:spAutoFit/>
          </a:bodyPr>
          <a:lstStyle/>
          <a:p>
            <a:pPr algn="l"/>
            <a:r>
              <a:rPr sz="1300" b="0">
                <a:solidFill>
                  <a:srgbClr val="1A202C"/>
                </a:solidFill>
                <a:latin typeface="Meiryo UI"/>
              </a:rPr>
              <a:t>右上「カイポケCSVインポート」ボタンをクリック</a:t>
            </a:r>
          </a:p>
        </p:txBody>
      </p:sp>
      <p:sp>
        <p:nvSpPr>
          <p:cNvPr id="26" name="Rectangle 25"/>
          <p:cNvSpPr/>
          <p:nvPr/>
        </p:nvSpPr>
        <p:spPr>
          <a:xfrm>
            <a:off x="6217920" y="3328415"/>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3328415"/>
            <a:ext cx="320040" cy="384048"/>
          </a:xfrm>
          <a:prstGeom prst="rect">
            <a:avLst/>
          </a:prstGeom>
          <a:noFill/>
        </p:spPr>
        <p:txBody>
          <a:bodyPr wrap="square">
            <a:spAutoFit/>
          </a:bodyPr>
          <a:lstStyle/>
          <a:p>
            <a:pPr algn="ctr"/>
            <a:r>
              <a:rPr sz="1200" b="1">
                <a:solidFill>
                  <a:srgbClr val="FFFFFF"/>
                </a:solidFill>
                <a:latin typeface="Meiryo UI"/>
              </a:rPr>
              <a:t>3</a:t>
            </a:r>
          </a:p>
        </p:txBody>
      </p:sp>
      <p:sp>
        <p:nvSpPr>
          <p:cNvPr id="28" name="TextBox 27"/>
          <p:cNvSpPr txBox="1"/>
          <p:nvPr/>
        </p:nvSpPr>
        <p:spPr>
          <a:xfrm>
            <a:off x="6629400" y="3328415"/>
            <a:ext cx="5120640" cy="457200"/>
          </a:xfrm>
          <a:prstGeom prst="rect">
            <a:avLst/>
          </a:prstGeom>
          <a:noFill/>
        </p:spPr>
        <p:txBody>
          <a:bodyPr wrap="square">
            <a:spAutoFit/>
          </a:bodyPr>
          <a:lstStyle/>
          <a:p>
            <a:pPr algn="l"/>
            <a:r>
              <a:rPr sz="1300" b="0">
                <a:solidFill>
                  <a:srgbClr val="1A202C"/>
                </a:solidFill>
                <a:latin typeface="Meiryo UI"/>
              </a:rPr>
              <a:t>対象月を選択</a:t>
            </a:r>
          </a:p>
        </p:txBody>
      </p:sp>
      <p:sp>
        <p:nvSpPr>
          <p:cNvPr id="29" name="Rectangle 28"/>
          <p:cNvSpPr/>
          <p:nvPr/>
        </p:nvSpPr>
        <p:spPr>
          <a:xfrm>
            <a:off x="6217920" y="3895344"/>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3895344"/>
            <a:ext cx="320040" cy="384048"/>
          </a:xfrm>
          <a:prstGeom prst="rect">
            <a:avLst/>
          </a:prstGeom>
          <a:noFill/>
        </p:spPr>
        <p:txBody>
          <a:bodyPr wrap="square">
            <a:spAutoFit/>
          </a:bodyPr>
          <a:lstStyle/>
          <a:p>
            <a:pPr algn="ctr"/>
            <a:r>
              <a:rPr sz="1200" b="1">
                <a:solidFill>
                  <a:srgbClr val="FFFFFF"/>
                </a:solidFill>
                <a:latin typeface="Meiryo UI"/>
              </a:rPr>
              <a:t>4</a:t>
            </a:r>
          </a:p>
        </p:txBody>
      </p:sp>
      <p:sp>
        <p:nvSpPr>
          <p:cNvPr id="31" name="TextBox 30"/>
          <p:cNvSpPr txBox="1"/>
          <p:nvPr/>
        </p:nvSpPr>
        <p:spPr>
          <a:xfrm>
            <a:off x="6629400" y="3895344"/>
            <a:ext cx="5120640" cy="457200"/>
          </a:xfrm>
          <a:prstGeom prst="rect">
            <a:avLst/>
          </a:prstGeom>
          <a:noFill/>
        </p:spPr>
        <p:txBody>
          <a:bodyPr wrap="square">
            <a:spAutoFit/>
          </a:bodyPr>
          <a:lstStyle/>
          <a:p>
            <a:pPr algn="l"/>
            <a:r>
              <a:rPr sz="1300" b="0">
                <a:solidFill>
                  <a:srgbClr val="1A202C"/>
                </a:solidFill>
                <a:latin typeface="Meiryo UI"/>
              </a:rPr>
              <a:t>2つのCSVファイルを順番にアップロード</a:t>
            </a:r>
          </a:p>
        </p:txBody>
      </p:sp>
      <p:sp>
        <p:nvSpPr>
          <p:cNvPr id="32" name="Rectangle 31"/>
          <p:cNvSpPr/>
          <p:nvPr/>
        </p:nvSpPr>
        <p:spPr>
          <a:xfrm>
            <a:off x="6217920" y="4462272"/>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4462272"/>
            <a:ext cx="320040" cy="384048"/>
          </a:xfrm>
          <a:prstGeom prst="rect">
            <a:avLst/>
          </a:prstGeom>
          <a:noFill/>
        </p:spPr>
        <p:txBody>
          <a:bodyPr wrap="square">
            <a:spAutoFit/>
          </a:bodyPr>
          <a:lstStyle/>
          <a:p>
            <a:pPr algn="ctr"/>
            <a:r>
              <a:rPr sz="1200" b="1">
                <a:solidFill>
                  <a:srgbClr val="FFFFFF"/>
                </a:solidFill>
                <a:latin typeface="Meiryo UI"/>
              </a:rPr>
              <a:t>5</a:t>
            </a:r>
          </a:p>
        </p:txBody>
      </p:sp>
      <p:sp>
        <p:nvSpPr>
          <p:cNvPr id="34" name="TextBox 33"/>
          <p:cNvSpPr txBox="1"/>
          <p:nvPr/>
        </p:nvSpPr>
        <p:spPr>
          <a:xfrm>
            <a:off x="6629400" y="4462272"/>
            <a:ext cx="5120640" cy="457200"/>
          </a:xfrm>
          <a:prstGeom prst="rect">
            <a:avLst/>
          </a:prstGeom>
          <a:noFill/>
        </p:spPr>
        <p:txBody>
          <a:bodyPr wrap="square">
            <a:spAutoFit/>
          </a:bodyPr>
          <a:lstStyle/>
          <a:p>
            <a:pPr algn="l"/>
            <a:r>
              <a:rPr sz="1300" b="0">
                <a:solidFill>
                  <a:srgbClr val="1A202C"/>
                </a:solidFill>
                <a:latin typeface="Meiryo UI"/>
              </a:rPr>
              <a:t>プレビューで内容を確認</a:t>
            </a:r>
          </a:p>
        </p:txBody>
      </p:sp>
      <p:sp>
        <p:nvSpPr>
          <p:cNvPr id="35" name="Rectangle 34"/>
          <p:cNvSpPr/>
          <p:nvPr/>
        </p:nvSpPr>
        <p:spPr>
          <a:xfrm>
            <a:off x="6217920" y="5029200"/>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5029200"/>
            <a:ext cx="320040" cy="384048"/>
          </a:xfrm>
          <a:prstGeom prst="rect">
            <a:avLst/>
          </a:prstGeom>
          <a:noFill/>
        </p:spPr>
        <p:txBody>
          <a:bodyPr wrap="square">
            <a:spAutoFit/>
          </a:bodyPr>
          <a:lstStyle/>
          <a:p>
            <a:pPr algn="ctr"/>
            <a:r>
              <a:rPr sz="1200" b="1">
                <a:solidFill>
                  <a:srgbClr val="FFFFFF"/>
                </a:solidFill>
                <a:latin typeface="Meiryo UI"/>
              </a:rPr>
              <a:t>6</a:t>
            </a:r>
          </a:p>
        </p:txBody>
      </p:sp>
      <p:sp>
        <p:nvSpPr>
          <p:cNvPr id="37" name="TextBox 36"/>
          <p:cNvSpPr txBox="1"/>
          <p:nvPr/>
        </p:nvSpPr>
        <p:spPr>
          <a:xfrm>
            <a:off x="6629400" y="5029200"/>
            <a:ext cx="5120640" cy="457200"/>
          </a:xfrm>
          <a:prstGeom prst="rect">
            <a:avLst/>
          </a:prstGeom>
          <a:noFill/>
        </p:spPr>
        <p:txBody>
          <a:bodyPr wrap="square">
            <a:spAutoFit/>
          </a:bodyPr>
          <a:lstStyle/>
          <a:p>
            <a:pPr algn="l"/>
            <a:r>
              <a:rPr sz="1300" b="0">
                <a:solidFill>
                  <a:srgbClr val="1A202C"/>
                </a:solidFill>
                <a:latin typeface="Meiryo UI"/>
              </a:rPr>
              <a:t>未マッチの利用者は手動で紐づけ</a:t>
            </a:r>
          </a:p>
        </p:txBody>
      </p:sp>
      <p:sp>
        <p:nvSpPr>
          <p:cNvPr id="38" name="Rectangle 37"/>
          <p:cNvSpPr/>
          <p:nvPr/>
        </p:nvSpPr>
        <p:spPr>
          <a:xfrm>
            <a:off x="6217920" y="5596128"/>
            <a:ext cx="320040" cy="384048"/>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5596128"/>
            <a:ext cx="320040" cy="384048"/>
          </a:xfrm>
          <a:prstGeom prst="rect">
            <a:avLst/>
          </a:prstGeom>
          <a:noFill/>
        </p:spPr>
        <p:txBody>
          <a:bodyPr wrap="square">
            <a:spAutoFit/>
          </a:bodyPr>
          <a:lstStyle/>
          <a:p>
            <a:pPr algn="ctr"/>
            <a:r>
              <a:rPr sz="1200" b="1">
                <a:solidFill>
                  <a:srgbClr val="FFFFFF"/>
                </a:solidFill>
                <a:latin typeface="Meiryo UI"/>
              </a:rPr>
              <a:t>7</a:t>
            </a:r>
          </a:p>
        </p:txBody>
      </p:sp>
      <p:sp>
        <p:nvSpPr>
          <p:cNvPr id="40" name="TextBox 39"/>
          <p:cNvSpPr txBox="1"/>
          <p:nvPr/>
        </p:nvSpPr>
        <p:spPr>
          <a:xfrm>
            <a:off x="6629400" y="5596128"/>
            <a:ext cx="5120640" cy="457200"/>
          </a:xfrm>
          <a:prstGeom prst="rect">
            <a:avLst/>
          </a:prstGeom>
          <a:noFill/>
        </p:spPr>
        <p:txBody>
          <a:bodyPr wrap="square">
            <a:spAutoFit/>
          </a:bodyPr>
          <a:lstStyle/>
          <a:p>
            <a:pPr algn="l"/>
            <a:r>
              <a:rPr sz="1300" b="0">
                <a:solidFill>
                  <a:srgbClr val="1A202C"/>
                </a:solidFill>
                <a:latin typeface="Meiryo UI"/>
              </a:rPr>
              <a:t>「インポート実行」ボタンをクリック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05. 月次売上処理</a:t>
            </a:r>
          </a:p>
        </p:txBody>
      </p:sp>
      <p:sp>
        <p:nvSpPr>
          <p:cNvPr id="5" name="Rectangle 4"/>
          <p:cNvSpPr/>
          <p:nvPr/>
        </p:nvSpPr>
        <p:spPr>
          <a:xfrm>
            <a:off x="0" y="6492240"/>
            <a:ext cx="12188952" cy="365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57200"/>
          </a:xfrm>
          <a:prstGeom prst="rect">
            <a:avLst/>
          </a:prstGeom>
          <a:noFill/>
        </p:spPr>
        <p:txBody>
          <a:bodyPr wrap="square">
            <a:spAutoFit/>
          </a:bodyPr>
          <a:lstStyle/>
          <a:p>
            <a:pPr algn="l"/>
            <a:r>
              <a:rPr sz="1600" b="0">
                <a:solidFill>
                  <a:srgbClr val="1A202C"/>
                </a:solidFill>
                <a:latin typeface="Meiryo UI"/>
              </a:rPr>
              <a:t>毎月の売上データを確認・確定し、CSVを出力します</a:t>
            </a:r>
          </a:p>
        </p:txBody>
      </p:sp>
      <p:sp>
        <p:nvSpPr>
          <p:cNvPr id="8" name="TextBox 7"/>
          <p:cNvSpPr txBox="1"/>
          <p:nvPr/>
        </p:nvSpPr>
        <p:spPr>
          <a:xfrm>
            <a:off x="457200" y="1691640"/>
            <a:ext cx="3657600" cy="411480"/>
          </a:xfrm>
          <a:prstGeom prst="rect">
            <a:avLst/>
          </a:prstGeom>
          <a:noFill/>
        </p:spPr>
        <p:txBody>
          <a:bodyPr wrap="square">
            <a:spAutoFit/>
          </a:bodyPr>
          <a:lstStyle/>
          <a:p>
            <a:pPr algn="l"/>
            <a:r>
              <a:rPr sz="1800" b="1">
                <a:solidFill>
                  <a:srgbClr val="6D28D9"/>
                </a:solidFill>
                <a:latin typeface="Meiryo UI"/>
              </a:rPr>
              <a:t>3つのタブ</a:t>
            </a:r>
          </a:p>
        </p:txBody>
      </p:sp>
      <p:sp>
        <p:nvSpPr>
          <p:cNvPr id="9" name="Rectangle 8"/>
          <p:cNvSpPr/>
          <p:nvPr/>
        </p:nvSpPr>
        <p:spPr>
          <a:xfrm>
            <a:off x="457200" y="2194560"/>
            <a:ext cx="3474720" cy="7315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94560"/>
            <a:ext cx="3474720" cy="731520"/>
          </a:xfrm>
          <a:prstGeom prst="rect">
            <a:avLst/>
          </a:prstGeom>
          <a:noFill/>
        </p:spPr>
        <p:txBody>
          <a:bodyPr wrap="square">
            <a:spAutoFit/>
          </a:bodyPr>
          <a:lstStyle/>
          <a:p>
            <a:pPr algn="ctr"/>
            <a:r>
              <a:rPr sz="1600" b="1">
                <a:solidFill>
                  <a:srgbClr val="FFFFFF"/>
                </a:solidFill>
                <a:latin typeface="Meiryo UI"/>
              </a:rPr>
              <a:t>介護保険
レンタル</a:t>
            </a:r>
          </a:p>
        </p:txBody>
      </p:sp>
      <p:sp>
        <p:nvSpPr>
          <p:cNvPr id="11" name="TextBox 10"/>
          <p:cNvSpPr txBox="1"/>
          <p:nvPr/>
        </p:nvSpPr>
        <p:spPr>
          <a:xfrm>
            <a:off x="457200" y="2971800"/>
            <a:ext cx="3474720" cy="822960"/>
          </a:xfrm>
          <a:prstGeom prst="rect">
            <a:avLst/>
          </a:prstGeom>
          <a:noFill/>
        </p:spPr>
        <p:txBody>
          <a:bodyPr wrap="square">
            <a:spAutoFit/>
          </a:bodyPr>
          <a:lstStyle/>
          <a:p>
            <a:pPr algn="l"/>
            <a:r>
              <a:rPr sz="1200" b="0">
                <a:solidFill>
                  <a:srgbClr val="1A202C"/>
                </a:solidFill>
                <a:latin typeface="Meiryo UI"/>
              </a:rPr>
              <a:t>カイポケCSVインポートで取込んだデータ</a:t>
            </a:r>
          </a:p>
        </p:txBody>
      </p:sp>
      <p:sp>
        <p:nvSpPr>
          <p:cNvPr id="12" name="Rectangle 11"/>
          <p:cNvSpPr/>
          <p:nvPr/>
        </p:nvSpPr>
        <p:spPr>
          <a:xfrm>
            <a:off x="4206240" y="2194560"/>
            <a:ext cx="3474720" cy="7315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194560"/>
            <a:ext cx="3474720" cy="731520"/>
          </a:xfrm>
          <a:prstGeom prst="rect">
            <a:avLst/>
          </a:prstGeom>
          <a:noFill/>
        </p:spPr>
        <p:txBody>
          <a:bodyPr wrap="square">
            <a:spAutoFit/>
          </a:bodyPr>
          <a:lstStyle/>
          <a:p>
            <a:pPr algn="ctr"/>
            <a:r>
              <a:rPr sz="1600" b="1">
                <a:solidFill>
                  <a:srgbClr val="FFFFFF"/>
                </a:solidFill>
                <a:latin typeface="Meiryo UI"/>
              </a:rPr>
              <a:t>自費
レンタル</a:t>
            </a:r>
          </a:p>
        </p:txBody>
      </p:sp>
      <p:sp>
        <p:nvSpPr>
          <p:cNvPr id="14" name="TextBox 13"/>
          <p:cNvSpPr txBox="1"/>
          <p:nvPr/>
        </p:nvSpPr>
        <p:spPr>
          <a:xfrm>
            <a:off x="4206240" y="2971800"/>
            <a:ext cx="3474720" cy="822960"/>
          </a:xfrm>
          <a:prstGeom prst="rect">
            <a:avLst/>
          </a:prstGeom>
          <a:noFill/>
        </p:spPr>
        <p:txBody>
          <a:bodyPr wrap="square">
            <a:spAutoFit/>
          </a:bodyPr>
          <a:lstStyle/>
          <a:p>
            <a:pPr algn="l"/>
            <a:r>
              <a:rPr sz="1200" b="0">
                <a:solidFill>
                  <a:srgbClr val="1A202C"/>
                </a:solidFill>
                <a:latin typeface="Meiryo UI"/>
              </a:rPr>
              <a:t>スプレッドシート連携または手動入力データ</a:t>
            </a:r>
          </a:p>
        </p:txBody>
      </p:sp>
      <p:sp>
        <p:nvSpPr>
          <p:cNvPr id="15" name="Rectangle 14"/>
          <p:cNvSpPr/>
          <p:nvPr/>
        </p:nvSpPr>
        <p:spPr>
          <a:xfrm>
            <a:off x="7955279" y="2194560"/>
            <a:ext cx="3474720" cy="7315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2194560"/>
            <a:ext cx="3474720" cy="731520"/>
          </a:xfrm>
          <a:prstGeom prst="rect">
            <a:avLst/>
          </a:prstGeom>
          <a:noFill/>
        </p:spPr>
        <p:txBody>
          <a:bodyPr wrap="square">
            <a:spAutoFit/>
          </a:bodyPr>
          <a:lstStyle/>
          <a:p>
            <a:pPr algn="ctr"/>
            <a:r>
              <a:rPr sz="1600" b="1">
                <a:solidFill>
                  <a:srgbClr val="FFFFFF"/>
                </a:solidFill>
                <a:latin typeface="Meiryo UI"/>
              </a:rPr>
              <a:t>販売</a:t>
            </a:r>
          </a:p>
        </p:txBody>
      </p:sp>
      <p:sp>
        <p:nvSpPr>
          <p:cNvPr id="17" name="TextBox 16"/>
          <p:cNvSpPr txBox="1"/>
          <p:nvPr/>
        </p:nvSpPr>
        <p:spPr>
          <a:xfrm>
            <a:off x="7955279" y="2971800"/>
            <a:ext cx="3474720" cy="822960"/>
          </a:xfrm>
          <a:prstGeom prst="rect">
            <a:avLst/>
          </a:prstGeom>
          <a:noFill/>
        </p:spPr>
        <p:txBody>
          <a:bodyPr wrap="square">
            <a:spAutoFit/>
          </a:bodyPr>
          <a:lstStyle/>
          <a:p>
            <a:pPr algn="l"/>
            <a:r>
              <a:rPr sz="1200" b="0">
                <a:solidFill>
                  <a:srgbClr val="1A202C"/>
                </a:solidFill>
                <a:latin typeface="Meiryo UI"/>
              </a:rPr>
              <a:t>スプレッドシート連携または手動入力データ
利用者負担額・申請額の自動計算</a:t>
            </a:r>
          </a:p>
        </p:txBody>
      </p:sp>
      <p:sp>
        <p:nvSpPr>
          <p:cNvPr id="18" name="TextBox 17"/>
          <p:cNvSpPr txBox="1"/>
          <p:nvPr/>
        </p:nvSpPr>
        <p:spPr>
          <a:xfrm>
            <a:off x="457200" y="4023360"/>
            <a:ext cx="10972800" cy="411480"/>
          </a:xfrm>
          <a:prstGeom prst="rect">
            <a:avLst/>
          </a:prstGeom>
          <a:noFill/>
        </p:spPr>
        <p:txBody>
          <a:bodyPr wrap="square">
            <a:spAutoFit/>
          </a:bodyPr>
          <a:lstStyle/>
          <a:p>
            <a:pPr algn="l"/>
            <a:r>
              <a:rPr sz="1800" b="1">
                <a:solidFill>
                  <a:srgbClr val="6D28D9"/>
                </a:solidFill>
                <a:latin typeface="Meiryo UI"/>
              </a:rPr>
              <a:t>作業フロー</a:t>
            </a:r>
          </a:p>
        </p:txBody>
      </p:sp>
      <p:sp>
        <p:nvSpPr>
          <p:cNvPr id="19" name="Rectangle 18"/>
          <p:cNvSpPr/>
          <p:nvPr/>
        </p:nvSpPr>
        <p:spPr>
          <a:xfrm>
            <a:off x="457200" y="4572000"/>
            <a:ext cx="1920240" cy="640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572000"/>
            <a:ext cx="1920240" cy="640080"/>
          </a:xfrm>
          <a:prstGeom prst="rect">
            <a:avLst/>
          </a:prstGeom>
          <a:noFill/>
        </p:spPr>
        <p:txBody>
          <a:bodyPr wrap="square">
            <a:spAutoFit/>
          </a:bodyPr>
          <a:lstStyle/>
          <a:p>
            <a:pPr algn="ctr"/>
            <a:r>
              <a:rPr sz="1500" b="1">
                <a:solidFill>
                  <a:srgbClr val="FFFFFF"/>
                </a:solidFill>
                <a:latin typeface="Meiryo UI"/>
              </a:rPr>
              <a:t>月度選択</a:t>
            </a:r>
          </a:p>
        </p:txBody>
      </p:sp>
      <p:sp>
        <p:nvSpPr>
          <p:cNvPr id="21" name="TextBox 20"/>
          <p:cNvSpPr txBox="1"/>
          <p:nvPr/>
        </p:nvSpPr>
        <p:spPr>
          <a:xfrm>
            <a:off x="2423160" y="4617720"/>
            <a:ext cx="274320" cy="548640"/>
          </a:xfrm>
          <a:prstGeom prst="rect">
            <a:avLst/>
          </a:prstGeom>
          <a:noFill/>
        </p:spPr>
        <p:txBody>
          <a:bodyPr wrap="square">
            <a:spAutoFit/>
          </a:bodyPr>
          <a:lstStyle/>
          <a:p>
            <a:pPr algn="ctr"/>
            <a:r>
              <a:rPr sz="1800" b="1">
                <a:solidFill>
                  <a:srgbClr val="6D28D9"/>
                </a:solidFill>
                <a:latin typeface="Meiryo UI"/>
              </a:rPr>
              <a:t>▶</a:t>
            </a:r>
          </a:p>
        </p:txBody>
      </p:sp>
      <p:sp>
        <p:nvSpPr>
          <p:cNvPr id="22" name="Rectangle 21"/>
          <p:cNvSpPr/>
          <p:nvPr/>
        </p:nvSpPr>
        <p:spPr>
          <a:xfrm>
            <a:off x="2743200" y="4572000"/>
            <a:ext cx="1920240" cy="640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0" y="4572000"/>
            <a:ext cx="1920240" cy="640080"/>
          </a:xfrm>
          <a:prstGeom prst="rect">
            <a:avLst/>
          </a:prstGeom>
          <a:noFill/>
        </p:spPr>
        <p:txBody>
          <a:bodyPr wrap="square">
            <a:spAutoFit/>
          </a:bodyPr>
          <a:lstStyle/>
          <a:p>
            <a:pPr algn="ctr"/>
            <a:r>
              <a:rPr sz="1500" b="1">
                <a:solidFill>
                  <a:srgbClr val="FFFFFF"/>
                </a:solidFill>
                <a:latin typeface="Meiryo UI"/>
              </a:rPr>
              <a:t>事業所フィルター</a:t>
            </a:r>
          </a:p>
        </p:txBody>
      </p:sp>
      <p:sp>
        <p:nvSpPr>
          <p:cNvPr id="24" name="TextBox 23"/>
          <p:cNvSpPr txBox="1"/>
          <p:nvPr/>
        </p:nvSpPr>
        <p:spPr>
          <a:xfrm>
            <a:off x="4709160" y="4617720"/>
            <a:ext cx="274320" cy="548640"/>
          </a:xfrm>
          <a:prstGeom prst="rect">
            <a:avLst/>
          </a:prstGeom>
          <a:noFill/>
        </p:spPr>
        <p:txBody>
          <a:bodyPr wrap="square">
            <a:spAutoFit/>
          </a:bodyPr>
          <a:lstStyle/>
          <a:p>
            <a:pPr algn="ctr"/>
            <a:r>
              <a:rPr sz="1800" b="1">
                <a:solidFill>
                  <a:srgbClr val="6D28D9"/>
                </a:solidFill>
                <a:latin typeface="Meiryo UI"/>
              </a:rPr>
              <a:t>▶</a:t>
            </a:r>
          </a:p>
        </p:txBody>
      </p:sp>
      <p:sp>
        <p:nvSpPr>
          <p:cNvPr id="25" name="Rectangle 24"/>
          <p:cNvSpPr/>
          <p:nvPr/>
        </p:nvSpPr>
        <p:spPr>
          <a:xfrm>
            <a:off x="5029200" y="4572000"/>
            <a:ext cx="1920240" cy="640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4572000"/>
            <a:ext cx="1920240" cy="640080"/>
          </a:xfrm>
          <a:prstGeom prst="rect">
            <a:avLst/>
          </a:prstGeom>
          <a:noFill/>
        </p:spPr>
        <p:txBody>
          <a:bodyPr wrap="square">
            <a:spAutoFit/>
          </a:bodyPr>
          <a:lstStyle/>
          <a:p>
            <a:pPr algn="ctr"/>
            <a:r>
              <a:rPr sz="1500" b="1">
                <a:solidFill>
                  <a:srgbClr val="FFFFFF"/>
                </a:solidFill>
                <a:latin typeface="Meiryo UI"/>
              </a:rPr>
              <a:t>データ確認</a:t>
            </a:r>
          </a:p>
        </p:txBody>
      </p:sp>
      <p:sp>
        <p:nvSpPr>
          <p:cNvPr id="27" name="TextBox 26"/>
          <p:cNvSpPr txBox="1"/>
          <p:nvPr/>
        </p:nvSpPr>
        <p:spPr>
          <a:xfrm>
            <a:off x="6995160" y="4617720"/>
            <a:ext cx="274320" cy="548640"/>
          </a:xfrm>
          <a:prstGeom prst="rect">
            <a:avLst/>
          </a:prstGeom>
          <a:noFill/>
        </p:spPr>
        <p:txBody>
          <a:bodyPr wrap="square">
            <a:spAutoFit/>
          </a:bodyPr>
          <a:lstStyle/>
          <a:p>
            <a:pPr algn="ctr"/>
            <a:r>
              <a:rPr sz="1800" b="1">
                <a:solidFill>
                  <a:srgbClr val="6D28D9"/>
                </a:solidFill>
                <a:latin typeface="Meiryo UI"/>
              </a:rPr>
              <a:t>▶</a:t>
            </a:r>
          </a:p>
        </p:txBody>
      </p:sp>
      <p:sp>
        <p:nvSpPr>
          <p:cNvPr id="28" name="Rectangle 27"/>
          <p:cNvSpPr/>
          <p:nvPr/>
        </p:nvSpPr>
        <p:spPr>
          <a:xfrm>
            <a:off x="7315200" y="4572000"/>
            <a:ext cx="1920240" cy="640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0" y="4572000"/>
            <a:ext cx="1920240" cy="640080"/>
          </a:xfrm>
          <a:prstGeom prst="rect">
            <a:avLst/>
          </a:prstGeom>
          <a:noFill/>
        </p:spPr>
        <p:txBody>
          <a:bodyPr wrap="square">
            <a:spAutoFit/>
          </a:bodyPr>
          <a:lstStyle/>
          <a:p>
            <a:pPr algn="ctr"/>
            <a:r>
              <a:rPr sz="1500" b="1">
                <a:solidFill>
                  <a:srgbClr val="FFFFFF"/>
                </a:solidFill>
                <a:latin typeface="Meiryo UI"/>
              </a:rPr>
              <a:t>CSV出力</a:t>
            </a:r>
          </a:p>
        </p:txBody>
      </p:sp>
      <p:sp>
        <p:nvSpPr>
          <p:cNvPr id="30" name="TextBox 29"/>
          <p:cNvSpPr txBox="1"/>
          <p:nvPr/>
        </p:nvSpPr>
        <p:spPr>
          <a:xfrm>
            <a:off x="9281160" y="4617720"/>
            <a:ext cx="274320" cy="548640"/>
          </a:xfrm>
          <a:prstGeom prst="rect">
            <a:avLst/>
          </a:prstGeom>
          <a:noFill/>
        </p:spPr>
        <p:txBody>
          <a:bodyPr wrap="square">
            <a:spAutoFit/>
          </a:bodyPr>
          <a:lstStyle/>
          <a:p>
            <a:pPr algn="ctr"/>
            <a:r>
              <a:rPr sz="1800" b="1">
                <a:solidFill>
                  <a:srgbClr val="6D28D9"/>
                </a:solidFill>
                <a:latin typeface="Meiryo UI"/>
              </a:rPr>
              <a:t>▶</a:t>
            </a:r>
          </a:p>
        </p:txBody>
      </p:sp>
      <p:sp>
        <p:nvSpPr>
          <p:cNvPr id="31" name="Rectangle 30"/>
          <p:cNvSpPr/>
          <p:nvPr/>
        </p:nvSpPr>
        <p:spPr>
          <a:xfrm>
            <a:off x="9601200" y="4572000"/>
            <a:ext cx="1920240" cy="6400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4572000"/>
            <a:ext cx="1920240" cy="640080"/>
          </a:xfrm>
          <a:prstGeom prst="rect">
            <a:avLst/>
          </a:prstGeom>
          <a:noFill/>
        </p:spPr>
        <p:txBody>
          <a:bodyPr wrap="square">
            <a:spAutoFit/>
          </a:bodyPr>
          <a:lstStyle/>
          <a:p>
            <a:pPr algn="ctr"/>
            <a:r>
              <a:rPr sz="1500" b="1">
                <a:solidFill>
                  <a:srgbClr val="FFFFFF"/>
                </a:solidFill>
                <a:latin typeface="Meiryo UI"/>
              </a:rPr>
              <a:t>確　定</a:t>
            </a:r>
          </a:p>
        </p:txBody>
      </p:sp>
      <p:sp>
        <p:nvSpPr>
          <p:cNvPr id="33" name="Rectangle 32"/>
          <p:cNvSpPr/>
          <p:nvPr/>
        </p:nvSpPr>
        <p:spPr>
          <a:xfrm>
            <a:off x="457200" y="5394960"/>
            <a:ext cx="11247120" cy="685800"/>
          </a:xfrm>
          <a:prstGeom prst="rect">
            <a:avLst/>
          </a:prstGeom>
          <a:solidFill>
            <a:srgbClr val="F5F3FF"/>
          </a:solidFill>
          <a:ln w="12700">
            <a:solidFill>
              <a:srgbClr val="D8B4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413248"/>
            <a:ext cx="10972800" cy="640080"/>
          </a:xfrm>
          <a:prstGeom prst="rect">
            <a:avLst/>
          </a:prstGeom>
          <a:noFill/>
        </p:spPr>
        <p:txBody>
          <a:bodyPr wrap="square">
            <a:spAutoFit/>
          </a:bodyPr>
          <a:lstStyle/>
          <a:p>
            <a:pPr algn="l"/>
            <a:r>
              <a:rPr sz="1300" b="0">
                <a:solidFill>
                  <a:srgbClr val="6D28D9"/>
                </a:solidFill>
                <a:latin typeface="Meiryo UI"/>
              </a:rPr>
              <a:t>💡 確定後はデータが固定されます。修正が必要な場合は「確定解除」ボタンから解除してください。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06. 売上・仕入突合</a:t>
            </a:r>
          </a:p>
        </p:txBody>
      </p:sp>
      <p:sp>
        <p:nvSpPr>
          <p:cNvPr id="5" name="Rectangle 4"/>
          <p:cNvSpPr/>
          <p:nvPr/>
        </p:nvSpPr>
        <p:spPr>
          <a:xfrm>
            <a:off x="0" y="6492240"/>
            <a:ext cx="12188952" cy="36576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57200"/>
          </a:xfrm>
          <a:prstGeom prst="rect">
            <a:avLst/>
          </a:prstGeom>
          <a:noFill/>
        </p:spPr>
        <p:txBody>
          <a:bodyPr wrap="square">
            <a:spAutoFit/>
          </a:bodyPr>
          <a:lstStyle/>
          <a:p>
            <a:pPr algn="l"/>
            <a:r>
              <a:rPr sz="1600" b="0">
                <a:solidFill>
                  <a:srgbClr val="1A202C"/>
                </a:solidFill>
                <a:latin typeface="Meiryo UI"/>
              </a:rPr>
              <a:t>卸会社からの請求書と社内売上データを照合し、粗利を算出します</a:t>
            </a:r>
          </a:p>
        </p:txBody>
      </p:sp>
      <p:sp>
        <p:nvSpPr>
          <p:cNvPr id="8" name="Rectangle 7"/>
          <p:cNvSpPr/>
          <p:nvPr/>
        </p:nvSpPr>
        <p:spPr>
          <a:xfrm>
            <a:off x="365760"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91640"/>
            <a:ext cx="1737360" cy="731520"/>
          </a:xfrm>
          <a:prstGeom prst="rect">
            <a:avLst/>
          </a:prstGeom>
          <a:noFill/>
        </p:spPr>
        <p:txBody>
          <a:bodyPr wrap="square">
            <a:spAutoFit/>
          </a:bodyPr>
          <a:lstStyle/>
          <a:p>
            <a:pPr algn="ctr"/>
            <a:r>
              <a:rPr sz="1300" b="1">
                <a:solidFill>
                  <a:srgbClr val="FFFFFF"/>
                </a:solidFill>
                <a:latin typeface="Meiryo UI"/>
              </a:rPr>
              <a:t>月度選択</a:t>
            </a:r>
          </a:p>
        </p:txBody>
      </p:sp>
      <p:sp>
        <p:nvSpPr>
          <p:cNvPr id="10" name="TextBox 9"/>
          <p:cNvSpPr txBox="1"/>
          <p:nvPr/>
        </p:nvSpPr>
        <p:spPr>
          <a:xfrm>
            <a:off x="2148840" y="1764792"/>
            <a:ext cx="137160" cy="594360"/>
          </a:xfrm>
          <a:prstGeom prst="rect">
            <a:avLst/>
          </a:prstGeom>
          <a:noFill/>
        </p:spPr>
        <p:txBody>
          <a:bodyPr wrap="square">
            <a:spAutoFit/>
          </a:bodyPr>
          <a:lstStyle/>
          <a:p>
            <a:pPr algn="ctr"/>
            <a:r>
              <a:rPr sz="1400" b="0">
                <a:solidFill>
                  <a:srgbClr val="0F766E"/>
                </a:solidFill>
                <a:latin typeface="Meiryo UI"/>
              </a:rPr>
              <a:t>▶</a:t>
            </a:r>
          </a:p>
        </p:txBody>
      </p:sp>
      <p:sp>
        <p:nvSpPr>
          <p:cNvPr id="11" name="Rectangle 10"/>
          <p:cNvSpPr/>
          <p:nvPr/>
        </p:nvSpPr>
        <p:spPr>
          <a:xfrm>
            <a:off x="2304288"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04288" y="1691640"/>
            <a:ext cx="1737360" cy="731520"/>
          </a:xfrm>
          <a:prstGeom prst="rect">
            <a:avLst/>
          </a:prstGeom>
          <a:noFill/>
        </p:spPr>
        <p:txBody>
          <a:bodyPr wrap="square">
            <a:spAutoFit/>
          </a:bodyPr>
          <a:lstStyle/>
          <a:p>
            <a:pPr algn="ctr"/>
            <a:r>
              <a:rPr sz="1300" b="1">
                <a:solidFill>
                  <a:srgbClr val="FFFFFF"/>
                </a:solidFill>
                <a:latin typeface="Meiryo UI"/>
              </a:rPr>
              <a:t>請求書
アップロード</a:t>
            </a:r>
          </a:p>
        </p:txBody>
      </p:sp>
      <p:sp>
        <p:nvSpPr>
          <p:cNvPr id="13" name="TextBox 12"/>
          <p:cNvSpPr txBox="1"/>
          <p:nvPr/>
        </p:nvSpPr>
        <p:spPr>
          <a:xfrm>
            <a:off x="4087368" y="1764792"/>
            <a:ext cx="137160" cy="594360"/>
          </a:xfrm>
          <a:prstGeom prst="rect">
            <a:avLst/>
          </a:prstGeom>
          <a:noFill/>
        </p:spPr>
        <p:txBody>
          <a:bodyPr wrap="square">
            <a:spAutoFit/>
          </a:bodyPr>
          <a:lstStyle/>
          <a:p>
            <a:pPr algn="ctr"/>
            <a:r>
              <a:rPr sz="1400" b="0">
                <a:solidFill>
                  <a:srgbClr val="0F766E"/>
                </a:solidFill>
                <a:latin typeface="Meiryo UI"/>
              </a:rPr>
              <a:t>▶</a:t>
            </a:r>
          </a:p>
        </p:txBody>
      </p:sp>
      <p:sp>
        <p:nvSpPr>
          <p:cNvPr id="14" name="Rectangle 13"/>
          <p:cNvSpPr/>
          <p:nvPr/>
        </p:nvSpPr>
        <p:spPr>
          <a:xfrm>
            <a:off x="4242816"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42816" y="1691640"/>
            <a:ext cx="1737360" cy="731520"/>
          </a:xfrm>
          <a:prstGeom prst="rect">
            <a:avLst/>
          </a:prstGeom>
          <a:noFill/>
        </p:spPr>
        <p:txBody>
          <a:bodyPr wrap="square">
            <a:spAutoFit/>
          </a:bodyPr>
          <a:lstStyle/>
          <a:p>
            <a:pPr algn="ctr"/>
            <a:r>
              <a:rPr sz="1300" b="1">
                <a:solidFill>
                  <a:srgbClr val="FFFFFF"/>
                </a:solidFill>
                <a:latin typeface="Meiryo UI"/>
              </a:rPr>
              <a:t>名前
マッチング</a:t>
            </a:r>
          </a:p>
        </p:txBody>
      </p:sp>
      <p:sp>
        <p:nvSpPr>
          <p:cNvPr id="16" name="TextBox 15"/>
          <p:cNvSpPr txBox="1"/>
          <p:nvPr/>
        </p:nvSpPr>
        <p:spPr>
          <a:xfrm>
            <a:off x="6025896" y="1764792"/>
            <a:ext cx="137160" cy="594360"/>
          </a:xfrm>
          <a:prstGeom prst="rect">
            <a:avLst/>
          </a:prstGeom>
          <a:noFill/>
        </p:spPr>
        <p:txBody>
          <a:bodyPr wrap="square">
            <a:spAutoFit/>
          </a:bodyPr>
          <a:lstStyle/>
          <a:p>
            <a:pPr algn="ctr"/>
            <a:r>
              <a:rPr sz="1400" b="0">
                <a:solidFill>
                  <a:srgbClr val="0F766E"/>
                </a:solidFill>
                <a:latin typeface="Meiryo UI"/>
              </a:rPr>
              <a:t>▶</a:t>
            </a:r>
          </a:p>
        </p:txBody>
      </p:sp>
      <p:sp>
        <p:nvSpPr>
          <p:cNvPr id="17" name="Rectangle 16"/>
          <p:cNvSpPr/>
          <p:nvPr/>
        </p:nvSpPr>
        <p:spPr>
          <a:xfrm>
            <a:off x="6181344"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1691640"/>
            <a:ext cx="1737360" cy="731520"/>
          </a:xfrm>
          <a:prstGeom prst="rect">
            <a:avLst/>
          </a:prstGeom>
          <a:noFill/>
        </p:spPr>
        <p:txBody>
          <a:bodyPr wrap="square">
            <a:spAutoFit/>
          </a:bodyPr>
          <a:lstStyle/>
          <a:p>
            <a:pPr algn="ctr"/>
            <a:r>
              <a:rPr sz="1300" b="1">
                <a:solidFill>
                  <a:srgbClr val="FFFFFF"/>
                </a:solidFill>
                <a:latin typeface="Meiryo UI"/>
              </a:rPr>
              <a:t>粗利確認</a:t>
            </a:r>
          </a:p>
        </p:txBody>
      </p:sp>
      <p:sp>
        <p:nvSpPr>
          <p:cNvPr id="19" name="TextBox 18"/>
          <p:cNvSpPr txBox="1"/>
          <p:nvPr/>
        </p:nvSpPr>
        <p:spPr>
          <a:xfrm>
            <a:off x="7964424" y="1764792"/>
            <a:ext cx="137160" cy="594360"/>
          </a:xfrm>
          <a:prstGeom prst="rect">
            <a:avLst/>
          </a:prstGeom>
          <a:noFill/>
        </p:spPr>
        <p:txBody>
          <a:bodyPr wrap="square">
            <a:spAutoFit/>
          </a:bodyPr>
          <a:lstStyle/>
          <a:p>
            <a:pPr algn="ctr"/>
            <a:r>
              <a:rPr sz="1400" b="0">
                <a:solidFill>
                  <a:srgbClr val="0F766E"/>
                </a:solidFill>
                <a:latin typeface="Meiryo UI"/>
              </a:rPr>
              <a:t>▶</a:t>
            </a:r>
          </a:p>
        </p:txBody>
      </p:sp>
      <p:sp>
        <p:nvSpPr>
          <p:cNvPr id="20" name="Rectangle 19"/>
          <p:cNvSpPr/>
          <p:nvPr/>
        </p:nvSpPr>
        <p:spPr>
          <a:xfrm>
            <a:off x="8119872"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2" y="1691640"/>
            <a:ext cx="1737360" cy="731520"/>
          </a:xfrm>
          <a:prstGeom prst="rect">
            <a:avLst/>
          </a:prstGeom>
          <a:noFill/>
        </p:spPr>
        <p:txBody>
          <a:bodyPr wrap="square">
            <a:spAutoFit/>
          </a:bodyPr>
          <a:lstStyle/>
          <a:p>
            <a:pPr algn="ctr"/>
            <a:r>
              <a:rPr sz="1300" b="1">
                <a:solidFill>
                  <a:srgbClr val="FFFFFF"/>
                </a:solidFill>
                <a:latin typeface="Meiryo UI"/>
              </a:rPr>
              <a:t>CSV出力</a:t>
            </a:r>
          </a:p>
        </p:txBody>
      </p:sp>
      <p:sp>
        <p:nvSpPr>
          <p:cNvPr id="22" name="TextBox 21"/>
          <p:cNvSpPr txBox="1"/>
          <p:nvPr/>
        </p:nvSpPr>
        <p:spPr>
          <a:xfrm>
            <a:off x="9902952" y="1764792"/>
            <a:ext cx="137160" cy="594360"/>
          </a:xfrm>
          <a:prstGeom prst="rect">
            <a:avLst/>
          </a:prstGeom>
          <a:noFill/>
        </p:spPr>
        <p:txBody>
          <a:bodyPr wrap="square">
            <a:spAutoFit/>
          </a:bodyPr>
          <a:lstStyle/>
          <a:p>
            <a:pPr algn="ctr"/>
            <a:r>
              <a:rPr sz="1400" b="0">
                <a:solidFill>
                  <a:srgbClr val="0F766E"/>
                </a:solidFill>
                <a:latin typeface="Meiryo UI"/>
              </a:rPr>
              <a:t>▶</a:t>
            </a:r>
          </a:p>
        </p:txBody>
      </p:sp>
      <p:sp>
        <p:nvSpPr>
          <p:cNvPr id="23" name="Rectangle 22"/>
          <p:cNvSpPr/>
          <p:nvPr/>
        </p:nvSpPr>
        <p:spPr>
          <a:xfrm>
            <a:off x="10058400" y="1691640"/>
            <a:ext cx="1737360" cy="7315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1691640"/>
            <a:ext cx="1737360" cy="731520"/>
          </a:xfrm>
          <a:prstGeom prst="rect">
            <a:avLst/>
          </a:prstGeom>
          <a:noFill/>
        </p:spPr>
        <p:txBody>
          <a:bodyPr wrap="square">
            <a:spAutoFit/>
          </a:bodyPr>
          <a:lstStyle/>
          <a:p>
            <a:pPr algn="ctr"/>
            <a:r>
              <a:rPr sz="1300" b="1">
                <a:solidFill>
                  <a:srgbClr val="FFFFFF"/>
                </a:solidFill>
                <a:latin typeface="Meiryo UI"/>
              </a:rPr>
              <a:t>確　定</a:t>
            </a:r>
          </a:p>
        </p:txBody>
      </p:sp>
      <p:sp>
        <p:nvSpPr>
          <p:cNvPr id="25" name="TextBox 24"/>
          <p:cNvSpPr txBox="1"/>
          <p:nvPr/>
        </p:nvSpPr>
        <p:spPr>
          <a:xfrm>
            <a:off x="457200" y="2651760"/>
            <a:ext cx="3657600" cy="365760"/>
          </a:xfrm>
          <a:prstGeom prst="rect">
            <a:avLst/>
          </a:prstGeom>
          <a:noFill/>
        </p:spPr>
        <p:txBody>
          <a:bodyPr wrap="square">
            <a:spAutoFit/>
          </a:bodyPr>
          <a:lstStyle/>
          <a:p>
            <a:pPr algn="l"/>
            <a:r>
              <a:rPr sz="1700" b="1">
                <a:solidFill>
                  <a:srgbClr val="0F766E"/>
                </a:solidFill>
                <a:latin typeface="Meiryo UI"/>
              </a:rPr>
              <a:t>確認タブ</a:t>
            </a:r>
          </a:p>
        </p:txBody>
      </p:sp>
      <p:sp>
        <p:nvSpPr>
          <p:cNvPr id="26" name="Rectangle 25"/>
          <p:cNvSpPr/>
          <p:nvPr/>
        </p:nvSpPr>
        <p:spPr>
          <a:xfrm>
            <a:off x="457200" y="3108960"/>
            <a:ext cx="3474720" cy="594360"/>
          </a:xfrm>
          <a:prstGeom prst="rect">
            <a:avLst/>
          </a:prstGeom>
          <a:solidFill>
            <a:srgbClr val="05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3108960"/>
            <a:ext cx="3474720" cy="594360"/>
          </a:xfrm>
          <a:prstGeom prst="rect">
            <a:avLst/>
          </a:prstGeom>
          <a:noFill/>
        </p:spPr>
        <p:txBody>
          <a:bodyPr wrap="square">
            <a:spAutoFit/>
          </a:bodyPr>
          <a:lstStyle/>
          <a:p>
            <a:pPr algn="ctr"/>
            <a:r>
              <a:rPr sz="1500" b="1">
                <a:solidFill>
                  <a:srgbClr val="FFFFFF"/>
                </a:solidFill>
                <a:latin typeface="Meiryo UI"/>
              </a:rPr>
              <a:t>突合済み</a:t>
            </a:r>
          </a:p>
        </p:txBody>
      </p:sp>
      <p:sp>
        <p:nvSpPr>
          <p:cNvPr id="28" name="TextBox 27"/>
          <p:cNvSpPr txBox="1"/>
          <p:nvPr/>
        </p:nvSpPr>
        <p:spPr>
          <a:xfrm>
            <a:off x="457200" y="3749039"/>
            <a:ext cx="3474720" cy="685800"/>
          </a:xfrm>
          <a:prstGeom prst="rect">
            <a:avLst/>
          </a:prstGeom>
          <a:noFill/>
        </p:spPr>
        <p:txBody>
          <a:bodyPr wrap="square">
            <a:spAutoFit/>
          </a:bodyPr>
          <a:lstStyle/>
          <a:p>
            <a:pPr algn="l"/>
            <a:r>
              <a:rPr sz="1200" b="0">
                <a:solidFill>
                  <a:srgbClr val="1A202C"/>
                </a:solidFill>
                <a:latin typeface="Meiryo UI"/>
              </a:rPr>
              <a:t>売上と仕入が紐づいた明細
粗利が自動計算される</a:t>
            </a:r>
          </a:p>
        </p:txBody>
      </p:sp>
      <p:sp>
        <p:nvSpPr>
          <p:cNvPr id="29" name="Rectangle 28"/>
          <p:cNvSpPr/>
          <p:nvPr/>
        </p:nvSpPr>
        <p:spPr>
          <a:xfrm>
            <a:off x="4206240" y="3108960"/>
            <a:ext cx="3474720" cy="5943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06240" y="3108960"/>
            <a:ext cx="3474720" cy="594360"/>
          </a:xfrm>
          <a:prstGeom prst="rect">
            <a:avLst/>
          </a:prstGeom>
          <a:noFill/>
        </p:spPr>
        <p:txBody>
          <a:bodyPr wrap="square">
            <a:spAutoFit/>
          </a:bodyPr>
          <a:lstStyle/>
          <a:p>
            <a:pPr algn="ctr"/>
            <a:r>
              <a:rPr sz="1500" b="1">
                <a:solidFill>
                  <a:srgbClr val="FFFFFF"/>
                </a:solidFill>
                <a:latin typeface="Meiryo UI"/>
              </a:rPr>
              <a:t>売上のみ</a:t>
            </a:r>
          </a:p>
        </p:txBody>
      </p:sp>
      <p:sp>
        <p:nvSpPr>
          <p:cNvPr id="31" name="TextBox 30"/>
          <p:cNvSpPr txBox="1"/>
          <p:nvPr/>
        </p:nvSpPr>
        <p:spPr>
          <a:xfrm>
            <a:off x="4206240" y="3749039"/>
            <a:ext cx="3474720" cy="685800"/>
          </a:xfrm>
          <a:prstGeom prst="rect">
            <a:avLst/>
          </a:prstGeom>
          <a:noFill/>
        </p:spPr>
        <p:txBody>
          <a:bodyPr wrap="square">
            <a:spAutoFit/>
          </a:bodyPr>
          <a:lstStyle/>
          <a:p>
            <a:pPr algn="l"/>
            <a:r>
              <a:rPr sz="1200" b="0">
                <a:solidFill>
                  <a:srgbClr val="1A202C"/>
                </a:solidFill>
                <a:latin typeface="Meiryo UI"/>
              </a:rPr>
              <a:t>仕入データのない売上
粗利 ＝ 売上額</a:t>
            </a:r>
          </a:p>
        </p:txBody>
      </p:sp>
      <p:sp>
        <p:nvSpPr>
          <p:cNvPr id="32" name="Rectangle 31"/>
          <p:cNvSpPr/>
          <p:nvPr/>
        </p:nvSpPr>
        <p:spPr>
          <a:xfrm>
            <a:off x="7955279" y="3108960"/>
            <a:ext cx="3474720" cy="59436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79" y="3108960"/>
            <a:ext cx="3474720" cy="594360"/>
          </a:xfrm>
          <a:prstGeom prst="rect">
            <a:avLst/>
          </a:prstGeom>
          <a:noFill/>
        </p:spPr>
        <p:txBody>
          <a:bodyPr wrap="square">
            <a:spAutoFit/>
          </a:bodyPr>
          <a:lstStyle/>
          <a:p>
            <a:pPr algn="ctr"/>
            <a:r>
              <a:rPr sz="1500" b="1">
                <a:solidFill>
                  <a:srgbClr val="FFFFFF"/>
                </a:solidFill>
                <a:latin typeface="Meiryo UI"/>
              </a:rPr>
              <a:t>仕入のみ</a:t>
            </a:r>
          </a:p>
        </p:txBody>
      </p:sp>
      <p:sp>
        <p:nvSpPr>
          <p:cNvPr id="34" name="TextBox 33"/>
          <p:cNvSpPr txBox="1"/>
          <p:nvPr/>
        </p:nvSpPr>
        <p:spPr>
          <a:xfrm>
            <a:off x="7955279" y="3749039"/>
            <a:ext cx="3474720" cy="685800"/>
          </a:xfrm>
          <a:prstGeom prst="rect">
            <a:avLst/>
          </a:prstGeom>
          <a:noFill/>
        </p:spPr>
        <p:txBody>
          <a:bodyPr wrap="square">
            <a:spAutoFit/>
          </a:bodyPr>
          <a:lstStyle/>
          <a:p>
            <a:pPr algn="l"/>
            <a:r>
              <a:rPr sz="1200" b="0">
                <a:solidFill>
                  <a:srgbClr val="1A202C"/>
                </a:solidFill>
                <a:latin typeface="Meiryo UI"/>
              </a:rPr>
              <a:t>売上データのない仕入
→ 要確認・紐づけ対応</a:t>
            </a:r>
          </a:p>
        </p:txBody>
      </p:sp>
      <p:sp>
        <p:nvSpPr>
          <p:cNvPr id="35" name="TextBox 34"/>
          <p:cNvSpPr txBox="1"/>
          <p:nvPr/>
        </p:nvSpPr>
        <p:spPr>
          <a:xfrm>
            <a:off x="457200" y="4663440"/>
            <a:ext cx="10972800" cy="365760"/>
          </a:xfrm>
          <a:prstGeom prst="rect">
            <a:avLst/>
          </a:prstGeom>
          <a:noFill/>
        </p:spPr>
        <p:txBody>
          <a:bodyPr wrap="square">
            <a:spAutoFit/>
          </a:bodyPr>
          <a:lstStyle/>
          <a:p>
            <a:pPr algn="l"/>
            <a:r>
              <a:rPr sz="1700" b="1">
                <a:solidFill>
                  <a:srgbClr val="0F766E"/>
                </a:solidFill>
                <a:latin typeface="Meiryo UI"/>
              </a:rPr>
              <a:t>対応卸会社（6社）</a:t>
            </a:r>
          </a:p>
        </p:txBody>
      </p:sp>
      <p:sp>
        <p:nvSpPr>
          <p:cNvPr id="36" name="Rectangle 35"/>
          <p:cNvSpPr/>
          <p:nvPr/>
        </p:nvSpPr>
        <p:spPr>
          <a:xfrm>
            <a:off x="457200" y="5120640"/>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5157216"/>
            <a:ext cx="3383280" cy="365760"/>
          </a:xfrm>
          <a:prstGeom prst="rect">
            <a:avLst/>
          </a:prstGeom>
          <a:noFill/>
        </p:spPr>
        <p:txBody>
          <a:bodyPr wrap="square">
            <a:spAutoFit/>
          </a:bodyPr>
          <a:lstStyle/>
          <a:p>
            <a:pPr algn="l"/>
            <a:r>
              <a:rPr sz="1200" b="0">
                <a:solidFill>
                  <a:srgbClr val="0F766E"/>
                </a:solidFill>
                <a:latin typeface="Meiryo UI"/>
              </a:rPr>
              <a:t>日建リース工業（PDF）</a:t>
            </a:r>
          </a:p>
        </p:txBody>
      </p:sp>
      <p:sp>
        <p:nvSpPr>
          <p:cNvPr id="38" name="Rectangle 37"/>
          <p:cNvSpPr/>
          <p:nvPr/>
        </p:nvSpPr>
        <p:spPr>
          <a:xfrm>
            <a:off x="4251960" y="5120640"/>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89120" y="5157216"/>
            <a:ext cx="3383280" cy="365760"/>
          </a:xfrm>
          <a:prstGeom prst="rect">
            <a:avLst/>
          </a:prstGeom>
          <a:noFill/>
        </p:spPr>
        <p:txBody>
          <a:bodyPr wrap="square">
            <a:spAutoFit/>
          </a:bodyPr>
          <a:lstStyle/>
          <a:p>
            <a:pPr algn="l"/>
            <a:r>
              <a:rPr sz="1200" b="0">
                <a:solidFill>
                  <a:srgbClr val="0F766E"/>
                </a:solidFill>
                <a:latin typeface="Meiryo UI"/>
              </a:rPr>
              <a:t>野口株式会社（PDF）</a:t>
            </a:r>
          </a:p>
        </p:txBody>
      </p:sp>
      <p:sp>
        <p:nvSpPr>
          <p:cNvPr id="40" name="Rectangle 39"/>
          <p:cNvSpPr/>
          <p:nvPr/>
        </p:nvSpPr>
        <p:spPr>
          <a:xfrm>
            <a:off x="8046720" y="5120640"/>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3880" y="5157216"/>
            <a:ext cx="3383280" cy="365760"/>
          </a:xfrm>
          <a:prstGeom prst="rect">
            <a:avLst/>
          </a:prstGeom>
          <a:noFill/>
        </p:spPr>
        <p:txBody>
          <a:bodyPr wrap="square">
            <a:spAutoFit/>
          </a:bodyPr>
          <a:lstStyle/>
          <a:p>
            <a:pPr algn="l"/>
            <a:r>
              <a:rPr sz="1200" b="0">
                <a:solidFill>
                  <a:srgbClr val="0F766E"/>
                </a:solidFill>
                <a:latin typeface="Meiryo UI"/>
              </a:rPr>
              <a:t>ニシケン（PDF/CSV）</a:t>
            </a:r>
          </a:p>
        </p:txBody>
      </p:sp>
      <p:sp>
        <p:nvSpPr>
          <p:cNvPr id="42" name="Rectangle 41"/>
          <p:cNvSpPr/>
          <p:nvPr/>
        </p:nvSpPr>
        <p:spPr>
          <a:xfrm>
            <a:off x="457200" y="5623559"/>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5660136"/>
            <a:ext cx="3383280" cy="365760"/>
          </a:xfrm>
          <a:prstGeom prst="rect">
            <a:avLst/>
          </a:prstGeom>
          <a:noFill/>
        </p:spPr>
        <p:txBody>
          <a:bodyPr wrap="square">
            <a:spAutoFit/>
          </a:bodyPr>
          <a:lstStyle/>
          <a:p>
            <a:pPr algn="l"/>
            <a:r>
              <a:rPr sz="1200" b="0">
                <a:solidFill>
                  <a:srgbClr val="0F766E"/>
                </a:solidFill>
                <a:latin typeface="Meiryo UI"/>
              </a:rPr>
              <a:t>パラマウントケアサービス（PDF/CSV）</a:t>
            </a:r>
          </a:p>
        </p:txBody>
      </p:sp>
      <p:sp>
        <p:nvSpPr>
          <p:cNvPr id="44" name="Rectangle 43"/>
          <p:cNvSpPr/>
          <p:nvPr/>
        </p:nvSpPr>
        <p:spPr>
          <a:xfrm>
            <a:off x="4251960" y="5623559"/>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89120" y="5660136"/>
            <a:ext cx="3383280" cy="365760"/>
          </a:xfrm>
          <a:prstGeom prst="rect">
            <a:avLst/>
          </a:prstGeom>
          <a:noFill/>
        </p:spPr>
        <p:txBody>
          <a:bodyPr wrap="square">
            <a:spAutoFit/>
          </a:bodyPr>
          <a:lstStyle/>
          <a:p>
            <a:pPr algn="l"/>
            <a:r>
              <a:rPr sz="1200" b="0">
                <a:solidFill>
                  <a:srgbClr val="0F766E"/>
                </a:solidFill>
                <a:latin typeface="Meiryo UI"/>
              </a:rPr>
              <a:t>日本ケアサプライ（PDF/CSV）</a:t>
            </a:r>
          </a:p>
        </p:txBody>
      </p:sp>
      <p:sp>
        <p:nvSpPr>
          <p:cNvPr id="46" name="Rectangle 45"/>
          <p:cNvSpPr/>
          <p:nvPr/>
        </p:nvSpPr>
        <p:spPr>
          <a:xfrm>
            <a:off x="8046720" y="5623559"/>
            <a:ext cx="3566160" cy="411480"/>
          </a:xfrm>
          <a:prstGeom prst="rect">
            <a:avLst/>
          </a:prstGeom>
          <a:solidFill>
            <a:srgbClr val="E6FBF7"/>
          </a:solidFill>
          <a:ln w="9525">
            <a:solidFill>
              <a:srgbClr val="6EE7B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83880" y="5660136"/>
            <a:ext cx="3383280" cy="365760"/>
          </a:xfrm>
          <a:prstGeom prst="rect">
            <a:avLst/>
          </a:prstGeom>
          <a:noFill/>
        </p:spPr>
        <p:txBody>
          <a:bodyPr wrap="square">
            <a:spAutoFit/>
          </a:bodyPr>
          <a:lstStyle/>
          <a:p>
            <a:pPr algn="l"/>
            <a:r>
              <a:rPr sz="1200" b="0">
                <a:solidFill>
                  <a:srgbClr val="0F766E"/>
                </a:solidFill>
                <a:latin typeface="Meiryo UI"/>
              </a:rPr>
              <a:t>株式会社キシヤ（PDF）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07. レセプトチェック</a:t>
            </a:r>
          </a:p>
        </p:txBody>
      </p:sp>
      <p:sp>
        <p:nvSpPr>
          <p:cNvPr id="5" name="Rectangle 4"/>
          <p:cNvSpPr/>
          <p:nvPr/>
        </p:nvSpPr>
        <p:spPr>
          <a:xfrm>
            <a:off x="0" y="6492240"/>
            <a:ext cx="12188952" cy="36576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57200"/>
          </a:xfrm>
          <a:prstGeom prst="rect">
            <a:avLst/>
          </a:prstGeom>
          <a:noFill/>
        </p:spPr>
        <p:txBody>
          <a:bodyPr wrap="square">
            <a:spAutoFit/>
          </a:bodyPr>
          <a:lstStyle/>
          <a:p>
            <a:pPr algn="l"/>
            <a:r>
              <a:rPr sz="1600" b="0">
                <a:solidFill>
                  <a:srgbClr val="1A202C"/>
                </a:solidFill>
                <a:latin typeface="Meiryo UI"/>
              </a:rPr>
              <a:t>介護保険レンタルの請求前に、請求内容を確認するチェックリスト機能です</a:t>
            </a:r>
          </a:p>
        </p:txBody>
      </p:sp>
      <p:sp>
        <p:nvSpPr>
          <p:cNvPr id="8" name="TextBox 7"/>
          <p:cNvSpPr txBox="1"/>
          <p:nvPr/>
        </p:nvSpPr>
        <p:spPr>
          <a:xfrm>
            <a:off x="457200" y="1691640"/>
            <a:ext cx="5486400" cy="411480"/>
          </a:xfrm>
          <a:prstGeom prst="rect">
            <a:avLst/>
          </a:prstGeom>
          <a:noFill/>
        </p:spPr>
        <p:txBody>
          <a:bodyPr wrap="square">
            <a:spAutoFit/>
          </a:bodyPr>
          <a:lstStyle/>
          <a:p>
            <a:pPr algn="l"/>
            <a:r>
              <a:rPr sz="1800" b="1">
                <a:solidFill>
                  <a:srgbClr val="BE185D"/>
                </a:solidFill>
                <a:latin typeface="Meiryo UI"/>
              </a:rPr>
              <a:t>基本的な流れ</a:t>
            </a:r>
          </a:p>
        </p:txBody>
      </p:sp>
      <p:sp>
        <p:nvSpPr>
          <p:cNvPr id="9" name="Rectangle 8"/>
          <p:cNvSpPr/>
          <p:nvPr/>
        </p:nvSpPr>
        <p:spPr>
          <a:xfrm>
            <a:off x="457200" y="2258568"/>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58568"/>
            <a:ext cx="347472" cy="411480"/>
          </a:xfrm>
          <a:prstGeom prst="rect">
            <a:avLst/>
          </a:prstGeom>
          <a:noFill/>
        </p:spPr>
        <p:txBody>
          <a:bodyPr wrap="square">
            <a:spAutoFit/>
          </a:bodyPr>
          <a:lstStyle/>
          <a:p>
            <a:pPr algn="ctr"/>
            <a:r>
              <a:rPr sz="1300" b="1">
                <a:solidFill>
                  <a:srgbClr val="FFFFFF"/>
                </a:solidFill>
                <a:latin typeface="Meiryo UI"/>
              </a:rPr>
              <a:t>1</a:t>
            </a:r>
          </a:p>
        </p:txBody>
      </p:sp>
      <p:sp>
        <p:nvSpPr>
          <p:cNvPr id="11" name="TextBox 10"/>
          <p:cNvSpPr txBox="1"/>
          <p:nvPr/>
        </p:nvSpPr>
        <p:spPr>
          <a:xfrm>
            <a:off x="896112" y="2194560"/>
            <a:ext cx="2743200" cy="347472"/>
          </a:xfrm>
          <a:prstGeom prst="rect">
            <a:avLst/>
          </a:prstGeom>
          <a:noFill/>
        </p:spPr>
        <p:txBody>
          <a:bodyPr wrap="square">
            <a:spAutoFit/>
          </a:bodyPr>
          <a:lstStyle/>
          <a:p>
            <a:pPr algn="l"/>
            <a:r>
              <a:rPr sz="1400" b="1">
                <a:solidFill>
                  <a:srgbClr val="1A202C"/>
                </a:solidFill>
                <a:latin typeface="Meiryo UI"/>
              </a:rPr>
              <a:t>月度・事業所を選択</a:t>
            </a:r>
          </a:p>
        </p:txBody>
      </p:sp>
      <p:sp>
        <p:nvSpPr>
          <p:cNvPr id="12" name="TextBox 11"/>
          <p:cNvSpPr txBox="1"/>
          <p:nvPr/>
        </p:nvSpPr>
        <p:spPr>
          <a:xfrm>
            <a:off x="896112" y="2514600"/>
            <a:ext cx="5029200" cy="347472"/>
          </a:xfrm>
          <a:prstGeom prst="rect">
            <a:avLst/>
          </a:prstGeom>
          <a:noFill/>
        </p:spPr>
        <p:txBody>
          <a:bodyPr wrap="square">
            <a:spAutoFit/>
          </a:bodyPr>
          <a:lstStyle/>
          <a:p>
            <a:pPr algn="l"/>
            <a:r>
              <a:rPr sz="1200" b="0">
                <a:solidFill>
                  <a:srgbClr val="717D8A"/>
                </a:solidFill>
                <a:latin typeface="Meiryo UI"/>
              </a:rPr>
              <a:t>画面上部で対象月と事業所を選択</a:t>
            </a:r>
          </a:p>
        </p:txBody>
      </p:sp>
      <p:sp>
        <p:nvSpPr>
          <p:cNvPr id="13" name="Rectangle 12"/>
          <p:cNvSpPr/>
          <p:nvPr/>
        </p:nvSpPr>
        <p:spPr>
          <a:xfrm>
            <a:off x="457200" y="2880360"/>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880360"/>
            <a:ext cx="347472" cy="411480"/>
          </a:xfrm>
          <a:prstGeom prst="rect">
            <a:avLst/>
          </a:prstGeom>
          <a:noFill/>
        </p:spPr>
        <p:txBody>
          <a:bodyPr wrap="square">
            <a:spAutoFit/>
          </a:bodyPr>
          <a:lstStyle/>
          <a:p>
            <a:pPr algn="ctr"/>
            <a:r>
              <a:rPr sz="1300" b="1">
                <a:solidFill>
                  <a:srgbClr val="FFFFFF"/>
                </a:solidFill>
                <a:latin typeface="Meiryo UI"/>
              </a:rPr>
              <a:t>2</a:t>
            </a:r>
          </a:p>
        </p:txBody>
      </p:sp>
      <p:sp>
        <p:nvSpPr>
          <p:cNvPr id="15" name="TextBox 14"/>
          <p:cNvSpPr txBox="1"/>
          <p:nvPr/>
        </p:nvSpPr>
        <p:spPr>
          <a:xfrm>
            <a:off x="896112" y="2816352"/>
            <a:ext cx="2743200" cy="347472"/>
          </a:xfrm>
          <a:prstGeom prst="rect">
            <a:avLst/>
          </a:prstGeom>
          <a:noFill/>
        </p:spPr>
        <p:txBody>
          <a:bodyPr wrap="square">
            <a:spAutoFit/>
          </a:bodyPr>
          <a:lstStyle/>
          <a:p>
            <a:pPr algn="l"/>
            <a:r>
              <a:rPr sz="1400" b="1">
                <a:solidFill>
                  <a:srgbClr val="1A202C"/>
                </a:solidFill>
                <a:latin typeface="Meiryo UI"/>
              </a:rPr>
              <a:t>データ取込</a:t>
            </a:r>
          </a:p>
        </p:txBody>
      </p:sp>
      <p:sp>
        <p:nvSpPr>
          <p:cNvPr id="16" name="TextBox 15"/>
          <p:cNvSpPr txBox="1"/>
          <p:nvPr/>
        </p:nvSpPr>
        <p:spPr>
          <a:xfrm>
            <a:off x="896112" y="3136392"/>
            <a:ext cx="5029200" cy="347472"/>
          </a:xfrm>
          <a:prstGeom prst="rect">
            <a:avLst/>
          </a:prstGeom>
          <a:noFill/>
        </p:spPr>
        <p:txBody>
          <a:bodyPr wrap="square">
            <a:spAutoFit/>
          </a:bodyPr>
          <a:lstStyle/>
          <a:p>
            <a:pPr algn="l"/>
            <a:r>
              <a:rPr sz="1200" b="0">
                <a:solidFill>
                  <a:srgbClr val="717D8A"/>
                </a:solidFill>
                <a:latin typeface="Meiryo UI"/>
              </a:rPr>
              <a:t>「データ取込」ボタン → 介護保険レンタル利用者を自動抽出</a:t>
            </a:r>
          </a:p>
        </p:txBody>
      </p:sp>
      <p:sp>
        <p:nvSpPr>
          <p:cNvPr id="17" name="Rectangle 16"/>
          <p:cNvSpPr/>
          <p:nvPr/>
        </p:nvSpPr>
        <p:spPr>
          <a:xfrm>
            <a:off x="457200" y="3502151"/>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502151"/>
            <a:ext cx="347472" cy="411480"/>
          </a:xfrm>
          <a:prstGeom prst="rect">
            <a:avLst/>
          </a:prstGeom>
          <a:noFill/>
        </p:spPr>
        <p:txBody>
          <a:bodyPr wrap="square">
            <a:spAutoFit/>
          </a:bodyPr>
          <a:lstStyle/>
          <a:p>
            <a:pPr algn="ctr"/>
            <a:r>
              <a:rPr sz="1300" b="1">
                <a:solidFill>
                  <a:srgbClr val="FFFFFF"/>
                </a:solidFill>
                <a:latin typeface="Meiryo UI"/>
              </a:rPr>
              <a:t>3</a:t>
            </a:r>
          </a:p>
        </p:txBody>
      </p:sp>
      <p:sp>
        <p:nvSpPr>
          <p:cNvPr id="19" name="TextBox 18"/>
          <p:cNvSpPr txBox="1"/>
          <p:nvPr/>
        </p:nvSpPr>
        <p:spPr>
          <a:xfrm>
            <a:off x="896112" y="3438144"/>
            <a:ext cx="2743200" cy="347472"/>
          </a:xfrm>
          <a:prstGeom prst="rect">
            <a:avLst/>
          </a:prstGeom>
          <a:noFill/>
        </p:spPr>
        <p:txBody>
          <a:bodyPr wrap="square">
            <a:spAutoFit/>
          </a:bodyPr>
          <a:lstStyle/>
          <a:p>
            <a:pPr algn="l"/>
            <a:r>
              <a:rPr sz="1400" b="1">
                <a:solidFill>
                  <a:srgbClr val="1A202C"/>
                </a:solidFill>
                <a:latin typeface="Meiryo UI"/>
              </a:rPr>
              <a:t>チェックリスト確認</a:t>
            </a:r>
          </a:p>
        </p:txBody>
      </p:sp>
      <p:sp>
        <p:nvSpPr>
          <p:cNvPr id="20" name="TextBox 19"/>
          <p:cNvSpPr txBox="1"/>
          <p:nvPr/>
        </p:nvSpPr>
        <p:spPr>
          <a:xfrm>
            <a:off x="896112" y="3758183"/>
            <a:ext cx="5029200" cy="347472"/>
          </a:xfrm>
          <a:prstGeom prst="rect">
            <a:avLst/>
          </a:prstGeom>
          <a:noFill/>
        </p:spPr>
        <p:txBody>
          <a:bodyPr wrap="square">
            <a:spAutoFit/>
          </a:bodyPr>
          <a:lstStyle/>
          <a:p>
            <a:pPr algn="l"/>
            <a:r>
              <a:rPr sz="1200" b="0">
                <a:solidFill>
                  <a:srgbClr val="717D8A"/>
                </a:solidFill>
                <a:latin typeface="Meiryo UI"/>
              </a:rPr>
              <a:t>各利用者のチェック項目をクリックでON/OFF（自動保存）</a:t>
            </a:r>
          </a:p>
        </p:txBody>
      </p:sp>
      <p:sp>
        <p:nvSpPr>
          <p:cNvPr id="21" name="Rectangle 20"/>
          <p:cNvSpPr/>
          <p:nvPr/>
        </p:nvSpPr>
        <p:spPr>
          <a:xfrm>
            <a:off x="457200" y="4123944"/>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23944"/>
            <a:ext cx="347472" cy="411480"/>
          </a:xfrm>
          <a:prstGeom prst="rect">
            <a:avLst/>
          </a:prstGeom>
          <a:noFill/>
        </p:spPr>
        <p:txBody>
          <a:bodyPr wrap="square">
            <a:spAutoFit/>
          </a:bodyPr>
          <a:lstStyle/>
          <a:p>
            <a:pPr algn="ctr"/>
            <a:r>
              <a:rPr sz="1300" b="1">
                <a:solidFill>
                  <a:srgbClr val="FFFFFF"/>
                </a:solidFill>
                <a:latin typeface="Meiryo UI"/>
              </a:rPr>
              <a:t>4</a:t>
            </a:r>
          </a:p>
        </p:txBody>
      </p:sp>
      <p:sp>
        <p:nvSpPr>
          <p:cNvPr id="23" name="TextBox 22"/>
          <p:cNvSpPr txBox="1"/>
          <p:nvPr/>
        </p:nvSpPr>
        <p:spPr>
          <a:xfrm>
            <a:off x="896112" y="4059935"/>
            <a:ext cx="2743200" cy="347472"/>
          </a:xfrm>
          <a:prstGeom prst="rect">
            <a:avLst/>
          </a:prstGeom>
          <a:noFill/>
        </p:spPr>
        <p:txBody>
          <a:bodyPr wrap="square">
            <a:spAutoFit/>
          </a:bodyPr>
          <a:lstStyle/>
          <a:p>
            <a:pPr algn="l"/>
            <a:r>
              <a:rPr sz="1400" b="1">
                <a:solidFill>
                  <a:srgbClr val="1A202C"/>
                </a:solidFill>
                <a:latin typeface="Meiryo UI"/>
              </a:rPr>
              <a:t>単位数を入力</a:t>
            </a:r>
          </a:p>
        </p:txBody>
      </p:sp>
      <p:sp>
        <p:nvSpPr>
          <p:cNvPr id="24" name="TextBox 23"/>
          <p:cNvSpPr txBox="1"/>
          <p:nvPr/>
        </p:nvSpPr>
        <p:spPr>
          <a:xfrm>
            <a:off x="896112" y="4379975"/>
            <a:ext cx="5029200" cy="347472"/>
          </a:xfrm>
          <a:prstGeom prst="rect">
            <a:avLst/>
          </a:prstGeom>
          <a:noFill/>
        </p:spPr>
        <p:txBody>
          <a:bodyPr wrap="square">
            <a:spAutoFit/>
          </a:bodyPr>
          <a:lstStyle/>
          <a:p>
            <a:pPr algn="l"/>
            <a:r>
              <a:rPr sz="1200" b="0">
                <a:solidFill>
                  <a:srgbClr val="717D8A"/>
                </a:solidFill>
                <a:latin typeface="Meiryo UI"/>
              </a:rPr>
              <a:t>直接入力可能。再取込後も手動入力値は保持される</a:t>
            </a:r>
          </a:p>
        </p:txBody>
      </p:sp>
      <p:sp>
        <p:nvSpPr>
          <p:cNvPr id="25" name="Rectangle 24"/>
          <p:cNvSpPr/>
          <p:nvPr/>
        </p:nvSpPr>
        <p:spPr>
          <a:xfrm>
            <a:off x="457200" y="4745736"/>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745736"/>
            <a:ext cx="347472" cy="411480"/>
          </a:xfrm>
          <a:prstGeom prst="rect">
            <a:avLst/>
          </a:prstGeom>
          <a:noFill/>
        </p:spPr>
        <p:txBody>
          <a:bodyPr wrap="square">
            <a:spAutoFit/>
          </a:bodyPr>
          <a:lstStyle/>
          <a:p>
            <a:pPr algn="ctr"/>
            <a:r>
              <a:rPr sz="1300" b="1">
                <a:solidFill>
                  <a:srgbClr val="FFFFFF"/>
                </a:solidFill>
                <a:latin typeface="Meiryo UI"/>
              </a:rPr>
              <a:t>5</a:t>
            </a:r>
          </a:p>
        </p:txBody>
      </p:sp>
      <p:sp>
        <p:nvSpPr>
          <p:cNvPr id="27" name="TextBox 26"/>
          <p:cNvSpPr txBox="1"/>
          <p:nvPr/>
        </p:nvSpPr>
        <p:spPr>
          <a:xfrm>
            <a:off x="896112" y="4681728"/>
            <a:ext cx="2743200" cy="347472"/>
          </a:xfrm>
          <a:prstGeom prst="rect">
            <a:avLst/>
          </a:prstGeom>
          <a:noFill/>
        </p:spPr>
        <p:txBody>
          <a:bodyPr wrap="square">
            <a:spAutoFit/>
          </a:bodyPr>
          <a:lstStyle/>
          <a:p>
            <a:pPr algn="l"/>
            <a:r>
              <a:rPr sz="1400" b="1">
                <a:solidFill>
                  <a:srgbClr val="1A202C"/>
                </a:solidFill>
                <a:latin typeface="Meiryo UI"/>
              </a:rPr>
              <a:t>月度更新</a:t>
            </a:r>
          </a:p>
        </p:txBody>
      </p:sp>
      <p:sp>
        <p:nvSpPr>
          <p:cNvPr id="28" name="TextBox 27"/>
          <p:cNvSpPr txBox="1"/>
          <p:nvPr/>
        </p:nvSpPr>
        <p:spPr>
          <a:xfrm>
            <a:off x="896112" y="5001768"/>
            <a:ext cx="5029200" cy="347472"/>
          </a:xfrm>
          <a:prstGeom prst="rect">
            <a:avLst/>
          </a:prstGeom>
          <a:noFill/>
        </p:spPr>
        <p:txBody>
          <a:bodyPr wrap="square">
            <a:spAutoFit/>
          </a:bodyPr>
          <a:lstStyle/>
          <a:p>
            <a:pPr algn="l"/>
            <a:r>
              <a:rPr sz="1200" b="0">
                <a:solidFill>
                  <a:srgbClr val="717D8A"/>
                </a:solidFill>
                <a:latin typeface="Meiryo UI"/>
              </a:rPr>
              <a:t>解約利用者を除外（amber色ボタン）</a:t>
            </a:r>
          </a:p>
        </p:txBody>
      </p:sp>
      <p:sp>
        <p:nvSpPr>
          <p:cNvPr id="29" name="Rectangle 28"/>
          <p:cNvSpPr/>
          <p:nvPr/>
        </p:nvSpPr>
        <p:spPr>
          <a:xfrm>
            <a:off x="457200" y="5367528"/>
            <a:ext cx="347472"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367528"/>
            <a:ext cx="347472" cy="411480"/>
          </a:xfrm>
          <a:prstGeom prst="rect">
            <a:avLst/>
          </a:prstGeom>
          <a:noFill/>
        </p:spPr>
        <p:txBody>
          <a:bodyPr wrap="square">
            <a:spAutoFit/>
          </a:bodyPr>
          <a:lstStyle/>
          <a:p>
            <a:pPr algn="ctr"/>
            <a:r>
              <a:rPr sz="1300" b="1">
                <a:solidFill>
                  <a:srgbClr val="FFFFFF"/>
                </a:solidFill>
                <a:latin typeface="Meiryo UI"/>
              </a:rPr>
              <a:t>6</a:t>
            </a:r>
          </a:p>
        </p:txBody>
      </p:sp>
      <p:sp>
        <p:nvSpPr>
          <p:cNvPr id="31" name="TextBox 30"/>
          <p:cNvSpPr txBox="1"/>
          <p:nvPr/>
        </p:nvSpPr>
        <p:spPr>
          <a:xfrm>
            <a:off x="896112" y="5303520"/>
            <a:ext cx="2743200" cy="347472"/>
          </a:xfrm>
          <a:prstGeom prst="rect">
            <a:avLst/>
          </a:prstGeom>
          <a:noFill/>
        </p:spPr>
        <p:txBody>
          <a:bodyPr wrap="square">
            <a:spAutoFit/>
          </a:bodyPr>
          <a:lstStyle/>
          <a:p>
            <a:pPr algn="l"/>
            <a:r>
              <a:rPr sz="1400" b="1">
                <a:solidFill>
                  <a:srgbClr val="1A202C"/>
                </a:solidFill>
                <a:latin typeface="Meiryo UI"/>
              </a:rPr>
              <a:t>CSV出力</a:t>
            </a:r>
          </a:p>
        </p:txBody>
      </p:sp>
      <p:sp>
        <p:nvSpPr>
          <p:cNvPr id="32" name="TextBox 31"/>
          <p:cNvSpPr txBox="1"/>
          <p:nvPr/>
        </p:nvSpPr>
        <p:spPr>
          <a:xfrm>
            <a:off x="896112" y="5623560"/>
            <a:ext cx="5029200" cy="347472"/>
          </a:xfrm>
          <a:prstGeom prst="rect">
            <a:avLst/>
          </a:prstGeom>
          <a:noFill/>
        </p:spPr>
        <p:txBody>
          <a:bodyPr wrap="square">
            <a:spAutoFit/>
          </a:bodyPr>
          <a:lstStyle/>
          <a:p>
            <a:pPr algn="l"/>
            <a:r>
              <a:rPr sz="1200" b="0">
                <a:solidFill>
                  <a:srgbClr val="717D8A"/>
                </a:solidFill>
                <a:latin typeface="Meiryo UI"/>
              </a:rPr>
              <a:t>請求作業前に必ず出力・保管</a:t>
            </a:r>
          </a:p>
        </p:txBody>
      </p:sp>
      <p:sp>
        <p:nvSpPr>
          <p:cNvPr id="33" name="TextBox 32"/>
          <p:cNvSpPr txBox="1"/>
          <p:nvPr/>
        </p:nvSpPr>
        <p:spPr>
          <a:xfrm>
            <a:off x="6400800" y="1691640"/>
            <a:ext cx="5486400" cy="411480"/>
          </a:xfrm>
          <a:prstGeom prst="rect">
            <a:avLst/>
          </a:prstGeom>
          <a:noFill/>
        </p:spPr>
        <p:txBody>
          <a:bodyPr wrap="square">
            <a:spAutoFit/>
          </a:bodyPr>
          <a:lstStyle/>
          <a:p>
            <a:pPr algn="l"/>
            <a:r>
              <a:rPr sz="1800" b="1">
                <a:solidFill>
                  <a:srgbClr val="BE185D"/>
                </a:solidFill>
                <a:latin typeface="Meiryo UI"/>
              </a:rPr>
              <a:t>チェックリストの特徴</a:t>
            </a:r>
          </a:p>
        </p:txBody>
      </p:sp>
      <p:sp>
        <p:nvSpPr>
          <p:cNvPr id="34" name="Rectangle 33"/>
          <p:cNvSpPr/>
          <p:nvPr/>
        </p:nvSpPr>
        <p:spPr>
          <a:xfrm>
            <a:off x="6400800" y="2258568"/>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2258568"/>
            <a:ext cx="822960" cy="411480"/>
          </a:xfrm>
          <a:prstGeom prst="rect">
            <a:avLst/>
          </a:prstGeom>
          <a:noFill/>
        </p:spPr>
        <p:txBody>
          <a:bodyPr wrap="square">
            <a:spAutoFit/>
          </a:bodyPr>
          <a:lstStyle/>
          <a:p>
            <a:pPr algn="ctr"/>
            <a:r>
              <a:rPr sz="1100" b="1">
                <a:solidFill>
                  <a:srgbClr val="FFFFFF"/>
                </a:solidFill>
                <a:latin typeface="Meiryo UI"/>
              </a:rPr>
              <a:t>自動取込</a:t>
            </a:r>
          </a:p>
        </p:txBody>
      </p:sp>
      <p:sp>
        <p:nvSpPr>
          <p:cNvPr id="36" name="TextBox 35"/>
          <p:cNvSpPr txBox="1"/>
          <p:nvPr/>
        </p:nvSpPr>
        <p:spPr>
          <a:xfrm>
            <a:off x="7315200" y="2258568"/>
            <a:ext cx="4389120" cy="457200"/>
          </a:xfrm>
          <a:prstGeom prst="rect">
            <a:avLst/>
          </a:prstGeom>
          <a:noFill/>
        </p:spPr>
        <p:txBody>
          <a:bodyPr wrap="square">
            <a:spAutoFit/>
          </a:bodyPr>
          <a:lstStyle/>
          <a:p>
            <a:pPr algn="l"/>
            <a:r>
              <a:rPr sz="1300" b="0">
                <a:solidFill>
                  <a:srgbClr val="1A202C"/>
                </a:solidFill>
                <a:latin typeface="Meiryo UI"/>
              </a:rPr>
              <a:t>介護保険レンタルがある利用者を自動抽出</a:t>
            </a:r>
          </a:p>
        </p:txBody>
      </p:sp>
      <p:sp>
        <p:nvSpPr>
          <p:cNvPr id="37" name="Rectangle 36"/>
          <p:cNvSpPr/>
          <p:nvPr/>
        </p:nvSpPr>
        <p:spPr>
          <a:xfrm>
            <a:off x="6400800" y="2880360"/>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2880360"/>
            <a:ext cx="822960" cy="411480"/>
          </a:xfrm>
          <a:prstGeom prst="rect">
            <a:avLst/>
          </a:prstGeom>
          <a:noFill/>
        </p:spPr>
        <p:txBody>
          <a:bodyPr wrap="square">
            <a:spAutoFit/>
          </a:bodyPr>
          <a:lstStyle/>
          <a:p>
            <a:pPr algn="ctr"/>
            <a:r>
              <a:rPr sz="1100" b="1">
                <a:solidFill>
                  <a:srgbClr val="FFFFFF"/>
                </a:solidFill>
                <a:latin typeface="Meiryo UI"/>
              </a:rPr>
              <a:t>自動最新化</a:t>
            </a:r>
          </a:p>
        </p:txBody>
      </p:sp>
      <p:sp>
        <p:nvSpPr>
          <p:cNvPr id="39" name="TextBox 38"/>
          <p:cNvSpPr txBox="1"/>
          <p:nvPr/>
        </p:nvSpPr>
        <p:spPr>
          <a:xfrm>
            <a:off x="7315200" y="2880360"/>
            <a:ext cx="4389120" cy="457200"/>
          </a:xfrm>
          <a:prstGeom prst="rect">
            <a:avLst/>
          </a:prstGeom>
          <a:noFill/>
        </p:spPr>
        <p:txBody>
          <a:bodyPr wrap="square">
            <a:spAutoFit/>
          </a:bodyPr>
          <a:lstStyle/>
          <a:p>
            <a:pPr algn="l"/>
            <a:r>
              <a:rPr sz="1300" b="0">
                <a:solidFill>
                  <a:srgbClr val="1A202C"/>
                </a:solidFill>
                <a:latin typeface="Meiryo UI"/>
              </a:rPr>
              <a:t>ページ読込時に事業所・拠点・入院日等を最新データに自動更新</a:t>
            </a:r>
          </a:p>
        </p:txBody>
      </p:sp>
      <p:sp>
        <p:nvSpPr>
          <p:cNvPr id="40" name="Rectangle 39"/>
          <p:cNvSpPr/>
          <p:nvPr/>
        </p:nvSpPr>
        <p:spPr>
          <a:xfrm>
            <a:off x="6400800" y="3502151"/>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0" y="3502151"/>
            <a:ext cx="822960" cy="411480"/>
          </a:xfrm>
          <a:prstGeom prst="rect">
            <a:avLst/>
          </a:prstGeom>
          <a:noFill/>
        </p:spPr>
        <p:txBody>
          <a:bodyPr wrap="square">
            <a:spAutoFit/>
          </a:bodyPr>
          <a:lstStyle/>
          <a:p>
            <a:pPr algn="ctr"/>
            <a:r>
              <a:rPr sz="1100" b="1">
                <a:solidFill>
                  <a:srgbClr val="FFFFFF"/>
                </a:solidFill>
                <a:latin typeface="Meiryo UI"/>
              </a:rPr>
              <a:t>日付自動抽出</a:t>
            </a:r>
          </a:p>
        </p:txBody>
      </p:sp>
      <p:sp>
        <p:nvSpPr>
          <p:cNvPr id="42" name="TextBox 41"/>
          <p:cNvSpPr txBox="1"/>
          <p:nvPr/>
        </p:nvSpPr>
        <p:spPr>
          <a:xfrm>
            <a:off x="7315200" y="3502151"/>
            <a:ext cx="4389120" cy="457200"/>
          </a:xfrm>
          <a:prstGeom prst="rect">
            <a:avLst/>
          </a:prstGeom>
          <a:noFill/>
        </p:spPr>
        <p:txBody>
          <a:bodyPr wrap="square">
            <a:spAutoFit/>
          </a:bodyPr>
          <a:lstStyle/>
          <a:p>
            <a:pPr algn="l"/>
            <a:r>
              <a:rPr sz="1300" b="0">
                <a:solidFill>
                  <a:srgbClr val="1A202C"/>
                </a:solidFill>
                <a:latin typeface="Meiryo UI"/>
              </a:rPr>
              <a:t>変更情報から入院日・退院日・解約日を自動設定</a:t>
            </a:r>
          </a:p>
        </p:txBody>
      </p:sp>
      <p:sp>
        <p:nvSpPr>
          <p:cNvPr id="43" name="Rectangle 42"/>
          <p:cNvSpPr/>
          <p:nvPr/>
        </p:nvSpPr>
        <p:spPr>
          <a:xfrm>
            <a:off x="6400800" y="4123944"/>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4123944"/>
            <a:ext cx="822960" cy="411480"/>
          </a:xfrm>
          <a:prstGeom prst="rect">
            <a:avLst/>
          </a:prstGeom>
          <a:noFill/>
        </p:spPr>
        <p:txBody>
          <a:bodyPr wrap="square">
            <a:spAutoFit/>
          </a:bodyPr>
          <a:lstStyle/>
          <a:p>
            <a:pPr algn="ctr"/>
            <a:r>
              <a:rPr sz="1100" b="1">
                <a:solidFill>
                  <a:srgbClr val="FFFFFF"/>
                </a:solidFill>
                <a:latin typeface="Meiryo UI"/>
              </a:rPr>
              <a:t>検索対応</a:t>
            </a:r>
          </a:p>
        </p:txBody>
      </p:sp>
      <p:sp>
        <p:nvSpPr>
          <p:cNvPr id="45" name="TextBox 44"/>
          <p:cNvSpPr txBox="1"/>
          <p:nvPr/>
        </p:nvSpPr>
        <p:spPr>
          <a:xfrm>
            <a:off x="7315200" y="4123944"/>
            <a:ext cx="4389120" cy="457200"/>
          </a:xfrm>
          <a:prstGeom prst="rect">
            <a:avLst/>
          </a:prstGeom>
          <a:noFill/>
        </p:spPr>
        <p:txBody>
          <a:bodyPr wrap="square">
            <a:spAutoFit/>
          </a:bodyPr>
          <a:lstStyle/>
          <a:p>
            <a:pPr algn="l"/>
            <a:r>
              <a:rPr sz="1300" b="0">
                <a:solidFill>
                  <a:srgbClr val="1A202C"/>
                </a:solidFill>
                <a:latin typeface="Meiryo UI"/>
              </a:rPr>
              <a:t>利用者名・居宅介護支援事業所で部分一致検索</a:t>
            </a:r>
          </a:p>
        </p:txBody>
      </p:sp>
      <p:sp>
        <p:nvSpPr>
          <p:cNvPr id="46" name="Rectangle 45"/>
          <p:cNvSpPr/>
          <p:nvPr/>
        </p:nvSpPr>
        <p:spPr>
          <a:xfrm>
            <a:off x="6400800" y="4745736"/>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4745736"/>
            <a:ext cx="822960" cy="411480"/>
          </a:xfrm>
          <a:prstGeom prst="rect">
            <a:avLst/>
          </a:prstGeom>
          <a:noFill/>
        </p:spPr>
        <p:txBody>
          <a:bodyPr wrap="square">
            <a:spAutoFit/>
          </a:bodyPr>
          <a:lstStyle/>
          <a:p>
            <a:pPr algn="ctr"/>
            <a:r>
              <a:rPr sz="1100" b="1">
                <a:solidFill>
                  <a:srgbClr val="FFFFFF"/>
                </a:solidFill>
                <a:latin typeface="Meiryo UI"/>
              </a:rPr>
              <a:t>ソート</a:t>
            </a:r>
          </a:p>
        </p:txBody>
      </p:sp>
      <p:sp>
        <p:nvSpPr>
          <p:cNvPr id="48" name="TextBox 47"/>
          <p:cNvSpPr txBox="1"/>
          <p:nvPr/>
        </p:nvSpPr>
        <p:spPr>
          <a:xfrm>
            <a:off x="7315200" y="4745736"/>
            <a:ext cx="4389120" cy="457200"/>
          </a:xfrm>
          <a:prstGeom prst="rect">
            <a:avLst/>
          </a:prstGeom>
          <a:noFill/>
        </p:spPr>
        <p:txBody>
          <a:bodyPr wrap="square">
            <a:spAutoFit/>
          </a:bodyPr>
          <a:lstStyle/>
          <a:p>
            <a:pPr algn="l"/>
            <a:r>
              <a:rPr sz="1300" b="0">
                <a:solidFill>
                  <a:srgbClr val="1A202C"/>
                </a:solidFill>
                <a:latin typeface="Meiryo UI"/>
              </a:rPr>
              <a:t>全ヘッダークリックで昇順→降順→解除の3段階</a:t>
            </a:r>
          </a:p>
        </p:txBody>
      </p:sp>
      <p:sp>
        <p:nvSpPr>
          <p:cNvPr id="49" name="Rectangle 48"/>
          <p:cNvSpPr/>
          <p:nvPr/>
        </p:nvSpPr>
        <p:spPr>
          <a:xfrm>
            <a:off x="6400800" y="5367528"/>
            <a:ext cx="822960" cy="41148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5367528"/>
            <a:ext cx="822960" cy="411480"/>
          </a:xfrm>
          <a:prstGeom prst="rect">
            <a:avLst/>
          </a:prstGeom>
          <a:noFill/>
        </p:spPr>
        <p:txBody>
          <a:bodyPr wrap="square">
            <a:spAutoFit/>
          </a:bodyPr>
          <a:lstStyle/>
          <a:p>
            <a:pPr algn="ctr"/>
            <a:r>
              <a:rPr sz="1100" b="1">
                <a:solidFill>
                  <a:srgbClr val="FFFFFF"/>
                </a:solidFill>
                <a:latin typeface="Meiryo UI"/>
              </a:rPr>
              <a:t>事業所フィルター</a:t>
            </a:r>
          </a:p>
        </p:txBody>
      </p:sp>
      <p:sp>
        <p:nvSpPr>
          <p:cNvPr id="51" name="TextBox 50"/>
          <p:cNvSpPr txBox="1"/>
          <p:nvPr/>
        </p:nvSpPr>
        <p:spPr>
          <a:xfrm>
            <a:off x="7315200" y="5367528"/>
            <a:ext cx="4389120" cy="457200"/>
          </a:xfrm>
          <a:prstGeom prst="rect">
            <a:avLst/>
          </a:prstGeom>
          <a:noFill/>
        </p:spPr>
        <p:txBody>
          <a:bodyPr wrap="square">
            <a:spAutoFit/>
          </a:bodyPr>
          <a:lstStyle/>
          <a:p>
            <a:pPr algn="l"/>
            <a:r>
              <a:rPr sz="1300" b="0">
                <a:solidFill>
                  <a:srgbClr val="1A202C"/>
                </a:solidFill>
                <a:latin typeface="Meiryo UI"/>
              </a:rPr>
              <a:t>切替してもデータは消えない（保存キーは全事業所固定）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08. AI機能（Gemini AI）</a:t>
            </a:r>
          </a:p>
        </p:txBody>
      </p:sp>
      <p:sp>
        <p:nvSpPr>
          <p:cNvPr id="5" name="Rectangle 4"/>
          <p:cNvSpPr/>
          <p:nvPr/>
        </p:nvSpPr>
        <p:spPr>
          <a:xfrm>
            <a:off x="0" y="6492240"/>
            <a:ext cx="12188952" cy="36576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11480"/>
          </a:xfrm>
          <a:prstGeom prst="rect">
            <a:avLst/>
          </a:prstGeom>
          <a:noFill/>
        </p:spPr>
        <p:txBody>
          <a:bodyPr wrap="square">
            <a:spAutoFit/>
          </a:bodyPr>
          <a:lstStyle/>
          <a:p>
            <a:pPr algn="l"/>
            <a:r>
              <a:rPr sz="1600" b="0">
                <a:solidFill>
                  <a:srgbClr val="1A202C"/>
                </a:solidFill>
                <a:latin typeface="Meiryo UI"/>
              </a:rPr>
              <a:t>4つのAI機能が搭載されています</a:t>
            </a:r>
          </a:p>
        </p:txBody>
      </p:sp>
      <p:sp>
        <p:nvSpPr>
          <p:cNvPr id="8" name="Rectangle 7"/>
          <p:cNvSpPr/>
          <p:nvPr/>
        </p:nvSpPr>
        <p:spPr>
          <a:xfrm>
            <a:off x="365760" y="1691640"/>
            <a:ext cx="5577840" cy="2011680"/>
          </a:xfrm>
          <a:prstGeom prst="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691640"/>
            <a:ext cx="5577840" cy="5029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91640"/>
            <a:ext cx="3840480" cy="502920"/>
          </a:xfrm>
          <a:prstGeom prst="rect">
            <a:avLst/>
          </a:prstGeom>
          <a:noFill/>
        </p:spPr>
        <p:txBody>
          <a:bodyPr wrap="square">
            <a:spAutoFit/>
          </a:bodyPr>
          <a:lstStyle/>
          <a:p>
            <a:pPr algn="l"/>
            <a:r>
              <a:rPr sz="1600" b="1">
                <a:solidFill>
                  <a:srgbClr val="FFFFFF"/>
                </a:solidFill>
                <a:latin typeface="Meiryo UI"/>
              </a:rPr>
              <a:t>AI 議事録生成</a:t>
            </a:r>
          </a:p>
        </p:txBody>
      </p:sp>
      <p:sp>
        <p:nvSpPr>
          <p:cNvPr id="11" name="TextBox 10"/>
          <p:cNvSpPr txBox="1"/>
          <p:nvPr/>
        </p:nvSpPr>
        <p:spPr>
          <a:xfrm>
            <a:off x="4389120" y="1691640"/>
            <a:ext cx="1508760" cy="502920"/>
          </a:xfrm>
          <a:prstGeom prst="rect">
            <a:avLst/>
          </a:prstGeom>
          <a:noFill/>
        </p:spPr>
        <p:txBody>
          <a:bodyPr wrap="square">
            <a:spAutoFit/>
          </a:bodyPr>
          <a:lstStyle/>
          <a:p>
            <a:pPr algn="r"/>
            <a:r>
              <a:rPr sz="1200" b="0">
                <a:solidFill>
                  <a:srgbClr val="FED7AA"/>
                </a:solidFill>
                <a:latin typeface="Meiryo UI"/>
              </a:rPr>
              <a:t>利用者詳細 Tab3</a:t>
            </a:r>
          </a:p>
        </p:txBody>
      </p:sp>
      <p:sp>
        <p:nvSpPr>
          <p:cNvPr id="12" name="TextBox 11"/>
          <p:cNvSpPr txBox="1"/>
          <p:nvPr/>
        </p:nvSpPr>
        <p:spPr>
          <a:xfrm>
            <a:off x="502920" y="2286000"/>
            <a:ext cx="5303520" cy="1371600"/>
          </a:xfrm>
          <a:prstGeom prst="rect">
            <a:avLst/>
          </a:prstGeom>
          <a:noFill/>
        </p:spPr>
        <p:txBody>
          <a:bodyPr wrap="square">
            <a:spAutoFit/>
          </a:bodyPr>
          <a:lstStyle/>
          <a:p>
            <a:pPr algn="l"/>
            <a:r>
              <a:rPr sz="1300" b="0">
                <a:solidFill>
                  <a:srgbClr val="1A202C"/>
                </a:solidFill>
                <a:latin typeface="Meiryo UI"/>
              </a:rPr>
              <a:t>GoogleMeetのメモ（URL/テキスト/ファイル）から</a:t>
            </a:r>
          </a:p>
          <a:p>
            <a:pPr algn="l"/>
            <a:r>
              <a:rPr sz="1300" b="0">
                <a:solidFill>
                  <a:srgbClr val="1A202C"/>
                </a:solidFill>
                <a:latin typeface="Meiryo UI"/>
              </a:rPr>
              <a:t>担当者会議・カンファレンス議事録を自動生成。</a:t>
            </a:r>
          </a:p>
          <a:p>
            <a:pPr algn="l"/>
            <a:r>
              <a:rPr sz="1300" b="0">
                <a:solidFill>
                  <a:srgbClr val="1A202C"/>
                </a:solidFill>
                <a:latin typeface="Meiryo UI"/>
              </a:rPr>
              <a:t>8項目フォーマットで出力。</a:t>
            </a:r>
          </a:p>
        </p:txBody>
      </p:sp>
      <p:sp>
        <p:nvSpPr>
          <p:cNvPr id="13" name="Rectangle 12"/>
          <p:cNvSpPr/>
          <p:nvPr/>
        </p:nvSpPr>
        <p:spPr>
          <a:xfrm>
            <a:off x="6263640" y="1691640"/>
            <a:ext cx="5577840" cy="2011680"/>
          </a:xfrm>
          <a:prstGeom prst="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691640"/>
            <a:ext cx="5577840" cy="5029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691640"/>
            <a:ext cx="3840480" cy="502920"/>
          </a:xfrm>
          <a:prstGeom prst="rect">
            <a:avLst/>
          </a:prstGeom>
          <a:noFill/>
        </p:spPr>
        <p:txBody>
          <a:bodyPr wrap="square">
            <a:spAutoFit/>
          </a:bodyPr>
          <a:lstStyle/>
          <a:p>
            <a:pPr algn="l"/>
            <a:r>
              <a:rPr sz="1600" b="1">
                <a:solidFill>
                  <a:srgbClr val="FFFFFF"/>
                </a:solidFill>
                <a:latin typeface="Meiryo UI"/>
              </a:rPr>
              <a:t>医療文書 OCR</a:t>
            </a:r>
          </a:p>
        </p:txBody>
      </p:sp>
      <p:sp>
        <p:nvSpPr>
          <p:cNvPr id="16" name="TextBox 15"/>
          <p:cNvSpPr txBox="1"/>
          <p:nvPr/>
        </p:nvSpPr>
        <p:spPr>
          <a:xfrm>
            <a:off x="10287000" y="1691640"/>
            <a:ext cx="1508760" cy="502920"/>
          </a:xfrm>
          <a:prstGeom prst="rect">
            <a:avLst/>
          </a:prstGeom>
          <a:noFill/>
        </p:spPr>
        <p:txBody>
          <a:bodyPr wrap="square">
            <a:spAutoFit/>
          </a:bodyPr>
          <a:lstStyle/>
          <a:p>
            <a:pPr algn="r"/>
            <a:r>
              <a:rPr sz="1200" b="0">
                <a:solidFill>
                  <a:srgbClr val="FED7AA"/>
                </a:solidFill>
                <a:latin typeface="Meiryo UI"/>
              </a:rPr>
              <a:t>利用者詳細 Tab2</a:t>
            </a:r>
          </a:p>
        </p:txBody>
      </p:sp>
      <p:sp>
        <p:nvSpPr>
          <p:cNvPr id="17" name="TextBox 16"/>
          <p:cNvSpPr txBox="1"/>
          <p:nvPr/>
        </p:nvSpPr>
        <p:spPr>
          <a:xfrm>
            <a:off x="6400800" y="2286000"/>
            <a:ext cx="5303520" cy="1371600"/>
          </a:xfrm>
          <a:prstGeom prst="rect">
            <a:avLst/>
          </a:prstGeom>
          <a:noFill/>
        </p:spPr>
        <p:txBody>
          <a:bodyPr wrap="square">
            <a:spAutoFit/>
          </a:bodyPr>
          <a:lstStyle/>
          <a:p>
            <a:pPr algn="l"/>
            <a:r>
              <a:rPr sz="1300" b="0">
                <a:solidFill>
                  <a:srgbClr val="1A202C"/>
                </a:solidFill>
                <a:latin typeface="Meiryo UI"/>
              </a:rPr>
              <a:t>診断書・処方箋などのPDF/PNG/JPGをアップロードすると</a:t>
            </a:r>
          </a:p>
          <a:p>
            <a:pPr algn="l"/>
            <a:r>
              <a:rPr sz="1300" b="0">
                <a:solidFill>
                  <a:srgbClr val="1A202C"/>
                </a:solidFill>
                <a:latin typeface="Meiryo UI"/>
              </a:rPr>
              <a:t>AIが自動でテキスト抽出（約30秒）。</a:t>
            </a:r>
          </a:p>
        </p:txBody>
      </p:sp>
      <p:sp>
        <p:nvSpPr>
          <p:cNvPr id="18" name="Rectangle 17"/>
          <p:cNvSpPr/>
          <p:nvPr/>
        </p:nvSpPr>
        <p:spPr>
          <a:xfrm>
            <a:off x="365760" y="3931920"/>
            <a:ext cx="5577840" cy="2011680"/>
          </a:xfrm>
          <a:prstGeom prst="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931920"/>
            <a:ext cx="5577840" cy="5029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931920"/>
            <a:ext cx="3840480" cy="502920"/>
          </a:xfrm>
          <a:prstGeom prst="rect">
            <a:avLst/>
          </a:prstGeom>
          <a:noFill/>
        </p:spPr>
        <p:txBody>
          <a:bodyPr wrap="square">
            <a:spAutoFit/>
          </a:bodyPr>
          <a:lstStyle/>
          <a:p>
            <a:pPr algn="l"/>
            <a:r>
              <a:rPr sz="1600" b="1">
                <a:solidFill>
                  <a:srgbClr val="FFFFFF"/>
                </a:solidFill>
                <a:latin typeface="Meiryo UI"/>
              </a:rPr>
              <a:t>請求書 OCR</a:t>
            </a:r>
          </a:p>
        </p:txBody>
      </p:sp>
      <p:sp>
        <p:nvSpPr>
          <p:cNvPr id="21" name="TextBox 20"/>
          <p:cNvSpPr txBox="1"/>
          <p:nvPr/>
        </p:nvSpPr>
        <p:spPr>
          <a:xfrm>
            <a:off x="4389120" y="3931920"/>
            <a:ext cx="1508760" cy="502920"/>
          </a:xfrm>
          <a:prstGeom prst="rect">
            <a:avLst/>
          </a:prstGeom>
          <a:noFill/>
        </p:spPr>
        <p:txBody>
          <a:bodyPr wrap="square">
            <a:spAutoFit/>
          </a:bodyPr>
          <a:lstStyle/>
          <a:p>
            <a:pPr algn="r"/>
            <a:r>
              <a:rPr sz="1200" b="0">
                <a:solidFill>
                  <a:srgbClr val="FED7AA"/>
                </a:solidFill>
                <a:latin typeface="Meiryo UI"/>
              </a:rPr>
              <a:t>売上・仕入突合</a:t>
            </a:r>
          </a:p>
        </p:txBody>
      </p:sp>
      <p:sp>
        <p:nvSpPr>
          <p:cNvPr id="22" name="TextBox 21"/>
          <p:cNvSpPr txBox="1"/>
          <p:nvPr/>
        </p:nvSpPr>
        <p:spPr>
          <a:xfrm>
            <a:off x="502920" y="4526280"/>
            <a:ext cx="5303520" cy="1371600"/>
          </a:xfrm>
          <a:prstGeom prst="rect">
            <a:avLst/>
          </a:prstGeom>
          <a:noFill/>
        </p:spPr>
        <p:txBody>
          <a:bodyPr wrap="square">
            <a:spAutoFit/>
          </a:bodyPr>
          <a:lstStyle/>
          <a:p>
            <a:pPr algn="l"/>
            <a:r>
              <a:rPr sz="1300" b="0">
                <a:solidFill>
                  <a:srgbClr val="1A202C"/>
                </a:solidFill>
                <a:latin typeface="Meiryo UI"/>
              </a:rPr>
              <a:t>卸会社6社のPDF請求書を自動で読み取り、</a:t>
            </a:r>
          </a:p>
          <a:p>
            <a:pPr algn="l"/>
            <a:r>
              <a:rPr sz="1300" b="0">
                <a:solidFill>
                  <a:srgbClr val="1A202C"/>
                </a:solidFill>
                <a:latin typeface="Meiryo UI"/>
              </a:rPr>
              <a:t>利用者名・商品名・金額を抽出（約30〜60秒）。</a:t>
            </a:r>
          </a:p>
        </p:txBody>
      </p:sp>
      <p:sp>
        <p:nvSpPr>
          <p:cNvPr id="23" name="Rectangle 22"/>
          <p:cNvSpPr/>
          <p:nvPr/>
        </p:nvSpPr>
        <p:spPr>
          <a:xfrm>
            <a:off x="6263640" y="3931920"/>
            <a:ext cx="5577840" cy="2011680"/>
          </a:xfrm>
          <a:prstGeom prst="rect">
            <a:avLst/>
          </a:prstGeom>
          <a:solidFill>
            <a:srgbClr val="FFF7ED"/>
          </a:solidFill>
          <a:ln w="1270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931920"/>
            <a:ext cx="5577840" cy="5029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931920"/>
            <a:ext cx="3840480" cy="502920"/>
          </a:xfrm>
          <a:prstGeom prst="rect">
            <a:avLst/>
          </a:prstGeom>
          <a:noFill/>
        </p:spPr>
        <p:txBody>
          <a:bodyPr wrap="square">
            <a:spAutoFit/>
          </a:bodyPr>
          <a:lstStyle/>
          <a:p>
            <a:pPr algn="l"/>
            <a:r>
              <a:rPr sz="1600" b="1">
                <a:solidFill>
                  <a:srgbClr val="FFFFFF"/>
                </a:solidFill>
                <a:latin typeface="Meiryo UI"/>
              </a:rPr>
              <a:t>福祉用具 提案</a:t>
            </a:r>
          </a:p>
        </p:txBody>
      </p:sp>
      <p:sp>
        <p:nvSpPr>
          <p:cNvPr id="26" name="TextBox 25"/>
          <p:cNvSpPr txBox="1"/>
          <p:nvPr/>
        </p:nvSpPr>
        <p:spPr>
          <a:xfrm>
            <a:off x="10287000" y="3931920"/>
            <a:ext cx="1508760" cy="502920"/>
          </a:xfrm>
          <a:prstGeom prst="rect">
            <a:avLst/>
          </a:prstGeom>
          <a:noFill/>
        </p:spPr>
        <p:txBody>
          <a:bodyPr wrap="square">
            <a:spAutoFit/>
          </a:bodyPr>
          <a:lstStyle/>
          <a:p>
            <a:pPr algn="r"/>
            <a:r>
              <a:rPr sz="1200" b="0">
                <a:solidFill>
                  <a:srgbClr val="FED7AA"/>
                </a:solidFill>
                <a:latin typeface="Meiryo UI"/>
              </a:rPr>
              <a:t>利用者詳細 Tab5</a:t>
            </a:r>
          </a:p>
        </p:txBody>
      </p:sp>
      <p:sp>
        <p:nvSpPr>
          <p:cNvPr id="27" name="TextBox 26"/>
          <p:cNvSpPr txBox="1"/>
          <p:nvPr/>
        </p:nvSpPr>
        <p:spPr>
          <a:xfrm>
            <a:off x="6400800" y="4526280"/>
            <a:ext cx="5303520" cy="1371600"/>
          </a:xfrm>
          <a:prstGeom prst="rect">
            <a:avLst/>
          </a:prstGeom>
          <a:noFill/>
        </p:spPr>
        <p:txBody>
          <a:bodyPr wrap="square">
            <a:spAutoFit/>
          </a:bodyPr>
          <a:lstStyle/>
          <a:p>
            <a:pPr algn="l"/>
            <a:r>
              <a:rPr sz="1300" b="0">
                <a:solidFill>
                  <a:srgbClr val="1A202C"/>
                </a:solidFill>
                <a:latin typeface="Meiryo UI"/>
              </a:rPr>
              <a:t>利用者の要介護度・病歴・現在の利用品目をもとに</a:t>
            </a:r>
          </a:p>
          <a:p>
            <a:pPr algn="l"/>
            <a:r>
              <a:rPr sz="1300" b="0">
                <a:solidFill>
                  <a:srgbClr val="1A202C"/>
                </a:solidFill>
                <a:latin typeface="Meiryo UI"/>
              </a:rPr>
              <a:t>適切な福祉用具をAIが提案。</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09. ベッド管理 / 変更情報一覧</a:t>
            </a:r>
          </a:p>
        </p:txBody>
      </p:sp>
      <p:sp>
        <p:nvSpPr>
          <p:cNvPr id="5" name="Rectangle 4"/>
          <p:cNvSpPr/>
          <p:nvPr/>
        </p:nvSpPr>
        <p:spPr>
          <a:xfrm>
            <a:off x="0" y="6492240"/>
            <a:ext cx="12188952" cy="36576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Rectangle 6"/>
          <p:cNvSpPr/>
          <p:nvPr/>
        </p:nvSpPr>
        <p:spPr>
          <a:xfrm>
            <a:off x="274320" y="1143000"/>
            <a:ext cx="548640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143000"/>
            <a:ext cx="5486400" cy="502920"/>
          </a:xfrm>
          <a:prstGeom prst="rect">
            <a:avLst/>
          </a:prstGeom>
          <a:noFill/>
        </p:spPr>
        <p:txBody>
          <a:bodyPr wrap="square">
            <a:spAutoFit/>
          </a:bodyPr>
          <a:lstStyle/>
          <a:p>
            <a:pPr algn="ctr"/>
            <a:r>
              <a:rPr sz="1800" b="1">
                <a:solidFill>
                  <a:srgbClr val="FFFFFF"/>
                </a:solidFill>
                <a:latin typeface="Meiryo UI"/>
              </a:rPr>
              <a:t>自社ベッド管理</a:t>
            </a:r>
          </a:p>
        </p:txBody>
      </p:sp>
      <p:sp>
        <p:nvSpPr>
          <p:cNvPr id="9" name="Rectangle 8"/>
          <p:cNvSpPr/>
          <p:nvPr/>
        </p:nvSpPr>
        <p:spPr>
          <a:xfrm>
            <a:off x="274320" y="1828800"/>
            <a:ext cx="100584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1828800"/>
            <a:ext cx="1005840" cy="502920"/>
          </a:xfrm>
          <a:prstGeom prst="rect">
            <a:avLst/>
          </a:prstGeom>
          <a:noFill/>
        </p:spPr>
        <p:txBody>
          <a:bodyPr wrap="square">
            <a:spAutoFit/>
          </a:bodyPr>
          <a:lstStyle/>
          <a:p>
            <a:pPr algn="ctr"/>
            <a:r>
              <a:rPr sz="1200" b="1">
                <a:solidFill>
                  <a:srgbClr val="FFFFFF"/>
                </a:solidFill>
                <a:latin typeface="Meiryo UI"/>
              </a:rPr>
              <a:t>在庫一覧</a:t>
            </a:r>
          </a:p>
        </p:txBody>
      </p:sp>
      <p:sp>
        <p:nvSpPr>
          <p:cNvPr id="11" name="TextBox 10"/>
          <p:cNvSpPr txBox="1"/>
          <p:nvPr/>
        </p:nvSpPr>
        <p:spPr>
          <a:xfrm>
            <a:off x="1371600" y="1874519"/>
            <a:ext cx="4297680" cy="548640"/>
          </a:xfrm>
          <a:prstGeom prst="rect">
            <a:avLst/>
          </a:prstGeom>
          <a:noFill/>
        </p:spPr>
        <p:txBody>
          <a:bodyPr wrap="square">
            <a:spAutoFit/>
          </a:bodyPr>
          <a:lstStyle/>
          <a:p>
            <a:pPr algn="l"/>
            <a:r>
              <a:rPr sz="1300" b="0">
                <a:solidFill>
                  <a:srgbClr val="1A202C"/>
                </a:solidFill>
                <a:latin typeface="Meiryo UI"/>
              </a:rPr>
              <a:t>全アイテムの状態（在庫あり/貸出中/消毒中）を管理</a:t>
            </a:r>
          </a:p>
        </p:txBody>
      </p:sp>
      <p:sp>
        <p:nvSpPr>
          <p:cNvPr id="12" name="Rectangle 11"/>
          <p:cNvSpPr/>
          <p:nvPr/>
        </p:nvSpPr>
        <p:spPr>
          <a:xfrm>
            <a:off x="274320" y="2578608"/>
            <a:ext cx="100584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578608"/>
            <a:ext cx="1005840" cy="502920"/>
          </a:xfrm>
          <a:prstGeom prst="rect">
            <a:avLst/>
          </a:prstGeom>
          <a:noFill/>
        </p:spPr>
        <p:txBody>
          <a:bodyPr wrap="square">
            <a:spAutoFit/>
          </a:bodyPr>
          <a:lstStyle/>
          <a:p>
            <a:pPr algn="ctr"/>
            <a:r>
              <a:rPr sz="1200" b="1">
                <a:solidFill>
                  <a:srgbClr val="FFFFFF"/>
                </a:solidFill>
                <a:latin typeface="Meiryo UI"/>
              </a:rPr>
              <a:t>セット管理</a:t>
            </a:r>
          </a:p>
        </p:txBody>
      </p:sp>
      <p:sp>
        <p:nvSpPr>
          <p:cNvPr id="14" name="TextBox 13"/>
          <p:cNvSpPr txBox="1"/>
          <p:nvPr/>
        </p:nvSpPr>
        <p:spPr>
          <a:xfrm>
            <a:off x="1371600" y="2624327"/>
            <a:ext cx="4297680" cy="548640"/>
          </a:xfrm>
          <a:prstGeom prst="rect">
            <a:avLst/>
          </a:prstGeom>
          <a:noFill/>
        </p:spPr>
        <p:txBody>
          <a:bodyPr wrap="square">
            <a:spAutoFit/>
          </a:bodyPr>
          <a:lstStyle/>
          <a:p>
            <a:pPr algn="l"/>
            <a:r>
              <a:rPr sz="1300" b="0">
                <a:solidFill>
                  <a:srgbClr val="1A202C"/>
                </a:solidFill>
                <a:latin typeface="Meiryo UI"/>
              </a:rPr>
              <a:t>ベッド＋サイドレール＋マットレスをセットとして一括貸出</a:t>
            </a:r>
          </a:p>
        </p:txBody>
      </p:sp>
      <p:sp>
        <p:nvSpPr>
          <p:cNvPr id="15" name="Rectangle 14"/>
          <p:cNvSpPr/>
          <p:nvPr/>
        </p:nvSpPr>
        <p:spPr>
          <a:xfrm>
            <a:off x="274320" y="3328415"/>
            <a:ext cx="100584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328415"/>
            <a:ext cx="1005840" cy="502920"/>
          </a:xfrm>
          <a:prstGeom prst="rect">
            <a:avLst/>
          </a:prstGeom>
          <a:noFill/>
        </p:spPr>
        <p:txBody>
          <a:bodyPr wrap="square">
            <a:spAutoFit/>
          </a:bodyPr>
          <a:lstStyle/>
          <a:p>
            <a:pPr algn="ctr"/>
            <a:r>
              <a:rPr sz="1200" b="1">
                <a:solidFill>
                  <a:srgbClr val="FFFFFF"/>
                </a:solidFill>
                <a:latin typeface="Meiryo UI"/>
              </a:rPr>
              <a:t>償却計算</a:t>
            </a:r>
          </a:p>
        </p:txBody>
      </p:sp>
      <p:sp>
        <p:nvSpPr>
          <p:cNvPr id="17" name="TextBox 16"/>
          <p:cNvSpPr txBox="1"/>
          <p:nvPr/>
        </p:nvSpPr>
        <p:spPr>
          <a:xfrm>
            <a:off x="1371600" y="3374135"/>
            <a:ext cx="4297680" cy="548640"/>
          </a:xfrm>
          <a:prstGeom prst="rect">
            <a:avLst/>
          </a:prstGeom>
          <a:noFill/>
        </p:spPr>
        <p:txBody>
          <a:bodyPr wrap="square">
            <a:spAutoFit/>
          </a:bodyPr>
          <a:lstStyle/>
          <a:p>
            <a:pPr algn="l"/>
            <a:r>
              <a:rPr sz="1300" b="0">
                <a:solidFill>
                  <a:srgbClr val="1A202C"/>
                </a:solidFill>
                <a:latin typeface="Meiryo UI"/>
              </a:rPr>
              <a:t>購入日・金額・償却月数から月額償却・残存簿価を自動計算</a:t>
            </a:r>
          </a:p>
        </p:txBody>
      </p:sp>
      <p:sp>
        <p:nvSpPr>
          <p:cNvPr id="18" name="Rectangle 17"/>
          <p:cNvSpPr/>
          <p:nvPr/>
        </p:nvSpPr>
        <p:spPr>
          <a:xfrm>
            <a:off x="274320" y="4078224"/>
            <a:ext cx="100584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078224"/>
            <a:ext cx="1005840" cy="502920"/>
          </a:xfrm>
          <a:prstGeom prst="rect">
            <a:avLst/>
          </a:prstGeom>
          <a:noFill/>
        </p:spPr>
        <p:txBody>
          <a:bodyPr wrap="square">
            <a:spAutoFit/>
          </a:bodyPr>
          <a:lstStyle/>
          <a:p>
            <a:pPr algn="ctr"/>
            <a:r>
              <a:rPr sz="1200" b="1">
                <a:solidFill>
                  <a:srgbClr val="FFFFFF"/>
                </a:solidFill>
                <a:latin typeface="Meiryo UI"/>
              </a:rPr>
              <a:t>消毒記録</a:t>
            </a:r>
          </a:p>
        </p:txBody>
      </p:sp>
      <p:sp>
        <p:nvSpPr>
          <p:cNvPr id="20" name="TextBox 19"/>
          <p:cNvSpPr txBox="1"/>
          <p:nvPr/>
        </p:nvSpPr>
        <p:spPr>
          <a:xfrm>
            <a:off x="1371600" y="4123944"/>
            <a:ext cx="4297680" cy="548640"/>
          </a:xfrm>
          <a:prstGeom prst="rect">
            <a:avLst/>
          </a:prstGeom>
          <a:noFill/>
        </p:spPr>
        <p:txBody>
          <a:bodyPr wrap="square">
            <a:spAutoFit/>
          </a:bodyPr>
          <a:lstStyle/>
          <a:p>
            <a:pPr algn="l"/>
            <a:r>
              <a:rPr sz="1300" b="0">
                <a:solidFill>
                  <a:srgbClr val="1A202C"/>
                </a:solidFill>
                <a:latin typeface="Meiryo UI"/>
              </a:rPr>
              <a:t>返却後の消毒開始〜完了を記録（業者名・費用・期間）</a:t>
            </a:r>
          </a:p>
        </p:txBody>
      </p:sp>
      <p:sp>
        <p:nvSpPr>
          <p:cNvPr id="21" name="Rectangle 20"/>
          <p:cNvSpPr/>
          <p:nvPr/>
        </p:nvSpPr>
        <p:spPr>
          <a:xfrm>
            <a:off x="274320" y="4828031"/>
            <a:ext cx="1005840" cy="502920"/>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4828031"/>
            <a:ext cx="1005840" cy="502920"/>
          </a:xfrm>
          <a:prstGeom prst="rect">
            <a:avLst/>
          </a:prstGeom>
          <a:noFill/>
        </p:spPr>
        <p:txBody>
          <a:bodyPr wrap="square">
            <a:spAutoFit/>
          </a:bodyPr>
          <a:lstStyle/>
          <a:p>
            <a:pPr algn="ctr"/>
            <a:r>
              <a:rPr sz="1200" b="1">
                <a:solidFill>
                  <a:srgbClr val="FFFFFF"/>
                </a:solidFill>
                <a:latin typeface="Meiryo UI"/>
              </a:rPr>
              <a:t>CSV出力</a:t>
            </a:r>
          </a:p>
        </p:txBody>
      </p:sp>
      <p:sp>
        <p:nvSpPr>
          <p:cNvPr id="23" name="TextBox 22"/>
          <p:cNvSpPr txBox="1"/>
          <p:nvPr/>
        </p:nvSpPr>
        <p:spPr>
          <a:xfrm>
            <a:off x="1371600" y="4873751"/>
            <a:ext cx="4297680" cy="548640"/>
          </a:xfrm>
          <a:prstGeom prst="rect">
            <a:avLst/>
          </a:prstGeom>
          <a:noFill/>
        </p:spPr>
        <p:txBody>
          <a:bodyPr wrap="square">
            <a:spAutoFit/>
          </a:bodyPr>
          <a:lstStyle/>
          <a:p>
            <a:pPr algn="l"/>
            <a:r>
              <a:rPr sz="1300" b="0">
                <a:solidFill>
                  <a:srgbClr val="1A202C"/>
                </a:solidFill>
                <a:latin typeface="Meiryo UI"/>
              </a:rPr>
              <a:t>在庫一覧・償却一覧・消毒履歴をCSVで保存</a:t>
            </a:r>
          </a:p>
        </p:txBody>
      </p:sp>
      <p:sp>
        <p:nvSpPr>
          <p:cNvPr id="24" name="Rectangle 23"/>
          <p:cNvSpPr/>
          <p:nvPr/>
        </p:nvSpPr>
        <p:spPr>
          <a:xfrm>
            <a:off x="6309360" y="1143000"/>
            <a:ext cx="548640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143000"/>
            <a:ext cx="5486400" cy="502920"/>
          </a:xfrm>
          <a:prstGeom prst="rect">
            <a:avLst/>
          </a:prstGeom>
          <a:noFill/>
        </p:spPr>
        <p:txBody>
          <a:bodyPr wrap="square">
            <a:spAutoFit/>
          </a:bodyPr>
          <a:lstStyle/>
          <a:p>
            <a:pPr algn="ctr"/>
            <a:r>
              <a:rPr sz="1800" b="1">
                <a:solidFill>
                  <a:srgbClr val="FFFFFF"/>
                </a:solidFill>
                <a:latin typeface="Meiryo UI"/>
              </a:rPr>
              <a:t>変更情報一覧</a:t>
            </a:r>
          </a:p>
        </p:txBody>
      </p:sp>
      <p:sp>
        <p:nvSpPr>
          <p:cNvPr id="26" name="Rectangle 25"/>
          <p:cNvSpPr/>
          <p:nvPr/>
        </p:nvSpPr>
        <p:spPr>
          <a:xfrm>
            <a:off x="6309360" y="1828800"/>
            <a:ext cx="100584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828800"/>
            <a:ext cx="1005840" cy="502920"/>
          </a:xfrm>
          <a:prstGeom prst="rect">
            <a:avLst/>
          </a:prstGeom>
          <a:noFill/>
        </p:spPr>
        <p:txBody>
          <a:bodyPr wrap="square">
            <a:spAutoFit/>
          </a:bodyPr>
          <a:lstStyle/>
          <a:p>
            <a:pPr algn="ctr"/>
            <a:r>
              <a:rPr sz="1100" b="1">
                <a:solidFill>
                  <a:srgbClr val="FFFFFF"/>
                </a:solidFill>
                <a:latin typeface="Meiryo UI"/>
              </a:rPr>
              <a:t>確認対象</a:t>
            </a:r>
          </a:p>
        </p:txBody>
      </p:sp>
      <p:sp>
        <p:nvSpPr>
          <p:cNvPr id="28" name="TextBox 27"/>
          <p:cNvSpPr txBox="1"/>
          <p:nvPr/>
        </p:nvSpPr>
        <p:spPr>
          <a:xfrm>
            <a:off x="7406640" y="1874519"/>
            <a:ext cx="4297680" cy="594360"/>
          </a:xfrm>
          <a:prstGeom prst="rect">
            <a:avLst/>
          </a:prstGeom>
          <a:noFill/>
        </p:spPr>
        <p:txBody>
          <a:bodyPr wrap="square">
            <a:spAutoFit/>
          </a:bodyPr>
          <a:lstStyle/>
          <a:p>
            <a:pPr algn="l"/>
            <a:r>
              <a:rPr sz="1300" b="0">
                <a:solidFill>
                  <a:srgbClr val="1A202C"/>
                </a:solidFill>
                <a:latin typeface="Meiryo UI"/>
              </a:rPr>
              <a:t>新規・入院・退院・解約・デモ・変更の記録を全利用者横断で確認</a:t>
            </a:r>
          </a:p>
        </p:txBody>
      </p:sp>
      <p:sp>
        <p:nvSpPr>
          <p:cNvPr id="29" name="Rectangle 28"/>
          <p:cNvSpPr/>
          <p:nvPr/>
        </p:nvSpPr>
        <p:spPr>
          <a:xfrm>
            <a:off x="6309360" y="2578608"/>
            <a:ext cx="100584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2578608"/>
            <a:ext cx="1005840" cy="502920"/>
          </a:xfrm>
          <a:prstGeom prst="rect">
            <a:avLst/>
          </a:prstGeom>
          <a:noFill/>
        </p:spPr>
        <p:txBody>
          <a:bodyPr wrap="square">
            <a:spAutoFit/>
          </a:bodyPr>
          <a:lstStyle/>
          <a:p>
            <a:pPr algn="ctr"/>
            <a:r>
              <a:rPr sz="1100" b="1">
                <a:solidFill>
                  <a:srgbClr val="FFFFFF"/>
                </a:solidFill>
                <a:latin typeface="Meiryo UI"/>
              </a:rPr>
              <a:t>フィルター</a:t>
            </a:r>
          </a:p>
        </p:txBody>
      </p:sp>
      <p:sp>
        <p:nvSpPr>
          <p:cNvPr id="31" name="TextBox 30"/>
          <p:cNvSpPr txBox="1"/>
          <p:nvPr/>
        </p:nvSpPr>
        <p:spPr>
          <a:xfrm>
            <a:off x="7406640" y="2624327"/>
            <a:ext cx="4297680" cy="594360"/>
          </a:xfrm>
          <a:prstGeom prst="rect">
            <a:avLst/>
          </a:prstGeom>
          <a:noFill/>
        </p:spPr>
        <p:txBody>
          <a:bodyPr wrap="square">
            <a:spAutoFit/>
          </a:bodyPr>
          <a:lstStyle/>
          <a:p>
            <a:pPr algn="l"/>
            <a:r>
              <a:rPr sz="1300" b="0">
                <a:solidFill>
                  <a:srgbClr val="1A202C"/>
                </a:solidFill>
                <a:latin typeface="Meiryo UI"/>
              </a:rPr>
              <a:t>期間・事業所・情報種別で絞り込み</a:t>
            </a:r>
          </a:p>
        </p:txBody>
      </p:sp>
      <p:sp>
        <p:nvSpPr>
          <p:cNvPr id="32" name="Rectangle 31"/>
          <p:cNvSpPr/>
          <p:nvPr/>
        </p:nvSpPr>
        <p:spPr>
          <a:xfrm>
            <a:off x="6309360" y="3328415"/>
            <a:ext cx="100584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3328415"/>
            <a:ext cx="1005840" cy="502920"/>
          </a:xfrm>
          <a:prstGeom prst="rect">
            <a:avLst/>
          </a:prstGeom>
          <a:noFill/>
        </p:spPr>
        <p:txBody>
          <a:bodyPr wrap="square">
            <a:spAutoFit/>
          </a:bodyPr>
          <a:lstStyle/>
          <a:p>
            <a:pPr algn="ctr"/>
            <a:r>
              <a:rPr sz="1100" b="1">
                <a:solidFill>
                  <a:srgbClr val="FFFFFF"/>
                </a:solidFill>
                <a:latin typeface="Meiryo UI"/>
              </a:rPr>
              <a:t>CSV出力</a:t>
            </a:r>
          </a:p>
        </p:txBody>
      </p:sp>
      <p:sp>
        <p:nvSpPr>
          <p:cNvPr id="34" name="TextBox 33"/>
          <p:cNvSpPr txBox="1"/>
          <p:nvPr/>
        </p:nvSpPr>
        <p:spPr>
          <a:xfrm>
            <a:off x="7406640" y="3374135"/>
            <a:ext cx="4297680" cy="594360"/>
          </a:xfrm>
          <a:prstGeom prst="rect">
            <a:avLst/>
          </a:prstGeom>
          <a:noFill/>
        </p:spPr>
        <p:txBody>
          <a:bodyPr wrap="square">
            <a:spAutoFit/>
          </a:bodyPr>
          <a:lstStyle/>
          <a:p>
            <a:pPr algn="l"/>
            <a:r>
              <a:rPr sz="1300" b="0">
                <a:solidFill>
                  <a:srgbClr val="1A202C"/>
                </a:solidFill>
                <a:latin typeface="Meiryo UI"/>
              </a:rPr>
              <a:t>フィルター条件を反映した一覧をCSVで保存</a:t>
            </a:r>
          </a:p>
        </p:txBody>
      </p:sp>
      <p:sp>
        <p:nvSpPr>
          <p:cNvPr id="35" name="Rectangle 34"/>
          <p:cNvSpPr/>
          <p:nvPr/>
        </p:nvSpPr>
        <p:spPr>
          <a:xfrm>
            <a:off x="6309360" y="4078224"/>
            <a:ext cx="100584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078224"/>
            <a:ext cx="1005840" cy="502920"/>
          </a:xfrm>
          <a:prstGeom prst="rect">
            <a:avLst/>
          </a:prstGeom>
          <a:noFill/>
        </p:spPr>
        <p:txBody>
          <a:bodyPr wrap="square">
            <a:spAutoFit/>
          </a:bodyPr>
          <a:lstStyle/>
          <a:p>
            <a:pPr algn="ctr"/>
            <a:r>
              <a:rPr sz="1100" b="1">
                <a:solidFill>
                  <a:srgbClr val="FFFFFF"/>
                </a:solidFill>
                <a:latin typeface="Meiryo UI"/>
              </a:rPr>
              <a:t>スプレッド
シート</a:t>
            </a:r>
          </a:p>
        </p:txBody>
      </p:sp>
      <p:sp>
        <p:nvSpPr>
          <p:cNvPr id="37" name="TextBox 36"/>
          <p:cNvSpPr txBox="1"/>
          <p:nvPr/>
        </p:nvSpPr>
        <p:spPr>
          <a:xfrm>
            <a:off x="7406640" y="4123944"/>
            <a:ext cx="4297680" cy="594360"/>
          </a:xfrm>
          <a:prstGeom prst="rect">
            <a:avLst/>
          </a:prstGeom>
          <a:noFill/>
        </p:spPr>
        <p:txBody>
          <a:bodyPr wrap="square">
            <a:spAutoFit/>
          </a:bodyPr>
          <a:lstStyle/>
          <a:p>
            <a:pPr algn="l"/>
            <a:r>
              <a:rPr sz="1300" b="0">
                <a:solidFill>
                  <a:srgbClr val="1A202C"/>
                </a:solidFill>
                <a:latin typeface="Meiryo UI"/>
              </a:rPr>
              <a:t>Googleスプレッドシートへ直接書き出し（追記モード・新規のみ末尾追加）</a:t>
            </a:r>
          </a:p>
        </p:txBody>
      </p:sp>
      <p:sp>
        <p:nvSpPr>
          <p:cNvPr id="38" name="Rectangle 37"/>
          <p:cNvSpPr/>
          <p:nvPr/>
        </p:nvSpPr>
        <p:spPr>
          <a:xfrm>
            <a:off x="6309360" y="4828031"/>
            <a:ext cx="1005840" cy="5029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4828031"/>
            <a:ext cx="1005840" cy="502920"/>
          </a:xfrm>
          <a:prstGeom prst="rect">
            <a:avLst/>
          </a:prstGeom>
          <a:noFill/>
        </p:spPr>
        <p:txBody>
          <a:bodyPr wrap="square">
            <a:spAutoFit/>
          </a:bodyPr>
          <a:lstStyle/>
          <a:p>
            <a:pPr algn="ctr"/>
            <a:r>
              <a:rPr sz="1100" b="1">
                <a:solidFill>
                  <a:srgbClr val="FFFFFF"/>
                </a:solidFill>
                <a:latin typeface="Meiryo UI"/>
              </a:rPr>
              <a:t>活用例</a:t>
            </a:r>
          </a:p>
        </p:txBody>
      </p:sp>
      <p:sp>
        <p:nvSpPr>
          <p:cNvPr id="40" name="TextBox 39"/>
          <p:cNvSpPr txBox="1"/>
          <p:nvPr/>
        </p:nvSpPr>
        <p:spPr>
          <a:xfrm>
            <a:off x="7406640" y="4873751"/>
            <a:ext cx="4297680" cy="594360"/>
          </a:xfrm>
          <a:prstGeom prst="rect">
            <a:avLst/>
          </a:prstGeom>
          <a:noFill/>
        </p:spPr>
        <p:txBody>
          <a:bodyPr wrap="square">
            <a:spAutoFit/>
          </a:bodyPr>
          <a:lstStyle/>
          <a:p>
            <a:pPr algn="l"/>
            <a:r>
              <a:rPr sz="1300" b="0">
                <a:solidFill>
                  <a:srgbClr val="1A202C"/>
                </a:solidFill>
                <a:latin typeface="Meiryo UI"/>
              </a:rPr>
              <a:t>月初に先月変更分を出力して請求処理・卸会社連絡確認に活用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毎月の作業フロー（まとめ）</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TextBox 6"/>
          <p:cNvSpPr txBox="1"/>
          <p:nvPr/>
        </p:nvSpPr>
        <p:spPr>
          <a:xfrm>
            <a:off x="457200" y="1143000"/>
            <a:ext cx="10972800" cy="411480"/>
          </a:xfrm>
          <a:prstGeom prst="rect">
            <a:avLst/>
          </a:prstGeom>
          <a:noFill/>
        </p:spPr>
        <p:txBody>
          <a:bodyPr wrap="square">
            <a:spAutoFit/>
          </a:bodyPr>
          <a:lstStyle/>
          <a:p>
            <a:pPr algn="l"/>
            <a:r>
              <a:rPr sz="1600" b="0">
                <a:solidFill>
                  <a:srgbClr val="1A202C"/>
                </a:solidFill>
                <a:latin typeface="Meiryo UI"/>
              </a:rPr>
              <a:t>月初〜月末にかけての標準的な業務フローです</a:t>
            </a:r>
          </a:p>
        </p:txBody>
      </p:sp>
      <p:sp>
        <p:nvSpPr>
          <p:cNvPr id="8" name="Rectangle 7"/>
          <p:cNvSpPr/>
          <p:nvPr/>
        </p:nvSpPr>
        <p:spPr>
          <a:xfrm>
            <a:off x="365760" y="1691640"/>
            <a:ext cx="1097280" cy="960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91640"/>
            <a:ext cx="1097280" cy="960120"/>
          </a:xfrm>
          <a:prstGeom prst="rect">
            <a:avLst/>
          </a:prstGeom>
          <a:noFill/>
        </p:spPr>
        <p:txBody>
          <a:bodyPr wrap="square">
            <a:spAutoFit/>
          </a:bodyPr>
          <a:lstStyle/>
          <a:p>
            <a:pPr algn="ctr"/>
            <a:r>
              <a:rPr sz="1800" b="1">
                <a:solidFill>
                  <a:srgbClr val="FFFFFF"/>
                </a:solidFill>
                <a:latin typeface="Meiryo UI"/>
              </a:rPr>
              <a:t>月初</a:t>
            </a:r>
          </a:p>
        </p:txBody>
      </p:sp>
      <p:sp>
        <p:nvSpPr>
          <p:cNvPr id="10" name="TextBox 9"/>
          <p:cNvSpPr txBox="1"/>
          <p:nvPr/>
        </p:nvSpPr>
        <p:spPr>
          <a:xfrm>
            <a:off x="1645920" y="1691640"/>
            <a:ext cx="10058400" cy="457200"/>
          </a:xfrm>
          <a:prstGeom prst="rect">
            <a:avLst/>
          </a:prstGeom>
          <a:noFill/>
        </p:spPr>
        <p:txBody>
          <a:bodyPr wrap="square">
            <a:spAutoFit/>
          </a:bodyPr>
          <a:lstStyle/>
          <a:p>
            <a:pPr algn="l"/>
            <a:r>
              <a:rPr sz="1400" b="0">
                <a:solidFill>
                  <a:srgbClr val="1A202C"/>
                </a:solidFill>
                <a:latin typeface="Meiryo UI"/>
              </a:rPr>
              <a:t>・ カイポケCSVインポート（介護保険レンタル取込）</a:t>
            </a:r>
          </a:p>
        </p:txBody>
      </p:sp>
      <p:sp>
        <p:nvSpPr>
          <p:cNvPr id="11" name="TextBox 10"/>
          <p:cNvSpPr txBox="1"/>
          <p:nvPr/>
        </p:nvSpPr>
        <p:spPr>
          <a:xfrm>
            <a:off x="1645920" y="2148840"/>
            <a:ext cx="10058400" cy="457200"/>
          </a:xfrm>
          <a:prstGeom prst="rect">
            <a:avLst/>
          </a:prstGeom>
          <a:noFill/>
        </p:spPr>
        <p:txBody>
          <a:bodyPr wrap="square">
            <a:spAutoFit/>
          </a:bodyPr>
          <a:lstStyle/>
          <a:p>
            <a:pPr algn="l"/>
            <a:r>
              <a:rPr sz="1400" b="0">
                <a:solidFill>
                  <a:srgbClr val="1A202C"/>
                </a:solidFill>
                <a:latin typeface="Meiryo UI"/>
              </a:rPr>
              <a:t>・ 変更情報一覧で先月分をCSV出力</a:t>
            </a:r>
          </a:p>
        </p:txBody>
      </p:sp>
      <p:sp>
        <p:nvSpPr>
          <p:cNvPr id="12" name="Rectangle 11"/>
          <p:cNvSpPr/>
          <p:nvPr/>
        </p:nvSpPr>
        <p:spPr>
          <a:xfrm>
            <a:off x="365760" y="2880360"/>
            <a:ext cx="1097280" cy="96012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880360"/>
            <a:ext cx="1097280" cy="960120"/>
          </a:xfrm>
          <a:prstGeom prst="rect">
            <a:avLst/>
          </a:prstGeom>
          <a:noFill/>
        </p:spPr>
        <p:txBody>
          <a:bodyPr wrap="square">
            <a:spAutoFit/>
          </a:bodyPr>
          <a:lstStyle/>
          <a:p>
            <a:pPr algn="ctr"/>
            <a:r>
              <a:rPr sz="1800" b="1">
                <a:solidFill>
                  <a:srgbClr val="FFFFFF"/>
                </a:solidFill>
                <a:latin typeface="Meiryo UI"/>
              </a:rPr>
              <a:t>月中</a:t>
            </a:r>
          </a:p>
        </p:txBody>
      </p:sp>
      <p:sp>
        <p:nvSpPr>
          <p:cNvPr id="14" name="TextBox 13"/>
          <p:cNvSpPr txBox="1"/>
          <p:nvPr/>
        </p:nvSpPr>
        <p:spPr>
          <a:xfrm>
            <a:off x="1645920" y="2880360"/>
            <a:ext cx="10058400" cy="457200"/>
          </a:xfrm>
          <a:prstGeom prst="rect">
            <a:avLst/>
          </a:prstGeom>
          <a:noFill/>
        </p:spPr>
        <p:txBody>
          <a:bodyPr wrap="square">
            <a:spAutoFit/>
          </a:bodyPr>
          <a:lstStyle/>
          <a:p>
            <a:pPr algn="l"/>
            <a:r>
              <a:rPr sz="1400" b="0">
                <a:solidFill>
                  <a:srgbClr val="1A202C"/>
                </a:solidFill>
                <a:latin typeface="Meiryo UI"/>
              </a:rPr>
              <a:t>・ レセプトチェック（請求前確認）</a:t>
            </a:r>
          </a:p>
        </p:txBody>
      </p:sp>
      <p:sp>
        <p:nvSpPr>
          <p:cNvPr id="15" name="TextBox 14"/>
          <p:cNvSpPr txBox="1"/>
          <p:nvPr/>
        </p:nvSpPr>
        <p:spPr>
          <a:xfrm>
            <a:off x="1645920" y="3337560"/>
            <a:ext cx="10058400" cy="457200"/>
          </a:xfrm>
          <a:prstGeom prst="rect">
            <a:avLst/>
          </a:prstGeom>
          <a:noFill/>
        </p:spPr>
        <p:txBody>
          <a:bodyPr wrap="square">
            <a:spAutoFit/>
          </a:bodyPr>
          <a:lstStyle/>
          <a:p>
            <a:pPr algn="l"/>
            <a:r>
              <a:rPr sz="1400" b="0">
                <a:solidFill>
                  <a:srgbClr val="1A202C"/>
                </a:solidFill>
                <a:latin typeface="Meiryo UI"/>
              </a:rPr>
              <a:t>・ 単位数確認・月度更新・CSV出力</a:t>
            </a:r>
          </a:p>
        </p:txBody>
      </p:sp>
      <p:sp>
        <p:nvSpPr>
          <p:cNvPr id="16" name="Rectangle 15"/>
          <p:cNvSpPr/>
          <p:nvPr/>
        </p:nvSpPr>
        <p:spPr>
          <a:xfrm>
            <a:off x="365760" y="4069080"/>
            <a:ext cx="1097280" cy="960120"/>
          </a:xfrm>
          <a:prstGeom prst="rect">
            <a:avLst/>
          </a:prstGeom>
          <a:solidFill>
            <a:srgbClr val="BE18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069080"/>
            <a:ext cx="1097280" cy="960120"/>
          </a:xfrm>
          <a:prstGeom prst="rect">
            <a:avLst/>
          </a:prstGeom>
          <a:noFill/>
        </p:spPr>
        <p:txBody>
          <a:bodyPr wrap="square">
            <a:spAutoFit/>
          </a:bodyPr>
          <a:lstStyle/>
          <a:p>
            <a:pPr algn="ctr"/>
            <a:r>
              <a:rPr sz="1800" b="1">
                <a:solidFill>
                  <a:srgbClr val="FFFFFF"/>
                </a:solidFill>
                <a:latin typeface="Meiryo UI"/>
              </a:rPr>
              <a:t>月末</a:t>
            </a:r>
          </a:p>
        </p:txBody>
      </p:sp>
      <p:sp>
        <p:nvSpPr>
          <p:cNvPr id="18" name="TextBox 17"/>
          <p:cNvSpPr txBox="1"/>
          <p:nvPr/>
        </p:nvSpPr>
        <p:spPr>
          <a:xfrm>
            <a:off x="1645920" y="4069080"/>
            <a:ext cx="10058400" cy="457200"/>
          </a:xfrm>
          <a:prstGeom prst="rect">
            <a:avLst/>
          </a:prstGeom>
          <a:noFill/>
        </p:spPr>
        <p:txBody>
          <a:bodyPr wrap="square">
            <a:spAutoFit/>
          </a:bodyPr>
          <a:lstStyle/>
          <a:p>
            <a:pPr algn="l"/>
            <a:r>
              <a:rPr sz="1400" b="0">
                <a:solidFill>
                  <a:srgbClr val="1A202C"/>
                </a:solidFill>
                <a:latin typeface="Meiryo UI"/>
              </a:rPr>
              <a:t>・ 月次売上処理：3タブのデータ確認→CSV出力→確定</a:t>
            </a:r>
          </a:p>
        </p:txBody>
      </p:sp>
      <p:sp>
        <p:nvSpPr>
          <p:cNvPr id="19" name="TextBox 18"/>
          <p:cNvSpPr txBox="1"/>
          <p:nvPr/>
        </p:nvSpPr>
        <p:spPr>
          <a:xfrm>
            <a:off x="1645920" y="4526280"/>
            <a:ext cx="10058400" cy="457200"/>
          </a:xfrm>
          <a:prstGeom prst="rect">
            <a:avLst/>
          </a:prstGeom>
          <a:noFill/>
        </p:spPr>
        <p:txBody>
          <a:bodyPr wrap="square">
            <a:spAutoFit/>
          </a:bodyPr>
          <a:lstStyle/>
          <a:p>
            <a:pPr algn="l"/>
            <a:r>
              <a:rPr sz="1400" b="0">
                <a:solidFill>
                  <a:srgbClr val="1A202C"/>
                </a:solidFill>
                <a:latin typeface="Meiryo UI"/>
              </a:rPr>
              <a:t>・ 売上・仕入突合：請求書アップロード→突合→CSV出力→確定</a:t>
            </a:r>
          </a:p>
        </p:txBody>
      </p:sp>
      <p:sp>
        <p:nvSpPr>
          <p:cNvPr id="20" name="Rectangle 19"/>
          <p:cNvSpPr/>
          <p:nvPr/>
        </p:nvSpPr>
        <p:spPr>
          <a:xfrm>
            <a:off x="365760" y="5257800"/>
            <a:ext cx="1097280" cy="96012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5257800"/>
            <a:ext cx="1097280" cy="960120"/>
          </a:xfrm>
          <a:prstGeom prst="rect">
            <a:avLst/>
          </a:prstGeom>
          <a:noFill/>
        </p:spPr>
        <p:txBody>
          <a:bodyPr wrap="square">
            <a:spAutoFit/>
          </a:bodyPr>
          <a:lstStyle/>
          <a:p>
            <a:pPr algn="ctr"/>
            <a:r>
              <a:rPr sz="1800" b="1">
                <a:solidFill>
                  <a:srgbClr val="FFFFFF"/>
                </a:solidFill>
                <a:latin typeface="Meiryo UI"/>
              </a:rPr>
              <a:t>随時</a:t>
            </a:r>
          </a:p>
        </p:txBody>
      </p:sp>
      <p:sp>
        <p:nvSpPr>
          <p:cNvPr id="22" name="TextBox 21"/>
          <p:cNvSpPr txBox="1"/>
          <p:nvPr/>
        </p:nvSpPr>
        <p:spPr>
          <a:xfrm>
            <a:off x="1645920" y="5257800"/>
            <a:ext cx="10058400" cy="457200"/>
          </a:xfrm>
          <a:prstGeom prst="rect">
            <a:avLst/>
          </a:prstGeom>
          <a:noFill/>
        </p:spPr>
        <p:txBody>
          <a:bodyPr wrap="square">
            <a:spAutoFit/>
          </a:bodyPr>
          <a:lstStyle/>
          <a:p>
            <a:pPr algn="l"/>
            <a:r>
              <a:rPr sz="1400" b="0">
                <a:solidFill>
                  <a:srgbClr val="1A202C"/>
                </a:solidFill>
                <a:latin typeface="Meiryo UI"/>
              </a:rPr>
              <a:t>・ 利用者の変更情報（入院・退院・解約）をTab4に登録</a:t>
            </a:r>
          </a:p>
        </p:txBody>
      </p:sp>
      <p:sp>
        <p:nvSpPr>
          <p:cNvPr id="23" name="TextBox 22"/>
          <p:cNvSpPr txBox="1"/>
          <p:nvPr/>
        </p:nvSpPr>
        <p:spPr>
          <a:xfrm>
            <a:off x="1645920" y="5715000"/>
            <a:ext cx="10058400" cy="457200"/>
          </a:xfrm>
          <a:prstGeom prst="rect">
            <a:avLst/>
          </a:prstGeom>
          <a:noFill/>
        </p:spPr>
        <p:txBody>
          <a:bodyPr wrap="square">
            <a:spAutoFit/>
          </a:bodyPr>
          <a:lstStyle/>
          <a:p>
            <a:pPr algn="l"/>
            <a:r>
              <a:rPr sz="1400" b="0">
                <a:solidFill>
                  <a:srgbClr val="1A202C"/>
                </a:solidFill>
                <a:latin typeface="Meiryo UI"/>
              </a:rPr>
              <a:t>・ AI議事録生成（担当者会議・訪問後）</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1430000" cy="777240"/>
          </a:xfrm>
          <a:prstGeom prst="rect">
            <a:avLst/>
          </a:prstGeom>
          <a:noFill/>
        </p:spPr>
        <p:txBody>
          <a:bodyPr wrap="square">
            <a:spAutoFit/>
          </a:bodyPr>
          <a:lstStyle/>
          <a:p>
            <a:pPr algn="l"/>
            <a:r>
              <a:rPr sz="2800" b="1">
                <a:solidFill>
                  <a:srgbClr val="FFFFFF"/>
                </a:solidFill>
                <a:latin typeface="Meiryo UI"/>
              </a:rPr>
              <a:t>よくある質問 / 困ったときは</a:t>
            </a:r>
          </a:p>
        </p:txBody>
      </p:sp>
      <p:sp>
        <p:nvSpPr>
          <p:cNvPr id="5" name="Rectangle 4"/>
          <p:cNvSpPr/>
          <p:nvPr/>
        </p:nvSpPr>
        <p:spPr>
          <a:xfrm>
            <a:off x="0" y="6492240"/>
            <a:ext cx="12188952" cy="36576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492240"/>
            <a:ext cx="11430000" cy="365760"/>
          </a:xfrm>
          <a:prstGeom prst="rect">
            <a:avLst/>
          </a:prstGeom>
          <a:noFill/>
        </p:spPr>
        <p:txBody>
          <a:bodyPr wrap="square">
            <a:spAutoFit/>
          </a:bodyPr>
          <a:lstStyle/>
          <a:p>
            <a:pPr algn="r"/>
            <a:r>
              <a:rPr sz="1000" b="0">
                <a:solidFill>
                  <a:srgbClr val="FFFFFF"/>
                </a:solidFill>
                <a:latin typeface="Meiryo UI"/>
              </a:rPr>
              <a:t>WelfareAssist Pro | 新人向けガイド</a:t>
            </a:r>
          </a:p>
        </p:txBody>
      </p:sp>
      <p:sp>
        <p:nvSpPr>
          <p:cNvPr id="7" name="Rectangle 6"/>
          <p:cNvSpPr/>
          <p:nvPr/>
        </p:nvSpPr>
        <p:spPr>
          <a:xfrm>
            <a:off x="365760" y="118872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18872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88720"/>
            <a:ext cx="5394960" cy="457200"/>
          </a:xfrm>
          <a:prstGeom prst="rect">
            <a:avLst/>
          </a:prstGeom>
          <a:noFill/>
        </p:spPr>
        <p:txBody>
          <a:bodyPr wrap="square">
            <a:spAutoFit/>
          </a:bodyPr>
          <a:lstStyle/>
          <a:p>
            <a:pPr algn="l"/>
            <a:r>
              <a:rPr sz="1300" b="1">
                <a:solidFill>
                  <a:srgbClr val="FFFFFF"/>
                </a:solidFill>
                <a:latin typeface="Meiryo UI"/>
              </a:rPr>
              <a:t>Q. データが更新されない</a:t>
            </a:r>
          </a:p>
        </p:txBody>
      </p:sp>
      <p:sp>
        <p:nvSpPr>
          <p:cNvPr id="10" name="TextBox 9"/>
          <p:cNvSpPr txBox="1"/>
          <p:nvPr/>
        </p:nvSpPr>
        <p:spPr>
          <a:xfrm>
            <a:off x="502920" y="1719072"/>
            <a:ext cx="5303520" cy="868680"/>
          </a:xfrm>
          <a:prstGeom prst="rect">
            <a:avLst/>
          </a:prstGeom>
          <a:noFill/>
        </p:spPr>
        <p:txBody>
          <a:bodyPr wrap="square">
            <a:spAutoFit/>
          </a:bodyPr>
          <a:lstStyle/>
          <a:p>
            <a:pPr algn="l"/>
            <a:r>
              <a:rPr sz="1200" b="0">
                <a:solidFill>
                  <a:srgbClr val="1A202C"/>
                </a:solidFill>
                <a:latin typeface="Meiryo UI"/>
              </a:rPr>
              <a:t>毎日 00:00 JSTに自動更新されます。急ぎの場合は手動で再読込してください（ブラウザリロード）。</a:t>
            </a:r>
          </a:p>
        </p:txBody>
      </p:sp>
      <p:sp>
        <p:nvSpPr>
          <p:cNvPr id="11" name="Rectangle 10"/>
          <p:cNvSpPr/>
          <p:nvPr/>
        </p:nvSpPr>
        <p:spPr>
          <a:xfrm>
            <a:off x="6263640" y="118872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18872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188720"/>
            <a:ext cx="5394960" cy="457200"/>
          </a:xfrm>
          <a:prstGeom prst="rect">
            <a:avLst/>
          </a:prstGeom>
          <a:noFill/>
        </p:spPr>
        <p:txBody>
          <a:bodyPr wrap="square">
            <a:spAutoFit/>
          </a:bodyPr>
          <a:lstStyle/>
          <a:p>
            <a:pPr algn="l"/>
            <a:r>
              <a:rPr sz="1300" b="1">
                <a:solidFill>
                  <a:srgbClr val="FFFFFF"/>
                </a:solidFill>
                <a:latin typeface="Meiryo UI"/>
              </a:rPr>
              <a:t>Q. カイポケインポート後にデータが表示されない</a:t>
            </a:r>
          </a:p>
        </p:txBody>
      </p:sp>
      <p:sp>
        <p:nvSpPr>
          <p:cNvPr id="14" name="TextBox 13"/>
          <p:cNvSpPr txBox="1"/>
          <p:nvPr/>
        </p:nvSpPr>
        <p:spPr>
          <a:xfrm>
            <a:off x="6400800" y="1719072"/>
            <a:ext cx="5303520" cy="868680"/>
          </a:xfrm>
          <a:prstGeom prst="rect">
            <a:avLst/>
          </a:prstGeom>
          <a:noFill/>
        </p:spPr>
        <p:txBody>
          <a:bodyPr wrap="square">
            <a:spAutoFit/>
          </a:bodyPr>
          <a:lstStyle/>
          <a:p>
            <a:pPr algn="l"/>
            <a:r>
              <a:rPr sz="1200" b="0">
                <a:solidFill>
                  <a:srgbClr val="1A202C"/>
                </a:solidFill>
                <a:latin typeface="Meiryo UI"/>
              </a:rPr>
              <a:t>月次売上処理で「正しい対象月」が選択されているか確認してください。</a:t>
            </a:r>
          </a:p>
        </p:txBody>
      </p:sp>
      <p:sp>
        <p:nvSpPr>
          <p:cNvPr id="15" name="Rectangle 14"/>
          <p:cNvSpPr/>
          <p:nvPr/>
        </p:nvSpPr>
        <p:spPr>
          <a:xfrm>
            <a:off x="365760" y="288036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288036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880360"/>
            <a:ext cx="5394960" cy="457200"/>
          </a:xfrm>
          <a:prstGeom prst="rect">
            <a:avLst/>
          </a:prstGeom>
          <a:noFill/>
        </p:spPr>
        <p:txBody>
          <a:bodyPr wrap="square">
            <a:spAutoFit/>
          </a:bodyPr>
          <a:lstStyle/>
          <a:p>
            <a:pPr algn="l"/>
            <a:r>
              <a:rPr sz="1300" b="1">
                <a:solidFill>
                  <a:srgbClr val="FFFFFF"/>
                </a:solidFill>
                <a:latin typeface="Meiryo UI"/>
              </a:rPr>
              <a:t>Q. AI生成が失敗する</a:t>
            </a:r>
          </a:p>
        </p:txBody>
      </p:sp>
      <p:sp>
        <p:nvSpPr>
          <p:cNvPr id="18" name="TextBox 17"/>
          <p:cNvSpPr txBox="1"/>
          <p:nvPr/>
        </p:nvSpPr>
        <p:spPr>
          <a:xfrm>
            <a:off x="502920" y="3410712"/>
            <a:ext cx="5303520" cy="868680"/>
          </a:xfrm>
          <a:prstGeom prst="rect">
            <a:avLst/>
          </a:prstGeom>
          <a:noFill/>
        </p:spPr>
        <p:txBody>
          <a:bodyPr wrap="square">
            <a:spAutoFit/>
          </a:bodyPr>
          <a:lstStyle/>
          <a:p>
            <a:pPr algn="l"/>
            <a:r>
              <a:rPr sz="1200" b="0">
                <a:solidFill>
                  <a:srgbClr val="1A202C"/>
                </a:solidFill>
                <a:latin typeface="Meiryo UI"/>
              </a:rPr>
              <a:t>処理には30〜60秒かかります。エラーが続く場合はページを再読込してネットワーク接続を確認してください。</a:t>
            </a:r>
          </a:p>
        </p:txBody>
      </p:sp>
      <p:sp>
        <p:nvSpPr>
          <p:cNvPr id="19" name="Rectangle 18"/>
          <p:cNvSpPr/>
          <p:nvPr/>
        </p:nvSpPr>
        <p:spPr>
          <a:xfrm>
            <a:off x="6263640" y="288036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63640" y="288036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880360"/>
            <a:ext cx="5394960" cy="457200"/>
          </a:xfrm>
          <a:prstGeom prst="rect">
            <a:avLst/>
          </a:prstGeom>
          <a:noFill/>
        </p:spPr>
        <p:txBody>
          <a:bodyPr wrap="square">
            <a:spAutoFit/>
          </a:bodyPr>
          <a:lstStyle/>
          <a:p>
            <a:pPr algn="l"/>
            <a:r>
              <a:rPr sz="1300" b="1">
                <a:solidFill>
                  <a:srgbClr val="FFFFFF"/>
                </a:solidFill>
                <a:latin typeface="Meiryo UI"/>
              </a:rPr>
              <a:t>Q. OCRで利用者が未マッチになる</a:t>
            </a:r>
          </a:p>
        </p:txBody>
      </p:sp>
      <p:sp>
        <p:nvSpPr>
          <p:cNvPr id="22" name="TextBox 21"/>
          <p:cNvSpPr txBox="1"/>
          <p:nvPr/>
        </p:nvSpPr>
        <p:spPr>
          <a:xfrm>
            <a:off x="6400800" y="3410712"/>
            <a:ext cx="5303520" cy="868680"/>
          </a:xfrm>
          <a:prstGeom prst="rect">
            <a:avLst/>
          </a:prstGeom>
          <a:noFill/>
        </p:spPr>
        <p:txBody>
          <a:bodyPr wrap="square">
            <a:spAutoFit/>
          </a:bodyPr>
          <a:lstStyle/>
          <a:p>
            <a:pPr algn="l"/>
            <a:r>
              <a:rPr sz="1200" b="0">
                <a:solidFill>
                  <a:srgbClr val="1A202C"/>
                </a:solidFill>
                <a:latin typeface="Meiryo UI"/>
              </a:rPr>
              <a:t>「未マッチ利用者」の「利用者を選択」から手動で紐づけてください。次回以降は自動マッチングされます。</a:t>
            </a:r>
          </a:p>
        </p:txBody>
      </p:sp>
      <p:sp>
        <p:nvSpPr>
          <p:cNvPr id="23" name="Rectangle 22"/>
          <p:cNvSpPr/>
          <p:nvPr/>
        </p:nvSpPr>
        <p:spPr>
          <a:xfrm>
            <a:off x="365760" y="457200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457200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572000"/>
            <a:ext cx="5394960" cy="457200"/>
          </a:xfrm>
          <a:prstGeom prst="rect">
            <a:avLst/>
          </a:prstGeom>
          <a:noFill/>
        </p:spPr>
        <p:txBody>
          <a:bodyPr wrap="square">
            <a:spAutoFit/>
          </a:bodyPr>
          <a:lstStyle/>
          <a:p>
            <a:pPr algn="l"/>
            <a:r>
              <a:rPr sz="1300" b="1">
                <a:solidFill>
                  <a:srgbClr val="FFFFFF"/>
                </a:solidFill>
                <a:latin typeface="Meiryo UI"/>
              </a:rPr>
              <a:t>Q. 確定を間違えた</a:t>
            </a:r>
          </a:p>
        </p:txBody>
      </p:sp>
      <p:sp>
        <p:nvSpPr>
          <p:cNvPr id="26" name="TextBox 25"/>
          <p:cNvSpPr txBox="1"/>
          <p:nvPr/>
        </p:nvSpPr>
        <p:spPr>
          <a:xfrm>
            <a:off x="502920" y="5102352"/>
            <a:ext cx="5303520" cy="868680"/>
          </a:xfrm>
          <a:prstGeom prst="rect">
            <a:avLst/>
          </a:prstGeom>
          <a:noFill/>
        </p:spPr>
        <p:txBody>
          <a:bodyPr wrap="square">
            <a:spAutoFit/>
          </a:bodyPr>
          <a:lstStyle/>
          <a:p>
            <a:pPr algn="l"/>
            <a:r>
              <a:rPr sz="1200" b="0">
                <a:solidFill>
                  <a:srgbClr val="1A202C"/>
                </a:solidFill>
                <a:latin typeface="Meiryo UI"/>
              </a:rPr>
              <a:t>「確定解除」ボタンで解除できます。月次確定がある場合は月次確定解除→各社確定解除の順で行ってください。</a:t>
            </a:r>
          </a:p>
        </p:txBody>
      </p:sp>
      <p:sp>
        <p:nvSpPr>
          <p:cNvPr id="27" name="Rectangle 26"/>
          <p:cNvSpPr/>
          <p:nvPr/>
        </p:nvSpPr>
        <p:spPr>
          <a:xfrm>
            <a:off x="6263640" y="4572000"/>
            <a:ext cx="5577840" cy="1508760"/>
          </a:xfrm>
          <a:prstGeom prst="rect">
            <a:avLst/>
          </a:prstGeom>
          <a:solidFill>
            <a:srgbClr val="EFF6FF"/>
          </a:solidFill>
          <a:ln w="9525">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4572000"/>
            <a:ext cx="5577840" cy="4572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572000"/>
            <a:ext cx="5394960" cy="457200"/>
          </a:xfrm>
          <a:prstGeom prst="rect">
            <a:avLst/>
          </a:prstGeom>
          <a:noFill/>
        </p:spPr>
        <p:txBody>
          <a:bodyPr wrap="square">
            <a:spAutoFit/>
          </a:bodyPr>
          <a:lstStyle/>
          <a:p>
            <a:pPr algn="l"/>
            <a:r>
              <a:rPr sz="1300" b="1">
                <a:solidFill>
                  <a:srgbClr val="FFFFFF"/>
                </a:solidFill>
                <a:latin typeface="Meiryo UI"/>
              </a:rPr>
              <a:t>Q. 使い方がわからない</a:t>
            </a:r>
          </a:p>
        </p:txBody>
      </p:sp>
      <p:sp>
        <p:nvSpPr>
          <p:cNvPr id="30" name="TextBox 29"/>
          <p:cNvSpPr txBox="1"/>
          <p:nvPr/>
        </p:nvSpPr>
        <p:spPr>
          <a:xfrm>
            <a:off x="6400800" y="5102352"/>
            <a:ext cx="5303520" cy="868680"/>
          </a:xfrm>
          <a:prstGeom prst="rect">
            <a:avLst/>
          </a:prstGeom>
          <a:noFill/>
        </p:spPr>
        <p:txBody>
          <a:bodyPr wrap="square">
            <a:spAutoFit/>
          </a:bodyPr>
          <a:lstStyle/>
          <a:p>
            <a:pPr algn="l"/>
            <a:r>
              <a:rPr sz="1200" b="0">
                <a:solidFill>
                  <a:srgbClr val="1A202C"/>
                </a:solidFill>
                <a:latin typeface="Meiryo UI"/>
              </a:rPr>
              <a:t>サイドバー「ヘルプ」ボタンからアプリ内マニュアルを確認できます。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2B6C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914400"/>
            <a:ext cx="9144000" cy="1097280"/>
          </a:xfrm>
          <a:prstGeom prst="rect">
            <a:avLst/>
          </a:prstGeom>
          <a:noFill/>
        </p:spPr>
        <p:txBody>
          <a:bodyPr wrap="square">
            <a:spAutoFit/>
          </a:bodyPr>
          <a:lstStyle/>
          <a:p>
            <a:pPr algn="ctr"/>
            <a:r>
              <a:rPr sz="4000" b="1">
                <a:solidFill>
                  <a:srgbClr val="FFFFFF"/>
                </a:solidFill>
                <a:latin typeface="Meiryo UI"/>
              </a:rPr>
              <a:t>WelfareAssist Pro</a:t>
            </a:r>
          </a:p>
        </p:txBody>
      </p:sp>
      <p:sp>
        <p:nvSpPr>
          <p:cNvPr id="5" name="TextBox 4"/>
          <p:cNvSpPr txBox="1"/>
          <p:nvPr/>
        </p:nvSpPr>
        <p:spPr>
          <a:xfrm>
            <a:off x="1371600" y="2011680"/>
            <a:ext cx="9144000" cy="914400"/>
          </a:xfrm>
          <a:prstGeom prst="rect">
            <a:avLst/>
          </a:prstGeom>
          <a:noFill/>
        </p:spPr>
        <p:txBody>
          <a:bodyPr wrap="square">
            <a:spAutoFit/>
          </a:bodyPr>
          <a:lstStyle/>
          <a:p>
            <a:pPr algn="ctr"/>
            <a:r>
              <a:rPr sz="2800" b="0">
                <a:solidFill>
                  <a:srgbClr val="BFDBFE"/>
                </a:solidFill>
                <a:latin typeface="Meiryo UI"/>
              </a:rPr>
              <a:t>ぜひ積極的に活用してください！</a:t>
            </a:r>
          </a:p>
        </p:txBody>
      </p:sp>
      <p:sp>
        <p:nvSpPr>
          <p:cNvPr id="6" name="TextBox 5"/>
          <p:cNvSpPr txBox="1"/>
          <p:nvPr/>
        </p:nvSpPr>
        <p:spPr>
          <a:xfrm>
            <a:off x="1371600" y="3017520"/>
            <a:ext cx="4754880" cy="594360"/>
          </a:xfrm>
          <a:prstGeom prst="rect">
            <a:avLst/>
          </a:prstGeom>
          <a:noFill/>
        </p:spPr>
        <p:txBody>
          <a:bodyPr wrap="square">
            <a:spAutoFit/>
          </a:bodyPr>
          <a:lstStyle/>
          <a:p>
            <a:pPr algn="l"/>
            <a:r>
              <a:rPr sz="1700" b="0">
                <a:solidFill>
                  <a:srgbClr val="FFFFFF"/>
                </a:solidFill>
                <a:latin typeface="Meiryo UI"/>
              </a:rPr>
              <a:t>✓  利用者情報の一元管理</a:t>
            </a:r>
          </a:p>
        </p:txBody>
      </p:sp>
      <p:sp>
        <p:nvSpPr>
          <p:cNvPr id="7" name="TextBox 6"/>
          <p:cNvSpPr txBox="1"/>
          <p:nvPr/>
        </p:nvSpPr>
        <p:spPr>
          <a:xfrm>
            <a:off x="6400800" y="3017520"/>
            <a:ext cx="4754880" cy="594360"/>
          </a:xfrm>
          <a:prstGeom prst="rect">
            <a:avLst/>
          </a:prstGeom>
          <a:noFill/>
        </p:spPr>
        <p:txBody>
          <a:bodyPr wrap="square">
            <a:spAutoFit/>
          </a:bodyPr>
          <a:lstStyle/>
          <a:p>
            <a:pPr algn="l"/>
            <a:r>
              <a:rPr sz="1700" b="0">
                <a:solidFill>
                  <a:srgbClr val="FFFFFF"/>
                </a:solidFill>
                <a:latin typeface="Meiryo UI"/>
              </a:rPr>
              <a:t>✓  毎月の業務をアプリ内で完結</a:t>
            </a:r>
          </a:p>
        </p:txBody>
      </p:sp>
      <p:sp>
        <p:nvSpPr>
          <p:cNvPr id="8" name="TextBox 7"/>
          <p:cNvSpPr txBox="1"/>
          <p:nvPr/>
        </p:nvSpPr>
        <p:spPr>
          <a:xfrm>
            <a:off x="1371600" y="3703320"/>
            <a:ext cx="4754880" cy="594360"/>
          </a:xfrm>
          <a:prstGeom prst="rect">
            <a:avLst/>
          </a:prstGeom>
          <a:noFill/>
        </p:spPr>
        <p:txBody>
          <a:bodyPr wrap="square">
            <a:spAutoFit/>
          </a:bodyPr>
          <a:lstStyle/>
          <a:p>
            <a:pPr algn="l"/>
            <a:r>
              <a:rPr sz="1700" b="0">
                <a:solidFill>
                  <a:srgbClr val="FFFFFF"/>
                </a:solidFill>
                <a:latin typeface="Meiryo UI"/>
              </a:rPr>
              <a:t>✓  AIで議事録・OCRを自動化</a:t>
            </a:r>
          </a:p>
        </p:txBody>
      </p:sp>
      <p:sp>
        <p:nvSpPr>
          <p:cNvPr id="9" name="TextBox 8"/>
          <p:cNvSpPr txBox="1"/>
          <p:nvPr/>
        </p:nvSpPr>
        <p:spPr>
          <a:xfrm>
            <a:off x="6400800" y="3703320"/>
            <a:ext cx="4754880" cy="594360"/>
          </a:xfrm>
          <a:prstGeom prst="rect">
            <a:avLst/>
          </a:prstGeom>
          <a:noFill/>
        </p:spPr>
        <p:txBody>
          <a:bodyPr wrap="square">
            <a:spAutoFit/>
          </a:bodyPr>
          <a:lstStyle/>
          <a:p>
            <a:pPr algn="l"/>
            <a:r>
              <a:rPr sz="1700" b="0">
                <a:solidFill>
                  <a:srgbClr val="FFFFFF"/>
                </a:solidFill>
                <a:latin typeface="Meiryo UI"/>
              </a:rPr>
              <a:t>✓  ヘルプボタンでいつでも確認可</a:t>
            </a:r>
          </a:p>
        </p:txBody>
      </p:sp>
      <p:sp>
        <p:nvSpPr>
          <p:cNvPr id="10" name="TextBox 9"/>
          <p:cNvSpPr txBox="1"/>
          <p:nvPr/>
        </p:nvSpPr>
        <p:spPr>
          <a:xfrm>
            <a:off x="1371600" y="5120640"/>
            <a:ext cx="9144000" cy="640080"/>
          </a:xfrm>
          <a:prstGeom prst="rect">
            <a:avLst/>
          </a:prstGeom>
          <a:noFill/>
        </p:spPr>
        <p:txBody>
          <a:bodyPr wrap="square">
            <a:spAutoFit/>
          </a:bodyPr>
          <a:lstStyle/>
          <a:p>
            <a:pPr algn="ctr"/>
            <a:r>
              <a:rPr sz="1800" b="0">
                <a:solidFill>
                  <a:srgbClr val="FFFFFF"/>
                </a:solidFill>
                <a:latin typeface="Meiryo UI"/>
              </a:rPr>
              <a:t>https://welfare-assist-pro.web.app</a:t>
            </a:r>
          </a:p>
        </p:txBody>
      </p:sp>
      <p:sp>
        <p:nvSpPr>
          <p:cNvPr id="11" name="TextBox 10"/>
          <p:cNvSpPr txBox="1"/>
          <p:nvPr/>
        </p:nvSpPr>
        <p:spPr>
          <a:xfrm>
            <a:off x="1371600" y="5669280"/>
            <a:ext cx="9144000" cy="548640"/>
          </a:xfrm>
          <a:prstGeom prst="rect">
            <a:avLst/>
          </a:prstGeom>
          <a:noFill/>
        </p:spPr>
        <p:txBody>
          <a:bodyPr wrap="square">
            <a:spAutoFit/>
          </a:bodyPr>
          <a:lstStyle/>
          <a:p>
            <a:pPr algn="ctr"/>
            <a:r>
              <a:rPr sz="1400" b="0">
                <a:solidFill>
                  <a:srgbClr val="A7F3D0"/>
                </a:solidFill>
                <a:latin typeface="Meiryo UI"/>
              </a:rPr>
              <a:t>わからないことは先輩スタッフや管理者に気軽に相談してください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